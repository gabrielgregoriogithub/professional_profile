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sldIdLst>
    <p:sldId id="287" r:id="rId2"/>
    <p:sldId id="271" r:id="rId3"/>
    <p:sldId id="288" r:id="rId4"/>
    <p:sldId id="293" r:id="rId5"/>
    <p:sldId id="257" r:id="rId6"/>
    <p:sldId id="274" r:id="rId7"/>
    <p:sldId id="285" r:id="rId8"/>
    <p:sldId id="279" r:id="rId9"/>
    <p:sldId id="289" r:id="rId10"/>
    <p:sldId id="290" r:id="rId11"/>
    <p:sldId id="286" r:id="rId12"/>
    <p:sldId id="303" r:id="rId13"/>
    <p:sldId id="291" r:id="rId14"/>
    <p:sldId id="270" r:id="rId15"/>
    <p:sldId id="268" r:id="rId16"/>
    <p:sldId id="294" r:id="rId17"/>
    <p:sldId id="296" r:id="rId18"/>
    <p:sldId id="295" r:id="rId19"/>
    <p:sldId id="297" r:id="rId20"/>
    <p:sldId id="298" r:id="rId21"/>
    <p:sldId id="300" r:id="rId22"/>
    <p:sldId id="304" r:id="rId23"/>
    <p:sldId id="301" r:id="rId24"/>
    <p:sldId id="305" r:id="rId25"/>
    <p:sldId id="306" r:id="rId26"/>
    <p:sldId id="261" r:id="rId27"/>
    <p:sldId id="263" r:id="rId28"/>
    <p:sldId id="262" r:id="rId29"/>
    <p:sldId id="267" r:id="rId30"/>
    <p:sldId id="302" r:id="rId31"/>
  </p:sldIdLst>
  <p:sldSz cx="138176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43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5F47"/>
    <a:srgbClr val="FFF996"/>
    <a:srgbClr val="BBBF09"/>
    <a:srgbClr val="656565"/>
    <a:srgbClr val="B3B3B3"/>
    <a:srgbClr val="5B2A28"/>
    <a:srgbClr val="714B4C"/>
    <a:srgbClr val="FFFFFF"/>
    <a:srgbClr val="F0F2F5"/>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3" d="100"/>
          <a:sy n="73" d="100"/>
        </p:scale>
        <p:origin x="701" y="67"/>
      </p:cViewPr>
      <p:guideLst>
        <p:guide orient="horz" pos="2424"/>
        <p:guide pos="43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gabri\Downloads\Analytics%20Presentation%20Questions%20&amp;%20Data.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sz="1600" b="1" dirty="0"/>
              <a:t>99 %</a:t>
            </a:r>
            <a:r>
              <a:rPr lang="pt-BR" sz="1600" b="1" baseline="0" dirty="0"/>
              <a:t> OFF</a:t>
            </a:r>
            <a:endParaRPr lang="pt-BR" sz="1600"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Planilha2!$AD$9</c:f>
              <c:strCache>
                <c:ptCount val="1"/>
                <c:pt idx="0">
                  <c:v>% Test</c:v>
                </c:pt>
              </c:strCache>
            </c:strRef>
          </c:tx>
          <c:spPr>
            <a:solidFill>
              <a:schemeClr val="accent1"/>
            </a:solidFill>
            <a:ln>
              <a:noFill/>
            </a:ln>
            <a:effectLst/>
          </c:spPr>
          <c:invertIfNegative val="0"/>
          <c:cat>
            <c:strRef>
              <c:f>Planilha2!$AC$10:$AC$16</c:f>
              <c:strCache>
                <c:ptCount val="7"/>
                <c:pt idx="0">
                  <c:v>BlueCollarRoyalty</c:v>
                </c:pt>
                <c:pt idx="1">
                  <c:v>CitySlickers</c:v>
                </c:pt>
                <c:pt idx="2">
                  <c:v>Mr.&amp;Mrs.Smiths</c:v>
                </c:pt>
                <c:pt idx="3">
                  <c:v>NormalFamilies</c:v>
                </c:pt>
                <c:pt idx="4">
                  <c:v>NULL</c:v>
                </c:pt>
                <c:pt idx="5">
                  <c:v>PinchedPockets</c:v>
                </c:pt>
                <c:pt idx="6">
                  <c:v>Rich&amp;Richer</c:v>
                </c:pt>
              </c:strCache>
            </c:strRef>
          </c:cat>
          <c:val>
            <c:numRef>
              <c:f>Planilha2!$AD$10:$AD$16</c:f>
              <c:numCache>
                <c:formatCode>0.00%</c:formatCode>
                <c:ptCount val="7"/>
                <c:pt idx="0">
                  <c:v>8.8597536750099321E-2</c:v>
                </c:pt>
                <c:pt idx="1">
                  <c:v>0.10154871593805136</c:v>
                </c:pt>
                <c:pt idx="2">
                  <c:v>2.694136291600634E-2</c:v>
                </c:pt>
                <c:pt idx="3">
                  <c:v>9.3311974369243086E-2</c:v>
                </c:pt>
                <c:pt idx="4">
                  <c:v>5.9410883674488268E-2</c:v>
                </c:pt>
                <c:pt idx="5">
                  <c:v>7.5620084694494855E-2</c:v>
                </c:pt>
                <c:pt idx="6">
                  <c:v>0.10351758793969849</c:v>
                </c:pt>
              </c:numCache>
            </c:numRef>
          </c:val>
          <c:extLst>
            <c:ext xmlns:c16="http://schemas.microsoft.com/office/drawing/2014/chart" uri="{C3380CC4-5D6E-409C-BE32-E72D297353CC}">
              <c16:uniqueId val="{00000000-7791-42D2-9ADF-8DAB38EC0A30}"/>
            </c:ext>
          </c:extLst>
        </c:ser>
        <c:ser>
          <c:idx val="1"/>
          <c:order val="1"/>
          <c:tx>
            <c:strRef>
              <c:f>Planilha2!$AE$9</c:f>
              <c:strCache>
                <c:ptCount val="1"/>
                <c:pt idx="0">
                  <c:v>% Control</c:v>
                </c:pt>
              </c:strCache>
            </c:strRef>
          </c:tx>
          <c:spPr>
            <a:solidFill>
              <a:schemeClr val="accent2"/>
            </a:solidFill>
            <a:ln>
              <a:noFill/>
            </a:ln>
            <a:effectLst/>
          </c:spPr>
          <c:invertIfNegative val="0"/>
          <c:cat>
            <c:strRef>
              <c:f>Planilha2!$AC$10:$AC$16</c:f>
              <c:strCache>
                <c:ptCount val="7"/>
                <c:pt idx="0">
                  <c:v>BlueCollarRoyalty</c:v>
                </c:pt>
                <c:pt idx="1">
                  <c:v>CitySlickers</c:v>
                </c:pt>
                <c:pt idx="2">
                  <c:v>Mr.&amp;Mrs.Smiths</c:v>
                </c:pt>
                <c:pt idx="3">
                  <c:v>NormalFamilies</c:v>
                </c:pt>
                <c:pt idx="4">
                  <c:v>NULL</c:v>
                </c:pt>
                <c:pt idx="5">
                  <c:v>PinchedPockets</c:v>
                </c:pt>
                <c:pt idx="6">
                  <c:v>Rich&amp;Richer</c:v>
                </c:pt>
              </c:strCache>
            </c:strRef>
          </c:cat>
          <c:val>
            <c:numRef>
              <c:f>Planilha2!$AE$10:$AE$16</c:f>
              <c:numCache>
                <c:formatCode>0.00%</c:formatCode>
                <c:ptCount val="7"/>
                <c:pt idx="0">
                  <c:v>0.11066398390342053</c:v>
                </c:pt>
                <c:pt idx="1">
                  <c:v>9.5505617977528087E-2</c:v>
                </c:pt>
                <c:pt idx="2">
                  <c:v>2.1782178217821781E-2</c:v>
                </c:pt>
                <c:pt idx="3">
                  <c:v>8.1593927893738136E-2</c:v>
                </c:pt>
                <c:pt idx="4">
                  <c:v>5.3483807654563301E-2</c:v>
                </c:pt>
                <c:pt idx="5">
                  <c:v>7.5431034482758619E-2</c:v>
                </c:pt>
                <c:pt idx="6">
                  <c:v>0.1029126213592233</c:v>
                </c:pt>
              </c:numCache>
            </c:numRef>
          </c:val>
          <c:extLst>
            <c:ext xmlns:c16="http://schemas.microsoft.com/office/drawing/2014/chart" uri="{C3380CC4-5D6E-409C-BE32-E72D297353CC}">
              <c16:uniqueId val="{00000001-7791-42D2-9ADF-8DAB38EC0A30}"/>
            </c:ext>
          </c:extLst>
        </c:ser>
        <c:dLbls>
          <c:showLegendKey val="0"/>
          <c:showVal val="0"/>
          <c:showCatName val="0"/>
          <c:showSerName val="0"/>
          <c:showPercent val="0"/>
          <c:showBubbleSize val="0"/>
        </c:dLbls>
        <c:gapWidth val="219"/>
        <c:overlap val="-27"/>
        <c:axId val="18118495"/>
        <c:axId val="18118975"/>
      </c:barChart>
      <c:catAx>
        <c:axId val="181184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8118975"/>
        <c:crosses val="autoZero"/>
        <c:auto val="1"/>
        <c:lblAlgn val="ctr"/>
        <c:lblOffset val="100"/>
        <c:noMultiLvlLbl val="0"/>
      </c:catAx>
      <c:valAx>
        <c:axId val="18118975"/>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8118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sz="1600" b="1" dirty="0"/>
              <a:t>BOGO</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Planilha2!$AH$9</c:f>
              <c:strCache>
                <c:ptCount val="1"/>
                <c:pt idx="0">
                  <c:v>% Test</c:v>
                </c:pt>
              </c:strCache>
            </c:strRef>
          </c:tx>
          <c:spPr>
            <a:solidFill>
              <a:schemeClr val="accent1"/>
            </a:solidFill>
            <a:ln>
              <a:noFill/>
            </a:ln>
            <a:effectLst/>
          </c:spPr>
          <c:invertIfNegative val="0"/>
          <c:cat>
            <c:strRef>
              <c:f>Planilha2!$AG$10:$AG$16</c:f>
              <c:strCache>
                <c:ptCount val="7"/>
                <c:pt idx="0">
                  <c:v>BlueCollarRoyalty</c:v>
                </c:pt>
                <c:pt idx="1">
                  <c:v>CitySlickers</c:v>
                </c:pt>
                <c:pt idx="2">
                  <c:v>Mr.&amp;Mrs.Smiths</c:v>
                </c:pt>
                <c:pt idx="3">
                  <c:v>NormalFamilies</c:v>
                </c:pt>
                <c:pt idx="4">
                  <c:v>NULL</c:v>
                </c:pt>
                <c:pt idx="5">
                  <c:v>PinchedPockets</c:v>
                </c:pt>
                <c:pt idx="6">
                  <c:v>Rich&amp;Richer</c:v>
                </c:pt>
              </c:strCache>
            </c:strRef>
          </c:cat>
          <c:val>
            <c:numRef>
              <c:f>Planilha2!$AH$10:$AH$16</c:f>
              <c:numCache>
                <c:formatCode>0.00%</c:formatCode>
                <c:ptCount val="7"/>
                <c:pt idx="0">
                  <c:v>8.9756290865860913E-2</c:v>
                </c:pt>
                <c:pt idx="1">
                  <c:v>0.10938433950986252</c:v>
                </c:pt>
                <c:pt idx="2">
                  <c:v>3.0469226081657527E-2</c:v>
                </c:pt>
                <c:pt idx="3">
                  <c:v>9.1291291291291293E-2</c:v>
                </c:pt>
                <c:pt idx="4">
                  <c:v>6.4754302818658016E-2</c:v>
                </c:pt>
                <c:pt idx="5">
                  <c:v>8.4013050570962478E-2</c:v>
                </c:pt>
                <c:pt idx="6">
                  <c:v>0.11144945188794153</c:v>
                </c:pt>
              </c:numCache>
            </c:numRef>
          </c:val>
          <c:extLst>
            <c:ext xmlns:c16="http://schemas.microsoft.com/office/drawing/2014/chart" uri="{C3380CC4-5D6E-409C-BE32-E72D297353CC}">
              <c16:uniqueId val="{00000000-519B-4547-B2E4-7F855F7645F6}"/>
            </c:ext>
          </c:extLst>
        </c:ser>
        <c:ser>
          <c:idx val="1"/>
          <c:order val="1"/>
          <c:tx>
            <c:strRef>
              <c:f>Planilha2!$AI$9</c:f>
              <c:strCache>
                <c:ptCount val="1"/>
                <c:pt idx="0">
                  <c:v>% Control</c:v>
                </c:pt>
              </c:strCache>
            </c:strRef>
          </c:tx>
          <c:spPr>
            <a:solidFill>
              <a:schemeClr val="accent2"/>
            </a:solidFill>
            <a:ln>
              <a:noFill/>
            </a:ln>
            <a:effectLst/>
          </c:spPr>
          <c:invertIfNegative val="0"/>
          <c:cat>
            <c:strRef>
              <c:f>Planilha2!$AG$10:$AG$16</c:f>
              <c:strCache>
                <c:ptCount val="7"/>
                <c:pt idx="0">
                  <c:v>BlueCollarRoyalty</c:v>
                </c:pt>
                <c:pt idx="1">
                  <c:v>CitySlickers</c:v>
                </c:pt>
                <c:pt idx="2">
                  <c:v>Mr.&amp;Mrs.Smiths</c:v>
                </c:pt>
                <c:pt idx="3">
                  <c:v>NormalFamilies</c:v>
                </c:pt>
                <c:pt idx="4">
                  <c:v>NULL</c:v>
                </c:pt>
                <c:pt idx="5">
                  <c:v>PinchedPockets</c:v>
                </c:pt>
                <c:pt idx="6">
                  <c:v>Rich&amp;Richer</c:v>
                </c:pt>
              </c:strCache>
            </c:strRef>
          </c:cat>
          <c:val>
            <c:numRef>
              <c:f>Planilha2!$AI$10:$AI$16</c:f>
              <c:numCache>
                <c:formatCode>0.00%</c:formatCode>
                <c:ptCount val="7"/>
                <c:pt idx="0">
                  <c:v>8.7866108786610872E-2</c:v>
                </c:pt>
                <c:pt idx="1">
                  <c:v>0.11403508771929824</c:v>
                </c:pt>
                <c:pt idx="2">
                  <c:v>3.4358047016274866E-2</c:v>
                </c:pt>
                <c:pt idx="3">
                  <c:v>8.3333333333333329E-2</c:v>
                </c:pt>
                <c:pt idx="4">
                  <c:v>6.5430190623390005E-2</c:v>
                </c:pt>
                <c:pt idx="5">
                  <c:v>7.370517928286853E-2</c:v>
                </c:pt>
                <c:pt idx="6">
                  <c:v>9.2827004219409287E-2</c:v>
                </c:pt>
              </c:numCache>
            </c:numRef>
          </c:val>
          <c:extLst>
            <c:ext xmlns:c16="http://schemas.microsoft.com/office/drawing/2014/chart" uri="{C3380CC4-5D6E-409C-BE32-E72D297353CC}">
              <c16:uniqueId val="{00000001-519B-4547-B2E4-7F855F7645F6}"/>
            </c:ext>
          </c:extLst>
        </c:ser>
        <c:dLbls>
          <c:showLegendKey val="0"/>
          <c:showVal val="0"/>
          <c:showCatName val="0"/>
          <c:showSerName val="0"/>
          <c:showPercent val="0"/>
          <c:showBubbleSize val="0"/>
        </c:dLbls>
        <c:gapWidth val="219"/>
        <c:overlap val="-27"/>
        <c:axId val="1687558128"/>
        <c:axId val="1687558608"/>
      </c:barChart>
      <c:catAx>
        <c:axId val="1687558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87558608"/>
        <c:crosses val="autoZero"/>
        <c:auto val="1"/>
        <c:lblAlgn val="ctr"/>
        <c:lblOffset val="100"/>
        <c:noMultiLvlLbl val="0"/>
      </c:catAx>
      <c:valAx>
        <c:axId val="16875586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875581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Planilha2!$AD$20</c:f>
              <c:strCache>
                <c:ptCount val="1"/>
                <c:pt idx="0">
                  <c:v>% Test</c:v>
                </c:pt>
              </c:strCache>
            </c:strRef>
          </c:tx>
          <c:spPr>
            <a:solidFill>
              <a:schemeClr val="accent1">
                <a:shade val="76000"/>
              </a:schemeClr>
            </a:solidFill>
            <a:ln>
              <a:noFill/>
            </a:ln>
            <a:effectLst/>
          </c:spPr>
          <c:invertIfNegative val="0"/>
          <c:cat>
            <c:strRef>
              <c:f>Planilha2!$AC$21:$AC$25</c:f>
              <c:strCache>
                <c:ptCount val="5"/>
                <c:pt idx="0">
                  <c:v>CoreCustomers</c:v>
                </c:pt>
                <c:pt idx="1">
                  <c:v>EliteCustomers</c:v>
                </c:pt>
                <c:pt idx="2">
                  <c:v>InfrequentCustomers</c:v>
                </c:pt>
                <c:pt idx="3">
                  <c:v>NewCustomers</c:v>
                </c:pt>
                <c:pt idx="4">
                  <c:v>PowerShoppers</c:v>
                </c:pt>
              </c:strCache>
            </c:strRef>
          </c:cat>
          <c:val>
            <c:numRef>
              <c:f>Planilha2!$AD$21:$AD$25</c:f>
              <c:numCache>
                <c:formatCode>0.00%</c:formatCode>
                <c:ptCount val="5"/>
                <c:pt idx="0">
                  <c:v>8.2444356644277628E-2</c:v>
                </c:pt>
                <c:pt idx="1">
                  <c:v>8.9937787395185279E-2</c:v>
                </c:pt>
                <c:pt idx="2">
                  <c:v>6.9653767820773926E-2</c:v>
                </c:pt>
                <c:pt idx="3">
                  <c:v>5.7833015936654304E-2</c:v>
                </c:pt>
                <c:pt idx="4">
                  <c:v>7.8416149068322977E-2</c:v>
                </c:pt>
              </c:numCache>
            </c:numRef>
          </c:val>
          <c:extLst>
            <c:ext xmlns:c16="http://schemas.microsoft.com/office/drawing/2014/chart" uri="{C3380CC4-5D6E-409C-BE32-E72D297353CC}">
              <c16:uniqueId val="{00000000-34D8-4BEB-BB94-0B8444E94989}"/>
            </c:ext>
          </c:extLst>
        </c:ser>
        <c:ser>
          <c:idx val="1"/>
          <c:order val="1"/>
          <c:tx>
            <c:strRef>
              <c:f>Planilha2!$AE$20</c:f>
              <c:strCache>
                <c:ptCount val="1"/>
                <c:pt idx="0">
                  <c:v>% Control</c:v>
                </c:pt>
              </c:strCache>
            </c:strRef>
          </c:tx>
          <c:spPr>
            <a:solidFill>
              <a:schemeClr val="accent1">
                <a:tint val="77000"/>
              </a:schemeClr>
            </a:solidFill>
            <a:ln>
              <a:noFill/>
            </a:ln>
            <a:effectLst/>
          </c:spPr>
          <c:invertIfNegative val="0"/>
          <c:cat>
            <c:strRef>
              <c:f>Planilha2!$AC$21:$AC$25</c:f>
              <c:strCache>
                <c:ptCount val="5"/>
                <c:pt idx="0">
                  <c:v>CoreCustomers</c:v>
                </c:pt>
                <c:pt idx="1">
                  <c:v>EliteCustomers</c:v>
                </c:pt>
                <c:pt idx="2">
                  <c:v>InfrequentCustomers</c:v>
                </c:pt>
                <c:pt idx="3">
                  <c:v>NewCustomers</c:v>
                </c:pt>
                <c:pt idx="4">
                  <c:v>PowerShoppers</c:v>
                </c:pt>
              </c:strCache>
            </c:strRef>
          </c:cat>
          <c:val>
            <c:numRef>
              <c:f>Planilha2!$AE$21:$AE$25</c:f>
              <c:numCache>
                <c:formatCode>0.00%</c:formatCode>
                <c:ptCount val="5"/>
                <c:pt idx="0">
                  <c:v>8.0489375402446883E-2</c:v>
                </c:pt>
                <c:pt idx="1">
                  <c:v>9.711286089238845E-2</c:v>
                </c:pt>
                <c:pt idx="2">
                  <c:v>0.05</c:v>
                </c:pt>
                <c:pt idx="3">
                  <c:v>5.2212829438090504E-2</c:v>
                </c:pt>
                <c:pt idx="4">
                  <c:v>8.0971659919028341E-2</c:v>
                </c:pt>
              </c:numCache>
            </c:numRef>
          </c:val>
          <c:extLst>
            <c:ext xmlns:c16="http://schemas.microsoft.com/office/drawing/2014/chart" uri="{C3380CC4-5D6E-409C-BE32-E72D297353CC}">
              <c16:uniqueId val="{00000001-34D8-4BEB-BB94-0B8444E94989}"/>
            </c:ext>
          </c:extLst>
        </c:ser>
        <c:dLbls>
          <c:showLegendKey val="0"/>
          <c:showVal val="0"/>
          <c:showCatName val="0"/>
          <c:showSerName val="0"/>
          <c:showPercent val="0"/>
          <c:showBubbleSize val="0"/>
        </c:dLbls>
        <c:gapWidth val="219"/>
        <c:overlap val="-27"/>
        <c:axId val="164702943"/>
        <c:axId val="164705343"/>
      </c:barChart>
      <c:catAx>
        <c:axId val="164702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4705343"/>
        <c:crosses val="autoZero"/>
        <c:auto val="1"/>
        <c:lblAlgn val="ctr"/>
        <c:lblOffset val="100"/>
        <c:noMultiLvlLbl val="0"/>
      </c:catAx>
      <c:valAx>
        <c:axId val="16470534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47029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Planilha2!$AH$20</c:f>
              <c:strCache>
                <c:ptCount val="1"/>
                <c:pt idx="0">
                  <c:v>% Test</c:v>
                </c:pt>
              </c:strCache>
            </c:strRef>
          </c:tx>
          <c:spPr>
            <a:solidFill>
              <a:schemeClr val="accent1">
                <a:shade val="76000"/>
              </a:schemeClr>
            </a:solidFill>
            <a:ln>
              <a:noFill/>
            </a:ln>
            <a:effectLst/>
          </c:spPr>
          <c:invertIfNegative val="0"/>
          <c:cat>
            <c:strRef>
              <c:f>Planilha2!$AG$21:$AG$25</c:f>
              <c:strCache>
                <c:ptCount val="5"/>
                <c:pt idx="0">
                  <c:v>CoreCustomers</c:v>
                </c:pt>
                <c:pt idx="1">
                  <c:v>EliteCustomers</c:v>
                </c:pt>
                <c:pt idx="2">
                  <c:v>InfrequentCustomers</c:v>
                </c:pt>
                <c:pt idx="3">
                  <c:v>NewCustomers</c:v>
                </c:pt>
                <c:pt idx="4">
                  <c:v>PowerShoppers</c:v>
                </c:pt>
              </c:strCache>
            </c:strRef>
          </c:cat>
          <c:val>
            <c:numRef>
              <c:f>Planilha2!$AH$21:$AH$25</c:f>
              <c:numCache>
                <c:formatCode>0.00%</c:formatCode>
                <c:ptCount val="5"/>
                <c:pt idx="0">
                  <c:v>8.8954830201121007E-2</c:v>
                </c:pt>
                <c:pt idx="1">
                  <c:v>9.7868981846882405E-2</c:v>
                </c:pt>
                <c:pt idx="2">
                  <c:v>7.0559610705596104E-2</c:v>
                </c:pt>
                <c:pt idx="3">
                  <c:v>6.7126251698284109E-2</c:v>
                </c:pt>
                <c:pt idx="4">
                  <c:v>8.4679893638780937E-2</c:v>
                </c:pt>
              </c:numCache>
            </c:numRef>
          </c:val>
          <c:extLst>
            <c:ext xmlns:c16="http://schemas.microsoft.com/office/drawing/2014/chart" uri="{C3380CC4-5D6E-409C-BE32-E72D297353CC}">
              <c16:uniqueId val="{00000000-2DB0-45FA-9F47-1AFB7293236F}"/>
            </c:ext>
          </c:extLst>
        </c:ser>
        <c:ser>
          <c:idx val="1"/>
          <c:order val="1"/>
          <c:tx>
            <c:strRef>
              <c:f>Planilha2!$AI$20</c:f>
              <c:strCache>
                <c:ptCount val="1"/>
                <c:pt idx="0">
                  <c:v>% Control</c:v>
                </c:pt>
              </c:strCache>
            </c:strRef>
          </c:tx>
          <c:spPr>
            <a:solidFill>
              <a:schemeClr val="accent1">
                <a:tint val="77000"/>
              </a:schemeClr>
            </a:solidFill>
            <a:ln>
              <a:noFill/>
            </a:ln>
            <a:effectLst/>
          </c:spPr>
          <c:invertIfNegative val="0"/>
          <c:cat>
            <c:strRef>
              <c:f>Planilha2!$AG$21:$AG$25</c:f>
              <c:strCache>
                <c:ptCount val="5"/>
                <c:pt idx="0">
                  <c:v>CoreCustomers</c:v>
                </c:pt>
                <c:pt idx="1">
                  <c:v>EliteCustomers</c:v>
                </c:pt>
                <c:pt idx="2">
                  <c:v>InfrequentCustomers</c:v>
                </c:pt>
                <c:pt idx="3">
                  <c:v>NewCustomers</c:v>
                </c:pt>
                <c:pt idx="4">
                  <c:v>PowerShoppers</c:v>
                </c:pt>
              </c:strCache>
            </c:strRef>
          </c:cat>
          <c:val>
            <c:numRef>
              <c:f>Planilha2!$AI$21:$AI$25</c:f>
              <c:numCache>
                <c:formatCode>0.00%</c:formatCode>
                <c:ptCount val="5"/>
                <c:pt idx="0">
                  <c:v>9.590973201692525E-2</c:v>
                </c:pt>
                <c:pt idx="1">
                  <c:v>7.8358208955223885E-2</c:v>
                </c:pt>
                <c:pt idx="2">
                  <c:v>6.67574931880109E-2</c:v>
                </c:pt>
                <c:pt idx="3">
                  <c:v>5.9203980099502486E-2</c:v>
                </c:pt>
                <c:pt idx="4">
                  <c:v>7.9591836734693874E-2</c:v>
                </c:pt>
              </c:numCache>
            </c:numRef>
          </c:val>
          <c:extLst>
            <c:ext xmlns:c16="http://schemas.microsoft.com/office/drawing/2014/chart" uri="{C3380CC4-5D6E-409C-BE32-E72D297353CC}">
              <c16:uniqueId val="{00000001-2DB0-45FA-9F47-1AFB7293236F}"/>
            </c:ext>
          </c:extLst>
        </c:ser>
        <c:dLbls>
          <c:showLegendKey val="0"/>
          <c:showVal val="0"/>
          <c:showCatName val="0"/>
          <c:showSerName val="0"/>
          <c:showPercent val="0"/>
          <c:showBubbleSize val="0"/>
        </c:dLbls>
        <c:gapWidth val="219"/>
        <c:overlap val="-27"/>
        <c:axId val="1700874848"/>
        <c:axId val="1700876288"/>
      </c:barChart>
      <c:catAx>
        <c:axId val="1700874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700876288"/>
        <c:crosses val="autoZero"/>
        <c:auto val="1"/>
        <c:lblAlgn val="ctr"/>
        <c:lblOffset val="100"/>
        <c:noMultiLvlLbl val="0"/>
      </c:catAx>
      <c:valAx>
        <c:axId val="17008762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7008748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dirty="0"/>
              <a:t># Sales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Planilha1!$M$81</c:f>
              <c:strCache>
                <c:ptCount val="1"/>
                <c:pt idx="0">
                  <c:v>1999 #</c:v>
                </c:pt>
              </c:strCache>
            </c:strRef>
          </c:tx>
          <c:spPr>
            <a:solidFill>
              <a:schemeClr val="accent1"/>
            </a:solidFill>
            <a:ln>
              <a:noFill/>
            </a:ln>
            <a:effectLst/>
          </c:spPr>
          <c:invertIfNegative val="0"/>
          <c:cat>
            <c:strRef>
              <c:f>Planilha1!$L$82:$L$88</c:f>
              <c:strCache>
                <c:ptCount val="7"/>
                <c:pt idx="0">
                  <c:v>Rich&amp;Richer</c:v>
                </c:pt>
                <c:pt idx="1">
                  <c:v>BlueCollarRoyalty</c:v>
                </c:pt>
                <c:pt idx="2">
                  <c:v>CitySlickers</c:v>
                </c:pt>
                <c:pt idx="3">
                  <c:v>Mr.&amp;Mrs.Smiths</c:v>
                </c:pt>
                <c:pt idx="4">
                  <c:v>NormalFamilies</c:v>
                </c:pt>
                <c:pt idx="5">
                  <c:v>PinchedPockets</c:v>
                </c:pt>
                <c:pt idx="6">
                  <c:v>NULL</c:v>
                </c:pt>
              </c:strCache>
            </c:strRef>
          </c:cat>
          <c:val>
            <c:numRef>
              <c:f>Planilha1!$M$82:$M$88</c:f>
              <c:numCache>
                <c:formatCode>General</c:formatCode>
                <c:ptCount val="7"/>
                <c:pt idx="0">
                  <c:v>73596</c:v>
                </c:pt>
                <c:pt idx="1">
                  <c:v>56206</c:v>
                </c:pt>
                <c:pt idx="2">
                  <c:v>98364</c:v>
                </c:pt>
                <c:pt idx="3">
                  <c:v>88728</c:v>
                </c:pt>
                <c:pt idx="4">
                  <c:v>31051</c:v>
                </c:pt>
                <c:pt idx="5">
                  <c:v>50210</c:v>
                </c:pt>
                <c:pt idx="6">
                  <c:v>88122</c:v>
                </c:pt>
              </c:numCache>
            </c:numRef>
          </c:val>
          <c:extLst>
            <c:ext xmlns:c16="http://schemas.microsoft.com/office/drawing/2014/chart" uri="{C3380CC4-5D6E-409C-BE32-E72D297353CC}">
              <c16:uniqueId val="{00000000-59D6-484F-B77F-35E8366E7F3C}"/>
            </c:ext>
          </c:extLst>
        </c:ser>
        <c:ser>
          <c:idx val="1"/>
          <c:order val="1"/>
          <c:tx>
            <c:strRef>
              <c:f>Planilha1!$N$81</c:f>
              <c:strCache>
                <c:ptCount val="1"/>
                <c:pt idx="0">
                  <c:v>2000 #</c:v>
                </c:pt>
              </c:strCache>
            </c:strRef>
          </c:tx>
          <c:spPr>
            <a:solidFill>
              <a:schemeClr val="accent2"/>
            </a:solidFill>
            <a:ln>
              <a:noFill/>
            </a:ln>
            <a:effectLst/>
          </c:spPr>
          <c:invertIfNegative val="0"/>
          <c:cat>
            <c:strRef>
              <c:f>Planilha1!$L$82:$L$88</c:f>
              <c:strCache>
                <c:ptCount val="7"/>
                <c:pt idx="0">
                  <c:v>Rich&amp;Richer</c:v>
                </c:pt>
                <c:pt idx="1">
                  <c:v>BlueCollarRoyalty</c:v>
                </c:pt>
                <c:pt idx="2">
                  <c:v>CitySlickers</c:v>
                </c:pt>
                <c:pt idx="3">
                  <c:v>Mr.&amp;Mrs.Smiths</c:v>
                </c:pt>
                <c:pt idx="4">
                  <c:v>NormalFamilies</c:v>
                </c:pt>
                <c:pt idx="5">
                  <c:v>PinchedPockets</c:v>
                </c:pt>
                <c:pt idx="6">
                  <c:v>NULL</c:v>
                </c:pt>
              </c:strCache>
            </c:strRef>
          </c:cat>
          <c:val>
            <c:numRef>
              <c:f>Planilha1!$N$82:$N$88</c:f>
              <c:numCache>
                <c:formatCode>General</c:formatCode>
                <c:ptCount val="7"/>
                <c:pt idx="0">
                  <c:v>68600</c:v>
                </c:pt>
                <c:pt idx="1">
                  <c:v>52228</c:v>
                </c:pt>
                <c:pt idx="2">
                  <c:v>91731</c:v>
                </c:pt>
                <c:pt idx="3">
                  <c:v>83005</c:v>
                </c:pt>
                <c:pt idx="4">
                  <c:v>28288</c:v>
                </c:pt>
                <c:pt idx="5">
                  <c:v>44712</c:v>
                </c:pt>
                <c:pt idx="6">
                  <c:v>82908</c:v>
                </c:pt>
              </c:numCache>
            </c:numRef>
          </c:val>
          <c:extLst>
            <c:ext xmlns:c16="http://schemas.microsoft.com/office/drawing/2014/chart" uri="{C3380CC4-5D6E-409C-BE32-E72D297353CC}">
              <c16:uniqueId val="{00000001-59D6-484F-B77F-35E8366E7F3C}"/>
            </c:ext>
          </c:extLst>
        </c:ser>
        <c:dLbls>
          <c:showLegendKey val="0"/>
          <c:showVal val="0"/>
          <c:showCatName val="0"/>
          <c:showSerName val="0"/>
          <c:showPercent val="0"/>
          <c:showBubbleSize val="0"/>
        </c:dLbls>
        <c:gapWidth val="219"/>
        <c:overlap val="-27"/>
        <c:axId val="220261472"/>
        <c:axId val="220262912"/>
      </c:barChart>
      <c:catAx>
        <c:axId val="220261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220262912"/>
        <c:crosses val="autoZero"/>
        <c:auto val="1"/>
        <c:lblAlgn val="ctr"/>
        <c:lblOffset val="100"/>
        <c:noMultiLvlLbl val="0"/>
      </c:catAx>
      <c:valAx>
        <c:axId val="220262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220261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dirty="0"/>
              <a:t>$</a:t>
            </a:r>
            <a:r>
              <a:rPr lang="pt-BR" baseline="0" dirty="0"/>
              <a:t> Sales</a:t>
            </a:r>
            <a:endParaRPr lang="pt-BR"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Planilha1!$M$90</c:f>
              <c:strCache>
                <c:ptCount val="1"/>
                <c:pt idx="0">
                  <c:v>1999 $</c:v>
                </c:pt>
              </c:strCache>
            </c:strRef>
          </c:tx>
          <c:spPr>
            <a:solidFill>
              <a:schemeClr val="accent1"/>
            </a:solidFill>
            <a:ln>
              <a:noFill/>
            </a:ln>
            <a:effectLst/>
          </c:spPr>
          <c:invertIfNegative val="0"/>
          <c:cat>
            <c:strRef>
              <c:f>Planilha1!$L$91:$L$97</c:f>
              <c:strCache>
                <c:ptCount val="7"/>
                <c:pt idx="0">
                  <c:v>Rich&amp;Richer</c:v>
                </c:pt>
                <c:pt idx="1">
                  <c:v>BlueCollarRoyalty</c:v>
                </c:pt>
                <c:pt idx="2">
                  <c:v>CitySlickers</c:v>
                </c:pt>
                <c:pt idx="3">
                  <c:v>Mr.&amp;Mrs.Smiths</c:v>
                </c:pt>
                <c:pt idx="4">
                  <c:v>NormalFamilies</c:v>
                </c:pt>
                <c:pt idx="5">
                  <c:v>PinchedPockets</c:v>
                </c:pt>
                <c:pt idx="6">
                  <c:v>NULL</c:v>
                </c:pt>
              </c:strCache>
            </c:strRef>
          </c:cat>
          <c:val>
            <c:numRef>
              <c:f>Planilha1!$M$91:$M$97</c:f>
              <c:numCache>
                <c:formatCode>_("R$"* #,##0.00_);_("R$"* \(#,##0.00\);_("R$"* "-"??_);_(@_)</c:formatCode>
                <c:ptCount val="7"/>
                <c:pt idx="0">
                  <c:v>1032836.3</c:v>
                </c:pt>
                <c:pt idx="1">
                  <c:v>888311.6399999999</c:v>
                </c:pt>
                <c:pt idx="2">
                  <c:v>1670574.6600000001</c:v>
                </c:pt>
                <c:pt idx="3">
                  <c:v>1524126.9700000002</c:v>
                </c:pt>
                <c:pt idx="4">
                  <c:v>200379.05000000005</c:v>
                </c:pt>
                <c:pt idx="5">
                  <c:v>725431.87</c:v>
                </c:pt>
                <c:pt idx="6">
                  <c:v>1422741.3500000003</c:v>
                </c:pt>
              </c:numCache>
            </c:numRef>
          </c:val>
          <c:extLst>
            <c:ext xmlns:c16="http://schemas.microsoft.com/office/drawing/2014/chart" uri="{C3380CC4-5D6E-409C-BE32-E72D297353CC}">
              <c16:uniqueId val="{00000000-ACBF-438E-98BF-1C96EC6E241D}"/>
            </c:ext>
          </c:extLst>
        </c:ser>
        <c:ser>
          <c:idx val="1"/>
          <c:order val="1"/>
          <c:tx>
            <c:strRef>
              <c:f>Planilha1!$N$90</c:f>
              <c:strCache>
                <c:ptCount val="1"/>
                <c:pt idx="0">
                  <c:v>2000 $</c:v>
                </c:pt>
              </c:strCache>
            </c:strRef>
          </c:tx>
          <c:spPr>
            <a:solidFill>
              <a:schemeClr val="accent2"/>
            </a:solidFill>
            <a:ln>
              <a:noFill/>
            </a:ln>
            <a:effectLst/>
          </c:spPr>
          <c:invertIfNegative val="0"/>
          <c:cat>
            <c:strRef>
              <c:f>Planilha1!$L$91:$L$97</c:f>
              <c:strCache>
                <c:ptCount val="7"/>
                <c:pt idx="0">
                  <c:v>Rich&amp;Richer</c:v>
                </c:pt>
                <c:pt idx="1">
                  <c:v>BlueCollarRoyalty</c:v>
                </c:pt>
                <c:pt idx="2">
                  <c:v>CitySlickers</c:v>
                </c:pt>
                <c:pt idx="3">
                  <c:v>Mr.&amp;Mrs.Smiths</c:v>
                </c:pt>
                <c:pt idx="4">
                  <c:v>NormalFamilies</c:v>
                </c:pt>
                <c:pt idx="5">
                  <c:v>PinchedPockets</c:v>
                </c:pt>
                <c:pt idx="6">
                  <c:v>NULL</c:v>
                </c:pt>
              </c:strCache>
            </c:strRef>
          </c:cat>
          <c:val>
            <c:numRef>
              <c:f>Planilha1!$N$91:$N$97</c:f>
              <c:numCache>
                <c:formatCode>_("R$"* #,##0.00_);_("R$"* \(#,##0.00\);_("R$"* "-"??_);_(@_)</c:formatCode>
                <c:ptCount val="7"/>
                <c:pt idx="0">
                  <c:v>397064.74999999994</c:v>
                </c:pt>
                <c:pt idx="1">
                  <c:v>314778.89999999997</c:v>
                </c:pt>
                <c:pt idx="2">
                  <c:v>592707.48</c:v>
                </c:pt>
                <c:pt idx="3">
                  <c:v>579201.62000000011</c:v>
                </c:pt>
                <c:pt idx="4">
                  <c:v>68016.360000000015</c:v>
                </c:pt>
                <c:pt idx="5">
                  <c:v>246091.88999999998</c:v>
                </c:pt>
                <c:pt idx="6">
                  <c:v>516249.20999999996</c:v>
                </c:pt>
              </c:numCache>
            </c:numRef>
          </c:val>
          <c:extLst>
            <c:ext xmlns:c16="http://schemas.microsoft.com/office/drawing/2014/chart" uri="{C3380CC4-5D6E-409C-BE32-E72D297353CC}">
              <c16:uniqueId val="{00000001-ACBF-438E-98BF-1C96EC6E241D}"/>
            </c:ext>
          </c:extLst>
        </c:ser>
        <c:dLbls>
          <c:showLegendKey val="0"/>
          <c:showVal val="0"/>
          <c:showCatName val="0"/>
          <c:showSerName val="0"/>
          <c:showPercent val="0"/>
          <c:showBubbleSize val="0"/>
        </c:dLbls>
        <c:gapWidth val="219"/>
        <c:overlap val="-27"/>
        <c:axId val="5122511"/>
        <c:axId val="5123471"/>
      </c:barChart>
      <c:catAx>
        <c:axId val="51225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5123471"/>
        <c:crosses val="autoZero"/>
        <c:auto val="1"/>
        <c:lblAlgn val="ctr"/>
        <c:lblOffset val="100"/>
        <c:noMultiLvlLbl val="0"/>
      </c:catAx>
      <c:valAx>
        <c:axId val="5123471"/>
        <c:scaling>
          <c:orientation val="minMax"/>
        </c:scaling>
        <c:delete val="0"/>
        <c:axPos val="l"/>
        <c:majorGridlines>
          <c:spPr>
            <a:ln w="9525" cap="flat" cmpd="sng" algn="ctr">
              <a:solidFill>
                <a:schemeClr val="tx1">
                  <a:lumMod val="15000"/>
                  <a:lumOff val="85000"/>
                </a:schemeClr>
              </a:solidFill>
              <a:round/>
            </a:ln>
            <a:effectLst/>
          </c:spPr>
        </c:majorGridlines>
        <c:numFmt formatCode="_(&quot;R$&quot;* #,##0.00_);_(&quot;R$&quot;* \(#,##0.00\);_(&quot;R$&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51225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259360" y="1589512"/>
            <a:ext cx="5436115" cy="1565274"/>
          </a:xfrm>
        </p:spPr>
        <p:txBody>
          <a:bodyPr lIns="0" tIns="0" rIns="0" bIns="0" anchor="b">
            <a:noAutofit/>
          </a:bodyPr>
          <a:lstStyle>
            <a:lvl1pPr algn="l">
              <a:lnSpc>
                <a:spcPct val="100000"/>
              </a:lnSpc>
              <a:defRPr sz="4800" b="1" cap="all" spc="120" baseline="0">
                <a:solidFill>
                  <a:schemeClr val="tx2"/>
                </a:solidFill>
              </a:defRPr>
            </a:lvl1pPr>
          </a:lstStyle>
          <a:p>
            <a:r>
              <a:rPr lang="en-US" dirty="0"/>
              <a:t>HEADLINE GOES HERE</a:t>
            </a:r>
          </a:p>
        </p:txBody>
      </p:sp>
      <p:sp>
        <p:nvSpPr>
          <p:cNvPr id="3" name="Subtitle 2"/>
          <p:cNvSpPr>
            <a:spLocks noGrp="1"/>
          </p:cNvSpPr>
          <p:nvPr>
            <p:ph type="subTitle" idx="1" hasCustomPrompt="1"/>
          </p:nvPr>
        </p:nvSpPr>
        <p:spPr>
          <a:xfrm>
            <a:off x="8275271" y="1306284"/>
            <a:ext cx="4057843" cy="323420"/>
          </a:xfrm>
        </p:spPr>
        <p:txBody>
          <a:bodyPr lIns="0" tIns="0" rIns="0" bIns="0">
            <a:noAutofit/>
          </a:bodyPr>
          <a:lstStyle>
            <a:lvl1pPr marL="0" indent="0" algn="l">
              <a:buNone/>
              <a:defRPr sz="2100" cap="all" spc="63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dirty="0"/>
              <a:t>TEXT HERE</a:t>
            </a:r>
          </a:p>
        </p:txBody>
      </p:sp>
      <p:sp>
        <p:nvSpPr>
          <p:cNvPr id="4" name="Date Placeholder 3"/>
          <p:cNvSpPr>
            <a:spLocks noGrp="1"/>
          </p:cNvSpPr>
          <p:nvPr>
            <p:ph type="dt" sz="half" idx="10"/>
          </p:nvPr>
        </p:nvSpPr>
        <p:spPr/>
        <p:txBody>
          <a:bodyPr/>
          <a:lstStyle/>
          <a:p>
            <a:fld id="{3B26ED00-3D84-4910-8383-161A0ED39C01}" type="datetimeFigureOut">
              <a:rPr lang="en-GB" smtClean="0"/>
              <a:t>03/05/2024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3BEBFE4-3155-4DB3-B3DB-B29581100682}" type="slidenum">
              <a:rPr lang="en-GB" smtClean="0"/>
              <a:t>‹nº›</a:t>
            </a:fld>
            <a:endParaRPr lang="en-GB" dirty="0"/>
          </a:p>
        </p:txBody>
      </p:sp>
      <p:sp>
        <p:nvSpPr>
          <p:cNvPr id="12" name="Text Placeholder 11"/>
          <p:cNvSpPr>
            <a:spLocks noGrp="1"/>
          </p:cNvSpPr>
          <p:nvPr>
            <p:ph type="body" sz="quarter" idx="13" hasCustomPrompt="1"/>
          </p:nvPr>
        </p:nvSpPr>
        <p:spPr>
          <a:xfrm>
            <a:off x="8258127" y="3350019"/>
            <a:ext cx="5352412" cy="789902"/>
          </a:xfrm>
        </p:spPr>
        <p:txBody>
          <a:bodyPr lIns="0" tIns="0" rIns="0" bIns="0">
            <a:noAutofit/>
          </a:bodyPr>
          <a:lstStyle>
            <a:lvl1pPr marL="0" indent="0">
              <a:lnSpc>
                <a:spcPct val="114000"/>
              </a:lnSpc>
              <a:spcBef>
                <a:spcPts val="0"/>
              </a:spcBef>
              <a:buNone/>
              <a:defRPr sz="1400">
                <a:solidFill>
                  <a:schemeClr val="bg1"/>
                </a:solidFill>
              </a:defRPr>
            </a:lvl1pPr>
            <a:lvl2pPr>
              <a:defRPr sz="1400"/>
            </a:lvl2pPr>
            <a:lvl3pPr>
              <a:defRPr sz="1400"/>
            </a:lvl3pPr>
            <a:lvl4pPr>
              <a:defRPr sz="1400"/>
            </a:lvl4pPr>
            <a:lvl5pPr>
              <a:defRPr sz="1400"/>
            </a:lvl5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non.11</a:t>
            </a:r>
          </a:p>
        </p:txBody>
      </p:sp>
    </p:spTree>
    <p:extLst>
      <p:ext uri="{BB962C8B-B14F-4D97-AF65-F5344CB8AC3E}">
        <p14:creationId xmlns:p14="http://schemas.microsoft.com/office/powerpoint/2010/main" val="4243423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2" name="Title 1"/>
          <p:cNvSpPr>
            <a:spLocks noGrp="1"/>
          </p:cNvSpPr>
          <p:nvPr>
            <p:ph type="ctrTitle" hasCustomPrompt="1"/>
          </p:nvPr>
        </p:nvSpPr>
        <p:spPr>
          <a:xfrm>
            <a:off x="1715702" y="3670300"/>
            <a:ext cx="6396904" cy="1615528"/>
          </a:xfrm>
        </p:spPr>
        <p:txBody>
          <a:bodyPr lIns="0" tIns="0" rIns="0" bIns="0" anchor="b">
            <a:noAutofit/>
          </a:bodyPr>
          <a:lstStyle>
            <a:lvl1pPr algn="l">
              <a:lnSpc>
                <a:spcPct val="100000"/>
              </a:lnSpc>
              <a:defRPr sz="3600" b="1"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Over 70% of Americans do this.</a:t>
            </a:r>
          </a:p>
        </p:txBody>
      </p:sp>
      <p:sp>
        <p:nvSpPr>
          <p:cNvPr id="13" name="Text Placeholder 11"/>
          <p:cNvSpPr>
            <a:spLocks noGrp="1"/>
          </p:cNvSpPr>
          <p:nvPr>
            <p:ph type="body" sz="quarter" idx="13" hasCustomPrompt="1"/>
          </p:nvPr>
        </p:nvSpPr>
        <p:spPr>
          <a:xfrm>
            <a:off x="1750595" y="5379460"/>
            <a:ext cx="6362011" cy="1910340"/>
          </a:xfrm>
        </p:spPr>
        <p:txBody>
          <a:bodyPr lIns="0" tIns="0" rIns="0" bIns="0">
            <a:noAutofit/>
          </a:bodyPr>
          <a:lstStyle>
            <a:lvl1pPr marL="0" indent="0">
              <a:lnSpc>
                <a:spcPct val="150000"/>
              </a:lnSpc>
              <a:spcBef>
                <a:spcPts val="0"/>
              </a:spcBef>
              <a:buNone/>
              <a:defRPr sz="1400">
                <a:solidFill>
                  <a:schemeClr val="accent6"/>
                </a:solidFill>
              </a:defRPr>
            </a:lvl1pPr>
            <a:lvl2pPr>
              <a:defRPr sz="1400"/>
            </a:lvl2pPr>
            <a:lvl3pPr>
              <a:defRPr sz="1400"/>
            </a:lvl3pPr>
            <a:lvl4pPr>
              <a:defRPr sz="1400"/>
            </a:lvl4pPr>
            <a:lvl5pPr>
              <a:defRPr sz="1400"/>
            </a:lvl5pPr>
          </a:lstStyle>
          <a:p>
            <a:pPr lvl="0"/>
            <a:r>
              <a:rPr lang="en-US" dirty="0"/>
              <a:t>Did you know that 80% of Americans do this?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non. </a:t>
            </a:r>
            <a:endParaRPr lang="en-GB" dirty="0"/>
          </a:p>
        </p:txBody>
      </p:sp>
    </p:spTree>
    <p:extLst>
      <p:ext uri="{BB962C8B-B14F-4D97-AF65-F5344CB8AC3E}">
        <p14:creationId xmlns:p14="http://schemas.microsoft.com/office/powerpoint/2010/main" val="465377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B26ED00-3D84-4910-8383-161A0ED39C01}" type="datetimeFigureOut">
              <a:rPr lang="en-GB" smtClean="0"/>
              <a:t>03/05/2024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23BEBFE4-3155-4DB3-B3DB-B29581100682}" type="slidenum">
              <a:rPr lang="en-GB" smtClean="0"/>
              <a:t>‹nº›</a:t>
            </a:fld>
            <a:endParaRPr lang="en-GB" dirty="0"/>
          </a:p>
        </p:txBody>
      </p:sp>
    </p:spTree>
    <p:extLst>
      <p:ext uri="{BB962C8B-B14F-4D97-AF65-F5344CB8AC3E}">
        <p14:creationId xmlns:p14="http://schemas.microsoft.com/office/powerpoint/2010/main" val="307438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6" name="Picture 5"/>
          <p:cNvPicPr>
            <a:picLocks/>
          </p:cNvPicPr>
          <p:nvPr userDrawn="1"/>
        </p:nvPicPr>
        <p:blipFill>
          <a:blip r:embed="rId2"/>
          <a:stretch>
            <a:fillRect/>
          </a:stretch>
        </p:blipFill>
        <p:spPr>
          <a:xfrm>
            <a:off x="0" y="0"/>
            <a:ext cx="13817600" cy="7772400"/>
          </a:xfrm>
          <a:prstGeom prst="rect">
            <a:avLst/>
          </a:prstGeom>
        </p:spPr>
      </p:pic>
      <p:sp>
        <p:nvSpPr>
          <p:cNvPr id="3" name="Date Placeholder 2"/>
          <p:cNvSpPr>
            <a:spLocks noGrp="1"/>
          </p:cNvSpPr>
          <p:nvPr>
            <p:ph type="dt" sz="half" idx="10"/>
          </p:nvPr>
        </p:nvSpPr>
        <p:spPr/>
        <p:txBody>
          <a:bodyPr/>
          <a:lstStyle/>
          <a:p>
            <a:fld id="{3B26ED00-3D84-4910-8383-161A0ED39C01}" type="datetimeFigureOut">
              <a:rPr lang="en-GB" smtClean="0"/>
              <a:t>03/05/2024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23BEBFE4-3155-4DB3-B3DB-B29581100682}" type="slidenum">
              <a:rPr lang="en-GB" smtClean="0"/>
              <a:t>‹nº›</a:t>
            </a:fld>
            <a:endParaRPr lang="en-GB" dirty="0"/>
          </a:p>
        </p:txBody>
      </p:sp>
    </p:spTree>
    <p:extLst>
      <p:ext uri="{BB962C8B-B14F-4D97-AF65-F5344CB8AC3E}">
        <p14:creationId xmlns:p14="http://schemas.microsoft.com/office/powerpoint/2010/main" val="31519467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9960" y="413809"/>
            <a:ext cx="1191768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49960" y="2069042"/>
            <a:ext cx="11917680" cy="49315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9960" y="7203864"/>
            <a:ext cx="3108960" cy="413808"/>
          </a:xfrm>
          <a:prstGeom prst="rect">
            <a:avLst/>
          </a:prstGeom>
        </p:spPr>
        <p:txBody>
          <a:bodyPr vert="horz" lIns="91440" tIns="45720" rIns="91440" bIns="45720" rtlCol="0" anchor="ctr"/>
          <a:lstStyle>
            <a:lvl1pPr algn="l">
              <a:defRPr sz="1360">
                <a:solidFill>
                  <a:schemeClr val="tx1">
                    <a:tint val="75000"/>
                  </a:schemeClr>
                </a:solidFill>
              </a:defRPr>
            </a:lvl1pPr>
          </a:lstStyle>
          <a:p>
            <a:fld id="{3B26ED00-3D84-4910-8383-161A0ED39C01}" type="datetimeFigureOut">
              <a:rPr lang="en-GB" smtClean="0"/>
              <a:t>03/05/2024</a:t>
            </a:fld>
            <a:endParaRPr lang="en-GB" dirty="0"/>
          </a:p>
        </p:txBody>
      </p:sp>
      <p:sp>
        <p:nvSpPr>
          <p:cNvPr id="5" name="Footer Placeholder 4"/>
          <p:cNvSpPr>
            <a:spLocks noGrp="1"/>
          </p:cNvSpPr>
          <p:nvPr>
            <p:ph type="ftr" sz="quarter" idx="3"/>
          </p:nvPr>
        </p:nvSpPr>
        <p:spPr>
          <a:xfrm>
            <a:off x="4577080" y="7203864"/>
            <a:ext cx="4663440" cy="413808"/>
          </a:xfrm>
          <a:prstGeom prst="rect">
            <a:avLst/>
          </a:prstGeom>
        </p:spPr>
        <p:txBody>
          <a:bodyPr vert="horz" lIns="91440" tIns="45720" rIns="91440" bIns="45720" rtlCol="0" anchor="ctr"/>
          <a:lstStyle>
            <a:lvl1pPr algn="ctr">
              <a:defRPr sz="136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758680" y="7203864"/>
            <a:ext cx="3108960" cy="413808"/>
          </a:xfrm>
          <a:prstGeom prst="rect">
            <a:avLst/>
          </a:prstGeom>
        </p:spPr>
        <p:txBody>
          <a:bodyPr vert="horz" lIns="91440" tIns="45720" rIns="91440" bIns="45720" rtlCol="0" anchor="ctr"/>
          <a:lstStyle>
            <a:lvl1pPr algn="r">
              <a:defRPr sz="1360">
                <a:solidFill>
                  <a:schemeClr val="tx1">
                    <a:tint val="75000"/>
                  </a:schemeClr>
                </a:solidFill>
              </a:defRPr>
            </a:lvl1pPr>
          </a:lstStyle>
          <a:p>
            <a:fld id="{23BEBFE4-3155-4DB3-B3DB-B29581100682}" type="slidenum">
              <a:rPr lang="en-GB" smtClean="0"/>
              <a:t>‹nº›</a:t>
            </a:fld>
            <a:endParaRPr lang="en-GB" dirty="0"/>
          </a:p>
        </p:txBody>
      </p:sp>
    </p:spTree>
    <p:extLst>
      <p:ext uri="{BB962C8B-B14F-4D97-AF65-F5344CB8AC3E}">
        <p14:creationId xmlns:p14="http://schemas.microsoft.com/office/powerpoint/2010/main" val="294484716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68" r:id="rId4"/>
  </p:sldLayoutIdLst>
  <p:txStyles>
    <p:title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p:titleStyle>
    <p:bodyStyle>
      <a:lvl1pPr marL="259072" indent="-259072" algn="l" defTabSz="1036290" rtl="0" eaLnBrk="1" latinLnBrk="0" hangingPunct="1">
        <a:lnSpc>
          <a:spcPct val="90000"/>
        </a:lnSpc>
        <a:spcBef>
          <a:spcPts val="1133"/>
        </a:spcBef>
        <a:buFont typeface="Arial" panose="020B0604020202020204" pitchFamily="34" charset="0"/>
        <a:buChar char="•"/>
        <a:defRPr sz="3173" kern="1200">
          <a:solidFill>
            <a:schemeClr val="tx1"/>
          </a:solidFill>
          <a:latin typeface="+mn-lt"/>
          <a:ea typeface="+mn-ea"/>
          <a:cs typeface="+mn-cs"/>
        </a:defRPr>
      </a:lvl1pPr>
      <a:lvl2pPr marL="777217" indent="-259072" algn="l" defTabSz="1036290" rtl="0" eaLnBrk="1" latinLnBrk="0" hangingPunct="1">
        <a:lnSpc>
          <a:spcPct val="90000"/>
        </a:lnSpc>
        <a:spcBef>
          <a:spcPts val="567"/>
        </a:spcBef>
        <a:buFont typeface="Arial" panose="020B0604020202020204" pitchFamily="34" charset="0"/>
        <a:buChar char="•"/>
        <a:defRPr sz="2720" kern="1200">
          <a:solidFill>
            <a:schemeClr val="tx1"/>
          </a:solidFill>
          <a:latin typeface="+mn-lt"/>
          <a:ea typeface="+mn-ea"/>
          <a:cs typeface="+mn-cs"/>
        </a:defRPr>
      </a:lvl2pPr>
      <a:lvl3pPr marL="1295362" indent="-259072" algn="l" defTabSz="1036290" rtl="0" eaLnBrk="1" latinLnBrk="0" hangingPunct="1">
        <a:lnSpc>
          <a:spcPct val="90000"/>
        </a:lnSpc>
        <a:spcBef>
          <a:spcPts val="567"/>
        </a:spcBef>
        <a:buFont typeface="Arial" panose="020B0604020202020204" pitchFamily="34" charset="0"/>
        <a:buChar char="•"/>
        <a:defRPr sz="2267" kern="1200">
          <a:solidFill>
            <a:schemeClr val="tx1"/>
          </a:solidFill>
          <a:latin typeface="+mn-lt"/>
          <a:ea typeface="+mn-ea"/>
          <a:cs typeface="+mn-cs"/>
        </a:defRPr>
      </a:lvl3pPr>
      <a:lvl4pPr marL="1813507"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4pPr>
      <a:lvl5pPr marL="233165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5pPr>
      <a:lvl6pPr marL="284979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6pPr>
      <a:lvl7pPr marL="3367941"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7pPr>
      <a:lvl8pPr marL="3886086"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8pPr>
      <a:lvl9pPr marL="4404230" indent="-259072" algn="l" defTabSz="1036290" rtl="0" eaLnBrk="1" latinLnBrk="0" hangingPunct="1">
        <a:lnSpc>
          <a:spcPct val="90000"/>
        </a:lnSpc>
        <a:spcBef>
          <a:spcPts val="567"/>
        </a:spcBef>
        <a:buFont typeface="Arial" panose="020B0604020202020204" pitchFamily="34" charset="0"/>
        <a:buChar char="•"/>
        <a:defRPr sz="2040" kern="1200">
          <a:solidFill>
            <a:schemeClr val="tx1"/>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3.wdp"/><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chart" Target="../charts/chart4.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6.jpe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jpeg"/><Relationship Id="rId15" Type="http://schemas.microsoft.com/office/2007/relationships/hdphoto" Target="../media/hdphoto4.wdp"/><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2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9.png"/><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99590FFE-E425-76D0-DDDB-64AE4375045F}"/>
              </a:ext>
            </a:extLst>
          </p:cNvPr>
          <p:cNvSpPr/>
          <p:nvPr/>
        </p:nvSpPr>
        <p:spPr>
          <a:xfrm>
            <a:off x="-132289" y="1"/>
            <a:ext cx="7533216" cy="7772400"/>
          </a:xfrm>
          <a:prstGeom prst="rect">
            <a:avLst/>
          </a:prstGeom>
          <a:gradFill flip="none" rotWithShape="1">
            <a:gsLst>
              <a:gs pos="0">
                <a:srgbClr val="B3B3B3">
                  <a:tint val="66000"/>
                  <a:satMod val="160000"/>
                </a:srgbClr>
              </a:gs>
              <a:gs pos="28000">
                <a:srgbClr val="656565"/>
              </a:gs>
              <a:gs pos="100000">
                <a:srgbClr val="B3B3B3">
                  <a:tint val="23500"/>
                  <a:satMod val="1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5" name="Imagem 4">
            <a:extLst>
              <a:ext uri="{FF2B5EF4-FFF2-40B4-BE49-F238E27FC236}">
                <a16:creationId xmlns:a16="http://schemas.microsoft.com/office/drawing/2014/main" id="{43E26EDC-785B-38D6-CF4D-C1922602461F}"/>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8900" b="98400" l="51400" r="73867">
                        <a14:foregroundMark x1="61267" y1="14700" x2="56200" y2="12300"/>
                        <a14:foregroundMark x1="59267" y1="37800" x2="66400" y2="60600"/>
                        <a14:foregroundMark x1="66400" y1="60600" x2="66733" y2="64300"/>
                        <a14:foregroundMark x1="65067" y1="39500" x2="69600" y2="54200"/>
                        <a14:foregroundMark x1="69600" y1="54200" x2="68400" y2="73800"/>
                        <a14:foregroundMark x1="68400" y1="73800" x2="64800" y2="76500"/>
                        <a14:foregroundMark x1="68933" y1="79100" x2="59000" y2="77000"/>
                        <a14:foregroundMark x1="59000" y1="77000" x2="57667" y2="79100"/>
                        <a14:foregroundMark x1="56133" y1="79100" x2="62533" y2="79100"/>
                        <a14:foregroundMark x1="62533" y1="79100" x2="66333" y2="78800"/>
                        <a14:foregroundMark x1="70333" y1="80900" x2="60000" y2="79800"/>
                        <a14:foregroundMark x1="60000" y1="79800" x2="59333" y2="79400"/>
                        <a14:foregroundMark x1="55867" y1="80200" x2="52333" y2="69400"/>
                        <a14:foregroundMark x1="52333" y1="69400" x2="52123" y2="67828"/>
                        <a14:foregroundMark x1="51525" y1="61253" x2="53200" y2="45900"/>
                        <a14:foregroundMark x1="52743" y1="74700" x2="54400" y2="80500"/>
                        <a14:foregroundMark x1="51941" y1="71895" x2="52743" y2="74700"/>
                        <a14:foregroundMark x1="53267" y1="80900" x2="60800" y2="80800"/>
                        <a14:foregroundMark x1="60800" y1="80800" x2="61200" y2="80800"/>
                        <a14:foregroundMark x1="72000" y1="81100" x2="66533" y2="80400"/>
                        <a14:foregroundMark x1="57200" y1="84000" x2="64333" y2="98400"/>
                        <a14:foregroundMark x1="68800" y1="83600" x2="68800" y2="83600"/>
                        <a14:foregroundMark x1="59067" y1="8900" x2="55400" y2="12700"/>
                        <a14:foregroundMark x1="52067" y1="63800" x2="52067" y2="63800"/>
                        <a14:backgroundMark x1="64733" y1="26600" x2="64733" y2="26600"/>
                        <a14:backgroundMark x1="54267" y1="27600" x2="54267" y2="27600"/>
                        <a14:backgroundMark x1="53133" y1="34100" x2="53133" y2="34100"/>
                        <a14:backgroundMark x1="50067" y1="50600" x2="50133" y2="62500"/>
                        <a14:backgroundMark x1="50667" y1="42400" x2="49867" y2="49200"/>
                        <a14:backgroundMark x1="50467" y1="49500" x2="49933" y2="58100"/>
                        <a14:backgroundMark x1="49933" y1="58100" x2="49933" y2="58100"/>
                        <a14:backgroundMark x1="50884" y1="63800" x2="50467" y2="73100"/>
                        <a14:backgroundMark x1="51000" y1="61200" x2="50884" y2="63800"/>
                        <a14:backgroundMark x1="51267" y1="74700" x2="51267" y2="74700"/>
                        <a14:backgroundMark x1="51800" y1="34100" x2="53733" y2="31100"/>
                      </a14:backgroundRemoval>
                    </a14:imgEffect>
                  </a14:imgLayer>
                </a14:imgProps>
              </a:ext>
              <a:ext uri="{28A0092B-C50C-407E-A947-70E740481C1C}">
                <a14:useLocalDpi xmlns:a14="http://schemas.microsoft.com/office/drawing/2010/main" val="0"/>
              </a:ext>
            </a:extLst>
          </a:blip>
          <a:srcRect l="50000" t="4968" r="23351"/>
          <a:stretch/>
        </p:blipFill>
        <p:spPr>
          <a:xfrm rot="20916041">
            <a:off x="2031173" y="-355210"/>
            <a:ext cx="3633013" cy="8482818"/>
          </a:xfrm>
          <a:prstGeom prst="rect">
            <a:avLst/>
          </a:prstGeom>
        </p:spPr>
      </p:pic>
      <p:sp>
        <p:nvSpPr>
          <p:cNvPr id="11" name="Freeform 10"/>
          <p:cNvSpPr/>
          <p:nvPr/>
        </p:nvSpPr>
        <p:spPr>
          <a:xfrm>
            <a:off x="3738097" y="0"/>
            <a:ext cx="10079503" cy="7772400"/>
          </a:xfrm>
          <a:custGeom>
            <a:avLst/>
            <a:gdLst>
              <a:gd name="connsiteX0" fmla="*/ 0 w 10079503"/>
              <a:gd name="connsiteY0" fmla="*/ 0 h 7772400"/>
              <a:gd name="connsiteX1" fmla="*/ 5655607 w 10079503"/>
              <a:gd name="connsiteY1" fmla="*/ 0 h 7772400"/>
              <a:gd name="connsiteX2" fmla="*/ 6320304 w 10079503"/>
              <a:gd name="connsiteY2" fmla="*/ 0 h 7772400"/>
              <a:gd name="connsiteX3" fmla="*/ 10079503 w 10079503"/>
              <a:gd name="connsiteY3" fmla="*/ 0 h 7772400"/>
              <a:gd name="connsiteX4" fmla="*/ 10079503 w 10079503"/>
              <a:gd name="connsiteY4" fmla="*/ 7772400 h 7772400"/>
              <a:gd name="connsiteX5" fmla="*/ 6320304 w 10079503"/>
              <a:gd name="connsiteY5" fmla="*/ 7772400 h 7772400"/>
              <a:gd name="connsiteX6" fmla="*/ 5655607 w 10079503"/>
              <a:gd name="connsiteY6" fmla="*/ 7772400 h 7772400"/>
              <a:gd name="connsiteX7" fmla="*/ 3663702 w 10079503"/>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9503" h="7772400">
                <a:moveTo>
                  <a:pt x="0" y="0"/>
                </a:moveTo>
                <a:lnTo>
                  <a:pt x="5655607" y="0"/>
                </a:lnTo>
                <a:lnTo>
                  <a:pt x="6320304" y="0"/>
                </a:lnTo>
                <a:lnTo>
                  <a:pt x="10079503" y="0"/>
                </a:lnTo>
                <a:lnTo>
                  <a:pt x="10079503" y="7772400"/>
                </a:lnTo>
                <a:lnTo>
                  <a:pt x="6320304" y="7772400"/>
                </a:lnTo>
                <a:lnTo>
                  <a:pt x="5655607" y="7772400"/>
                </a:lnTo>
                <a:lnTo>
                  <a:pt x="3663702" y="7772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Isosceles Triangle 23"/>
          <p:cNvSpPr/>
          <p:nvPr/>
        </p:nvSpPr>
        <p:spPr>
          <a:xfrm>
            <a:off x="2" y="5210176"/>
            <a:ext cx="7400925" cy="2562225"/>
          </a:xfrm>
          <a:prstGeom prst="triangle">
            <a:avLst>
              <a:gd name="adj" fmla="val 83787"/>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19"/>
          <p:cNvSpPr/>
          <p:nvPr/>
        </p:nvSpPr>
        <p:spPr>
          <a:xfrm rot="19165683">
            <a:off x="4067269" y="-600807"/>
            <a:ext cx="172946" cy="4530298"/>
          </a:xfrm>
          <a:custGeom>
            <a:avLst/>
            <a:gdLst>
              <a:gd name="connsiteX0" fmla="*/ 172946 w 172946"/>
              <a:gd name="connsiteY0" fmla="*/ 148085 h 4530298"/>
              <a:gd name="connsiteX1" fmla="*/ 172946 w 172946"/>
              <a:gd name="connsiteY1" fmla="*/ 4530298 h 4530298"/>
              <a:gd name="connsiteX2" fmla="*/ 0 w 172946"/>
              <a:gd name="connsiteY2" fmla="*/ 4382212 h 4530298"/>
              <a:gd name="connsiteX3" fmla="*/ 0 w 172946"/>
              <a:gd name="connsiteY3" fmla="*/ 0 h 4530298"/>
            </a:gdLst>
            <a:ahLst/>
            <a:cxnLst>
              <a:cxn ang="0">
                <a:pos x="connsiteX0" y="connsiteY0"/>
              </a:cxn>
              <a:cxn ang="0">
                <a:pos x="connsiteX1" y="connsiteY1"/>
              </a:cxn>
              <a:cxn ang="0">
                <a:pos x="connsiteX2" y="connsiteY2"/>
              </a:cxn>
              <a:cxn ang="0">
                <a:pos x="connsiteX3" y="connsiteY3"/>
              </a:cxn>
            </a:cxnLst>
            <a:rect l="l" t="t" r="r" b="b"/>
            <a:pathLst>
              <a:path w="172946" h="4530298">
                <a:moveTo>
                  <a:pt x="172946" y="148085"/>
                </a:moveTo>
                <a:lnTo>
                  <a:pt x="172946" y="4530298"/>
                </a:lnTo>
                <a:lnTo>
                  <a:pt x="0" y="4382212"/>
                </a:lnTo>
                <a:lnTo>
                  <a:pt x="0" y="0"/>
                </a:lnTo>
                <a:close/>
              </a:path>
            </a:pathLst>
          </a:custGeom>
          <a:solidFill>
            <a:schemeClr val="tx1">
              <a:alpha val="19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Freeform 13"/>
          <p:cNvSpPr/>
          <p:nvPr/>
        </p:nvSpPr>
        <p:spPr>
          <a:xfrm rot="19165683">
            <a:off x="7014150" y="1521495"/>
            <a:ext cx="172946" cy="7168885"/>
          </a:xfrm>
          <a:custGeom>
            <a:avLst/>
            <a:gdLst>
              <a:gd name="connsiteX0" fmla="*/ 172946 w 172946"/>
              <a:gd name="connsiteY0" fmla="*/ 0 h 7168885"/>
              <a:gd name="connsiteX1" fmla="*/ 172946 w 172946"/>
              <a:gd name="connsiteY1" fmla="*/ 7168885 h 7168885"/>
              <a:gd name="connsiteX2" fmla="*/ 1 w 172946"/>
              <a:gd name="connsiteY2" fmla="*/ 7020799 h 7168885"/>
              <a:gd name="connsiteX3" fmla="*/ 0 w 172946"/>
              <a:gd name="connsiteY3" fmla="*/ 630713 h 7168885"/>
            </a:gdLst>
            <a:ahLst/>
            <a:cxnLst>
              <a:cxn ang="0">
                <a:pos x="connsiteX0" y="connsiteY0"/>
              </a:cxn>
              <a:cxn ang="0">
                <a:pos x="connsiteX1" y="connsiteY1"/>
              </a:cxn>
              <a:cxn ang="0">
                <a:pos x="connsiteX2" y="connsiteY2"/>
              </a:cxn>
              <a:cxn ang="0">
                <a:pos x="connsiteX3" y="connsiteY3"/>
              </a:cxn>
            </a:cxnLst>
            <a:rect l="l" t="t" r="r" b="b"/>
            <a:pathLst>
              <a:path w="172946" h="7168885">
                <a:moveTo>
                  <a:pt x="172946" y="0"/>
                </a:moveTo>
                <a:lnTo>
                  <a:pt x="172946" y="7168885"/>
                </a:lnTo>
                <a:lnTo>
                  <a:pt x="1" y="7020799"/>
                </a:lnTo>
                <a:lnTo>
                  <a:pt x="0" y="63071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Title 30"/>
          <p:cNvSpPr>
            <a:spLocks noGrp="1"/>
          </p:cNvSpPr>
          <p:nvPr>
            <p:ph type="ctrTitle"/>
          </p:nvPr>
        </p:nvSpPr>
        <p:spPr>
          <a:xfrm>
            <a:off x="5812298" y="1139858"/>
            <a:ext cx="7832931" cy="1565274"/>
          </a:xfrm>
        </p:spPr>
        <p:txBody>
          <a:bodyPr/>
          <a:lstStyle/>
          <a:p>
            <a:r>
              <a:rPr lang="pt-BR" b="0" dirty="0">
                <a:solidFill>
                  <a:srgbClr val="374151"/>
                </a:solidFill>
                <a:latin typeface="Söhne"/>
              </a:rPr>
              <a:t>Case </a:t>
            </a:r>
            <a:r>
              <a:rPr lang="pt-BR" b="0" dirty="0" err="1">
                <a:solidFill>
                  <a:srgbClr val="374151"/>
                </a:solidFill>
                <a:latin typeface="Söhne"/>
              </a:rPr>
              <a:t>Study</a:t>
            </a:r>
            <a:r>
              <a:rPr lang="pt-BR" b="0" dirty="0">
                <a:solidFill>
                  <a:srgbClr val="374151"/>
                </a:solidFill>
                <a:latin typeface="Söhne"/>
              </a:rPr>
              <a:t> </a:t>
            </a:r>
            <a:br>
              <a:rPr lang="pt-BR" b="0" dirty="0">
                <a:solidFill>
                  <a:srgbClr val="374151"/>
                </a:solidFill>
                <a:latin typeface="Söhne"/>
              </a:rPr>
            </a:br>
            <a:r>
              <a:rPr lang="pt-BR" b="0" dirty="0" err="1">
                <a:solidFill>
                  <a:srgbClr val="374151"/>
                </a:solidFill>
                <a:latin typeface="Söhne"/>
              </a:rPr>
              <a:t>Presentation</a:t>
            </a:r>
            <a:endParaRPr lang="en-GB" b="0" dirty="0">
              <a:solidFill>
                <a:srgbClr val="374151"/>
              </a:solidFill>
              <a:latin typeface="Söhne"/>
            </a:endParaRPr>
          </a:p>
        </p:txBody>
      </p:sp>
      <p:sp>
        <p:nvSpPr>
          <p:cNvPr id="32" name="Subtitle 31"/>
          <p:cNvSpPr>
            <a:spLocks noGrp="1"/>
          </p:cNvSpPr>
          <p:nvPr>
            <p:ph type="subTitle" idx="1"/>
          </p:nvPr>
        </p:nvSpPr>
        <p:spPr>
          <a:xfrm>
            <a:off x="5812298" y="386137"/>
            <a:ext cx="6642461" cy="870597"/>
          </a:xfrm>
        </p:spPr>
        <p:txBody>
          <a:bodyPr/>
          <a:lstStyle/>
          <a:p>
            <a:r>
              <a:rPr lang="en-US" dirty="0">
                <a:solidFill>
                  <a:schemeClr val="bg1"/>
                </a:solidFill>
              </a:rPr>
              <a:t>Acadia - Senior Consumer Data Analyst Candidate Next Steps- </a:t>
            </a:r>
            <a:r>
              <a:rPr lang="en-US" dirty="0">
                <a:solidFill>
                  <a:schemeClr val="accent6">
                    <a:lumMod val="75000"/>
                  </a:schemeClr>
                </a:solidFill>
              </a:rPr>
              <a:t>Gabriel Gregório</a:t>
            </a:r>
            <a:endParaRPr lang="en-GB" dirty="0">
              <a:solidFill>
                <a:schemeClr val="accent6">
                  <a:lumMod val="75000"/>
                </a:schemeClr>
              </a:solidFill>
            </a:endParaRPr>
          </a:p>
        </p:txBody>
      </p:sp>
      <p:sp>
        <p:nvSpPr>
          <p:cNvPr id="7" name="CaixaDeTexto 6">
            <a:extLst>
              <a:ext uri="{FF2B5EF4-FFF2-40B4-BE49-F238E27FC236}">
                <a16:creationId xmlns:a16="http://schemas.microsoft.com/office/drawing/2014/main" id="{C1C1CE1A-2816-3C17-88B2-AD0CCD1BF203}"/>
              </a:ext>
            </a:extLst>
          </p:cNvPr>
          <p:cNvSpPr txBox="1"/>
          <p:nvPr/>
        </p:nvSpPr>
        <p:spPr>
          <a:xfrm>
            <a:off x="7952417" y="3565411"/>
            <a:ext cx="5375952" cy="1200329"/>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solidFill>
                  <a:srgbClr val="374151"/>
                </a:solidFill>
                <a:effectLst/>
                <a:latin typeface="Söhne"/>
              </a:rPr>
              <a:t>Data manipulation (ETL and CTE) </a:t>
            </a:r>
          </a:p>
          <a:p>
            <a:pPr marL="285750" indent="-285750">
              <a:buFont typeface="Arial" panose="020B0604020202020204" pitchFamily="34" charset="0"/>
              <a:buChar char="•"/>
            </a:pPr>
            <a:r>
              <a:rPr lang="en-US" sz="2400" b="0" i="0" dirty="0">
                <a:solidFill>
                  <a:srgbClr val="374151"/>
                </a:solidFill>
                <a:effectLst/>
                <a:latin typeface="Söhne"/>
              </a:rPr>
              <a:t>Analysis of the provided data </a:t>
            </a:r>
          </a:p>
          <a:p>
            <a:pPr marL="285750" indent="-285750">
              <a:buFont typeface="Arial" panose="020B0604020202020204" pitchFamily="34" charset="0"/>
              <a:buChar char="•"/>
            </a:pPr>
            <a:r>
              <a:rPr lang="en-US" sz="2400" b="0" i="0" dirty="0">
                <a:solidFill>
                  <a:srgbClr val="374151"/>
                </a:solidFill>
                <a:effectLst/>
                <a:latin typeface="Söhne"/>
              </a:rPr>
              <a:t>Campaign responses and insights</a:t>
            </a:r>
            <a:endParaRPr lang="pt-BR" sz="2400" dirty="0"/>
          </a:p>
        </p:txBody>
      </p:sp>
    </p:spTree>
    <p:extLst>
      <p:ext uri="{BB962C8B-B14F-4D97-AF65-F5344CB8AC3E}">
        <p14:creationId xmlns:p14="http://schemas.microsoft.com/office/powerpoint/2010/main" val="2683216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6">
            <a:extLst>
              <a:ext uri="{FF2B5EF4-FFF2-40B4-BE49-F238E27FC236}">
                <a16:creationId xmlns:a16="http://schemas.microsoft.com/office/drawing/2014/main" id="{824A44CB-4F6A-536B-57A0-FCFE46B89F52}"/>
              </a:ext>
            </a:extLst>
          </p:cNvPr>
          <p:cNvSpPr/>
          <p:nvPr/>
        </p:nvSpPr>
        <p:spPr>
          <a:xfrm>
            <a:off x="5023607" y="0"/>
            <a:ext cx="9017963" cy="7772400"/>
          </a:xfrm>
          <a:custGeom>
            <a:avLst/>
            <a:gdLst>
              <a:gd name="connsiteX0" fmla="*/ 0 w 10079504"/>
              <a:gd name="connsiteY0" fmla="*/ 0 h 7772400"/>
              <a:gd name="connsiteX1" fmla="*/ 5958354 w 10079504"/>
              <a:gd name="connsiteY1" fmla="*/ 0 h 7772400"/>
              <a:gd name="connsiteX2" fmla="*/ 6320304 w 10079504"/>
              <a:gd name="connsiteY2" fmla="*/ 0 h 7772400"/>
              <a:gd name="connsiteX3" fmla="*/ 10079504 w 10079504"/>
              <a:gd name="connsiteY3" fmla="*/ 0 h 7772400"/>
              <a:gd name="connsiteX4" fmla="*/ 10079504 w 10079504"/>
              <a:gd name="connsiteY4" fmla="*/ 7772400 h 7772400"/>
              <a:gd name="connsiteX5" fmla="*/ 6320304 w 10079504"/>
              <a:gd name="connsiteY5" fmla="*/ 7772400 h 7772400"/>
              <a:gd name="connsiteX6" fmla="*/ 5958354 w 10079504"/>
              <a:gd name="connsiteY6" fmla="*/ 7772400 h 7772400"/>
              <a:gd name="connsiteX7" fmla="*/ 3663702 w 10079504"/>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9504" h="7772400">
                <a:moveTo>
                  <a:pt x="0" y="0"/>
                </a:moveTo>
                <a:lnTo>
                  <a:pt x="5958354" y="0"/>
                </a:lnTo>
                <a:lnTo>
                  <a:pt x="6320304" y="0"/>
                </a:lnTo>
                <a:lnTo>
                  <a:pt x="10079504" y="0"/>
                </a:lnTo>
                <a:lnTo>
                  <a:pt x="10079504" y="7772400"/>
                </a:lnTo>
                <a:lnTo>
                  <a:pt x="6320304" y="7772400"/>
                </a:lnTo>
                <a:lnTo>
                  <a:pt x="5958354" y="7772400"/>
                </a:lnTo>
                <a:lnTo>
                  <a:pt x="3663702" y="7772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Isosceles Triangle 23">
            <a:extLst>
              <a:ext uri="{FF2B5EF4-FFF2-40B4-BE49-F238E27FC236}">
                <a16:creationId xmlns:a16="http://schemas.microsoft.com/office/drawing/2014/main" id="{FCBD7A24-A8B1-9401-16ED-96B76B0682DB}"/>
              </a:ext>
            </a:extLst>
          </p:cNvPr>
          <p:cNvSpPr/>
          <p:nvPr/>
        </p:nvSpPr>
        <p:spPr>
          <a:xfrm>
            <a:off x="6154542" y="6027187"/>
            <a:ext cx="7400925" cy="2004973"/>
          </a:xfrm>
          <a:prstGeom prst="triangle">
            <a:avLst>
              <a:gd name="adj" fmla="val 94769"/>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Imagem 1">
            <a:extLst>
              <a:ext uri="{FF2B5EF4-FFF2-40B4-BE49-F238E27FC236}">
                <a16:creationId xmlns:a16="http://schemas.microsoft.com/office/drawing/2014/main" id="{6152C658-3E52-29F2-B8BB-A800A086DA8B}"/>
              </a:ext>
            </a:extLst>
          </p:cNvPr>
          <p:cNvPicPr>
            <a:picLocks noChangeAspect="1"/>
          </p:cNvPicPr>
          <p:nvPr/>
        </p:nvPicPr>
        <p:blipFill>
          <a:blip r:embed="rId3"/>
          <a:stretch>
            <a:fillRect/>
          </a:stretch>
        </p:blipFill>
        <p:spPr>
          <a:xfrm>
            <a:off x="957874" y="2966024"/>
            <a:ext cx="11901851" cy="3514714"/>
          </a:xfrm>
          <a:prstGeom prst="rect">
            <a:avLst/>
          </a:prstGeom>
        </p:spPr>
      </p:pic>
      <p:sp>
        <p:nvSpPr>
          <p:cNvPr id="4" name="Title 30">
            <a:extLst>
              <a:ext uri="{FF2B5EF4-FFF2-40B4-BE49-F238E27FC236}">
                <a16:creationId xmlns:a16="http://schemas.microsoft.com/office/drawing/2014/main" id="{61F72D91-23D2-A56A-27CE-45D7F70F167A}"/>
              </a:ext>
            </a:extLst>
          </p:cNvPr>
          <p:cNvSpPr txBox="1">
            <a:spLocks/>
          </p:cNvSpPr>
          <p:nvPr/>
        </p:nvSpPr>
        <p:spPr>
          <a:xfrm>
            <a:off x="274320" y="537769"/>
            <a:ext cx="12953999" cy="1974703"/>
          </a:xfrm>
          <a:prstGeom prst="rect">
            <a:avLst/>
          </a:prstGeom>
        </p:spPr>
        <p:txBody>
          <a:bodyPr/>
          <a:lst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a:lstStyle>
          <a:p>
            <a:r>
              <a:rPr lang="en-US" sz="3200" b="0" i="0" dirty="0">
                <a:solidFill>
                  <a:srgbClr val="374151"/>
                </a:solidFill>
                <a:effectLst/>
                <a:latin typeface="Söhne"/>
              </a:rPr>
              <a:t>Step 1</a:t>
            </a:r>
          </a:p>
          <a:p>
            <a:r>
              <a:rPr lang="en-US" sz="5000" b="0" i="0" dirty="0">
                <a:solidFill>
                  <a:srgbClr val="374151"/>
                </a:solidFill>
                <a:effectLst/>
                <a:latin typeface="Söhne"/>
              </a:rPr>
              <a:t>Import the files into the Microsoft SQL Server Management Studio program.</a:t>
            </a:r>
            <a:endParaRPr lang="en-GB" sz="5000" dirty="0"/>
          </a:p>
        </p:txBody>
      </p:sp>
      <p:sp>
        <p:nvSpPr>
          <p:cNvPr id="6" name="CaixaDeTexto 5">
            <a:extLst>
              <a:ext uri="{FF2B5EF4-FFF2-40B4-BE49-F238E27FC236}">
                <a16:creationId xmlns:a16="http://schemas.microsoft.com/office/drawing/2014/main" id="{94D525E8-5AAD-3760-FB09-4D69137AEBB2}"/>
              </a:ext>
            </a:extLst>
          </p:cNvPr>
          <p:cNvSpPr txBox="1"/>
          <p:nvPr/>
        </p:nvSpPr>
        <p:spPr>
          <a:xfrm>
            <a:off x="0" y="84219"/>
            <a:ext cx="7018020" cy="369332"/>
          </a:xfrm>
          <a:prstGeom prst="rect">
            <a:avLst/>
          </a:prstGeom>
          <a:noFill/>
        </p:spPr>
        <p:txBody>
          <a:bodyPr wrap="square">
            <a:spAutoFit/>
          </a:bodyPr>
          <a:lstStyle/>
          <a:p>
            <a:r>
              <a:rPr lang="en-US" sz="1800" b="0" i="0" dirty="0">
                <a:solidFill>
                  <a:srgbClr val="374151"/>
                </a:solidFill>
                <a:effectLst/>
                <a:latin typeface="Söhne"/>
              </a:rPr>
              <a:t>Data manipulation (ETL and CTE) </a:t>
            </a:r>
          </a:p>
        </p:txBody>
      </p:sp>
      <p:sp>
        <p:nvSpPr>
          <p:cNvPr id="7" name="CaixaDeTexto 6">
            <a:extLst>
              <a:ext uri="{FF2B5EF4-FFF2-40B4-BE49-F238E27FC236}">
                <a16:creationId xmlns:a16="http://schemas.microsoft.com/office/drawing/2014/main" id="{E418D6CA-CDD8-CDC5-BB61-EB5B59F7DEC8}"/>
              </a:ext>
            </a:extLst>
          </p:cNvPr>
          <p:cNvSpPr txBox="1"/>
          <p:nvPr/>
        </p:nvSpPr>
        <p:spPr>
          <a:xfrm>
            <a:off x="957874" y="2644262"/>
            <a:ext cx="7018020" cy="369332"/>
          </a:xfrm>
          <a:prstGeom prst="rect">
            <a:avLst/>
          </a:prstGeom>
          <a:noFill/>
        </p:spPr>
        <p:txBody>
          <a:bodyPr wrap="square">
            <a:spAutoFit/>
          </a:bodyPr>
          <a:lstStyle/>
          <a:p>
            <a:r>
              <a:rPr lang="pt-BR" b="0" i="0" dirty="0">
                <a:solidFill>
                  <a:srgbClr val="374151"/>
                </a:solidFill>
                <a:effectLst/>
                <a:latin typeface="Söhne"/>
              </a:rPr>
              <a:t>Example</a:t>
            </a:r>
            <a:r>
              <a:rPr lang="en-US" dirty="0">
                <a:solidFill>
                  <a:srgbClr val="374151"/>
                </a:solidFill>
                <a:latin typeface="Söhne"/>
              </a:rPr>
              <a:t>:</a:t>
            </a:r>
            <a:r>
              <a:rPr lang="en-US" sz="1800" b="0" i="0" dirty="0">
                <a:solidFill>
                  <a:srgbClr val="374151"/>
                </a:solidFill>
                <a:effectLst/>
                <a:latin typeface="Söhne"/>
              </a:rPr>
              <a:t> </a:t>
            </a:r>
          </a:p>
        </p:txBody>
      </p:sp>
      <p:pic>
        <p:nvPicPr>
          <p:cNvPr id="3074" name="Picture 2" descr="Microsoft SQL Server Management Studio (SSMS) | Sql server, Microsoft sql  server, Sql server management studio">
            <a:extLst>
              <a:ext uri="{FF2B5EF4-FFF2-40B4-BE49-F238E27FC236}">
                <a16:creationId xmlns:a16="http://schemas.microsoft.com/office/drawing/2014/main" id="{91BECB98-25DE-AF7A-9126-508A22EA04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77177" y="2232606"/>
            <a:ext cx="2616309" cy="1561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9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6">
            <a:extLst>
              <a:ext uri="{FF2B5EF4-FFF2-40B4-BE49-F238E27FC236}">
                <a16:creationId xmlns:a16="http://schemas.microsoft.com/office/drawing/2014/main" id="{824A44CB-4F6A-536B-57A0-FCFE46B89F52}"/>
              </a:ext>
            </a:extLst>
          </p:cNvPr>
          <p:cNvSpPr/>
          <p:nvPr/>
        </p:nvSpPr>
        <p:spPr>
          <a:xfrm>
            <a:off x="-3929920" y="0"/>
            <a:ext cx="10681240" cy="7772400"/>
          </a:xfrm>
          <a:custGeom>
            <a:avLst/>
            <a:gdLst>
              <a:gd name="connsiteX0" fmla="*/ 0 w 10079504"/>
              <a:gd name="connsiteY0" fmla="*/ 0 h 7772400"/>
              <a:gd name="connsiteX1" fmla="*/ 5958354 w 10079504"/>
              <a:gd name="connsiteY1" fmla="*/ 0 h 7772400"/>
              <a:gd name="connsiteX2" fmla="*/ 6320304 w 10079504"/>
              <a:gd name="connsiteY2" fmla="*/ 0 h 7772400"/>
              <a:gd name="connsiteX3" fmla="*/ 10079504 w 10079504"/>
              <a:gd name="connsiteY3" fmla="*/ 0 h 7772400"/>
              <a:gd name="connsiteX4" fmla="*/ 10079504 w 10079504"/>
              <a:gd name="connsiteY4" fmla="*/ 7772400 h 7772400"/>
              <a:gd name="connsiteX5" fmla="*/ 6320304 w 10079504"/>
              <a:gd name="connsiteY5" fmla="*/ 7772400 h 7772400"/>
              <a:gd name="connsiteX6" fmla="*/ 5958354 w 10079504"/>
              <a:gd name="connsiteY6" fmla="*/ 7772400 h 7772400"/>
              <a:gd name="connsiteX7" fmla="*/ 3663702 w 10079504"/>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9504" h="7772400">
                <a:moveTo>
                  <a:pt x="0" y="0"/>
                </a:moveTo>
                <a:lnTo>
                  <a:pt x="5958354" y="0"/>
                </a:lnTo>
                <a:lnTo>
                  <a:pt x="6320304" y="0"/>
                </a:lnTo>
                <a:lnTo>
                  <a:pt x="10079504" y="0"/>
                </a:lnTo>
                <a:lnTo>
                  <a:pt x="10079504" y="7772400"/>
                </a:lnTo>
                <a:lnTo>
                  <a:pt x="6320304" y="7772400"/>
                </a:lnTo>
                <a:lnTo>
                  <a:pt x="5958354" y="7772400"/>
                </a:lnTo>
                <a:lnTo>
                  <a:pt x="3663702" y="7772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 name="Title 30">
            <a:extLst>
              <a:ext uri="{FF2B5EF4-FFF2-40B4-BE49-F238E27FC236}">
                <a16:creationId xmlns:a16="http://schemas.microsoft.com/office/drawing/2014/main" id="{61F72D91-23D2-A56A-27CE-45D7F70F167A}"/>
              </a:ext>
            </a:extLst>
          </p:cNvPr>
          <p:cNvSpPr txBox="1">
            <a:spLocks/>
          </p:cNvSpPr>
          <p:nvPr/>
        </p:nvSpPr>
        <p:spPr>
          <a:xfrm>
            <a:off x="868680" y="537769"/>
            <a:ext cx="12953999" cy="1260551"/>
          </a:xfrm>
          <a:prstGeom prst="rect">
            <a:avLst/>
          </a:prstGeom>
        </p:spPr>
        <p:txBody>
          <a:bodyPr/>
          <a:lst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a:lstStyle>
          <a:p>
            <a:r>
              <a:rPr lang="en-US" sz="3200" b="0" i="0" dirty="0">
                <a:solidFill>
                  <a:srgbClr val="374151"/>
                </a:solidFill>
                <a:effectLst/>
                <a:latin typeface="Söhne"/>
              </a:rPr>
              <a:t>Step 2</a:t>
            </a:r>
          </a:p>
          <a:p>
            <a:r>
              <a:rPr lang="en-US" b="0" i="0" dirty="0">
                <a:solidFill>
                  <a:srgbClr val="374151"/>
                </a:solidFill>
                <a:effectLst/>
                <a:latin typeface="Söhne"/>
              </a:rPr>
              <a:t>Merging the datasets to analyze the data.</a:t>
            </a:r>
            <a:endParaRPr lang="en-GB" dirty="0"/>
          </a:p>
        </p:txBody>
      </p:sp>
      <p:sp>
        <p:nvSpPr>
          <p:cNvPr id="6" name="CaixaDeTexto 5">
            <a:extLst>
              <a:ext uri="{FF2B5EF4-FFF2-40B4-BE49-F238E27FC236}">
                <a16:creationId xmlns:a16="http://schemas.microsoft.com/office/drawing/2014/main" id="{94D525E8-5AAD-3760-FB09-4D69137AEBB2}"/>
              </a:ext>
            </a:extLst>
          </p:cNvPr>
          <p:cNvSpPr txBox="1"/>
          <p:nvPr/>
        </p:nvSpPr>
        <p:spPr>
          <a:xfrm>
            <a:off x="0" y="84219"/>
            <a:ext cx="7018020" cy="369332"/>
          </a:xfrm>
          <a:prstGeom prst="rect">
            <a:avLst/>
          </a:prstGeom>
          <a:noFill/>
        </p:spPr>
        <p:txBody>
          <a:bodyPr wrap="square">
            <a:spAutoFit/>
          </a:bodyPr>
          <a:lstStyle/>
          <a:p>
            <a:r>
              <a:rPr lang="en-US" sz="1800" b="0" i="0" dirty="0">
                <a:solidFill>
                  <a:srgbClr val="374151"/>
                </a:solidFill>
                <a:effectLst/>
                <a:latin typeface="Söhne"/>
              </a:rPr>
              <a:t>Data manipulation (ETL and CTE) </a:t>
            </a:r>
          </a:p>
        </p:txBody>
      </p:sp>
      <p:sp>
        <p:nvSpPr>
          <p:cNvPr id="5" name="CaixaDeTexto 4">
            <a:extLst>
              <a:ext uri="{FF2B5EF4-FFF2-40B4-BE49-F238E27FC236}">
                <a16:creationId xmlns:a16="http://schemas.microsoft.com/office/drawing/2014/main" id="{CFD5D773-4A77-DB22-8D54-41EC1B45E619}"/>
              </a:ext>
            </a:extLst>
          </p:cNvPr>
          <p:cNvSpPr txBox="1"/>
          <p:nvPr/>
        </p:nvSpPr>
        <p:spPr>
          <a:xfrm>
            <a:off x="1340362" y="1868778"/>
            <a:ext cx="3971535" cy="461665"/>
          </a:xfrm>
          <a:prstGeom prst="rect">
            <a:avLst/>
          </a:prstGeom>
          <a:noFill/>
        </p:spPr>
        <p:txBody>
          <a:bodyPr wrap="square" rtlCol="0">
            <a:spAutoFit/>
          </a:bodyPr>
          <a:lstStyle/>
          <a:p>
            <a:r>
              <a:rPr lang="pt-BR" sz="2400" b="1" i="0" dirty="0">
                <a:solidFill>
                  <a:srgbClr val="374151"/>
                </a:solidFill>
                <a:effectLst/>
                <a:latin typeface="Söhne"/>
              </a:rPr>
              <a:t>Campaign performance</a:t>
            </a:r>
            <a:endParaRPr lang="pt-BR" sz="2400" b="1" dirty="0"/>
          </a:p>
        </p:txBody>
      </p:sp>
      <p:sp>
        <p:nvSpPr>
          <p:cNvPr id="8" name="CaixaDeTexto 7">
            <a:extLst>
              <a:ext uri="{FF2B5EF4-FFF2-40B4-BE49-F238E27FC236}">
                <a16:creationId xmlns:a16="http://schemas.microsoft.com/office/drawing/2014/main" id="{820B8E2E-AD30-3F5C-8A92-4CA1E16FB177}"/>
              </a:ext>
            </a:extLst>
          </p:cNvPr>
          <p:cNvSpPr txBox="1"/>
          <p:nvPr/>
        </p:nvSpPr>
        <p:spPr>
          <a:xfrm>
            <a:off x="7158162" y="2396163"/>
            <a:ext cx="5886506" cy="2862322"/>
          </a:xfrm>
          <a:prstGeom prst="rect">
            <a:avLst/>
          </a:prstGeom>
          <a:noFill/>
        </p:spPr>
        <p:txBody>
          <a:bodyPr wrap="square">
            <a:spAutoFit/>
          </a:bodyPr>
          <a:lstStyle/>
          <a:p>
            <a:r>
              <a:rPr lang="pt-BR" sz="1200" dirty="0">
                <a:solidFill>
                  <a:srgbClr val="0000FF"/>
                </a:solidFill>
                <a:latin typeface="Consolas" panose="020B0609020204030204" pitchFamily="49" charset="0"/>
              </a:rPr>
              <a:t>select</a:t>
            </a:r>
            <a:r>
              <a:rPr lang="pt-BR" sz="1200" dirty="0">
                <a:solidFill>
                  <a:srgbClr val="000000"/>
                </a:solidFill>
                <a:latin typeface="Consolas" panose="020B0609020204030204" pitchFamily="49" charset="0"/>
              </a:rPr>
              <a:t> </a:t>
            </a: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DepartmentID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FF00FF"/>
                </a:solidFill>
                <a:latin typeface="Consolas" panose="020B0609020204030204" pitchFamily="49" charset="0"/>
              </a:rPr>
              <a:t>Year</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SE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Segment_Description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PR</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Profile_Description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Sales</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Customers</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DE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Department_Description</a:t>
            </a:r>
          </a:p>
          <a:p>
            <a:endParaRPr lang="pt-BR" sz="1200" dirty="0">
              <a:solidFill>
                <a:srgbClr val="000000"/>
              </a:solidFill>
              <a:latin typeface="Consolas" panose="020B0609020204030204" pitchFamily="49" charset="0"/>
            </a:endParaRPr>
          </a:p>
          <a:p>
            <a:r>
              <a:rPr lang="pt-BR" sz="1200" dirty="0">
                <a:solidFill>
                  <a:srgbClr val="0000FF"/>
                </a:solidFill>
                <a:latin typeface="Consolas" panose="020B0609020204030204" pitchFamily="49" charset="0"/>
              </a:rPr>
              <a:t>from</a:t>
            </a:r>
            <a:r>
              <a:rPr lang="pt-BR" sz="1200" dirty="0">
                <a:solidFill>
                  <a:srgbClr val="000000"/>
                </a:solidFill>
                <a:latin typeface="Consolas" panose="020B0609020204030204" pitchFamily="49" charset="0"/>
              </a:rPr>
              <a:t> DeptData DD</a:t>
            </a:r>
          </a:p>
          <a:p>
            <a:r>
              <a:rPr lang="en-US" sz="1200" dirty="0">
                <a:solidFill>
                  <a:srgbClr val="808080"/>
                </a:solidFill>
                <a:latin typeface="Consolas" panose="020B0609020204030204" pitchFamily="49" charset="0"/>
              </a:rPr>
              <a:t>left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Departments DE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DE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DepartmentID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DD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DepartmentID</a:t>
            </a:r>
          </a:p>
          <a:p>
            <a:r>
              <a:rPr lang="pt-BR" sz="1200" dirty="0">
                <a:solidFill>
                  <a:srgbClr val="808080"/>
                </a:solidFill>
                <a:latin typeface="Consolas" panose="020B0609020204030204" pitchFamily="49" charset="0"/>
              </a:rPr>
              <a:t>left</a:t>
            </a:r>
            <a:r>
              <a:rPr lang="pt-BR" sz="1200" dirty="0">
                <a:solidFill>
                  <a:srgbClr val="000000"/>
                </a:solidFill>
                <a:latin typeface="Consolas" panose="020B0609020204030204" pitchFamily="49" charset="0"/>
              </a:rPr>
              <a:t> </a:t>
            </a:r>
            <a:r>
              <a:rPr lang="pt-BR" sz="1200" dirty="0">
                <a:solidFill>
                  <a:srgbClr val="808080"/>
                </a:solidFill>
                <a:latin typeface="Consolas" panose="020B0609020204030204" pitchFamily="49" charset="0"/>
              </a:rPr>
              <a:t>join</a:t>
            </a:r>
            <a:r>
              <a:rPr lang="pt-BR" sz="1200" dirty="0">
                <a:solidFill>
                  <a:srgbClr val="000000"/>
                </a:solidFill>
                <a:latin typeface="Consolas" panose="020B0609020204030204" pitchFamily="49" charset="0"/>
              </a:rPr>
              <a:t> Segments SE </a:t>
            </a:r>
            <a:r>
              <a:rPr lang="pt-BR" sz="1200" dirty="0">
                <a:solidFill>
                  <a:srgbClr val="0000FF"/>
                </a:solidFill>
                <a:latin typeface="Consolas" panose="020B0609020204030204" pitchFamily="49" charset="0"/>
              </a:rPr>
              <a:t>on</a:t>
            </a:r>
            <a:r>
              <a:rPr lang="pt-BR" sz="1200" dirty="0">
                <a:solidFill>
                  <a:srgbClr val="000000"/>
                </a:solidFill>
                <a:latin typeface="Consolas" panose="020B0609020204030204" pitchFamily="49" charset="0"/>
              </a:rPr>
              <a:t> SE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 </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a:t>
            </a:r>
          </a:p>
          <a:p>
            <a:r>
              <a:rPr lang="pt-BR" sz="1200" dirty="0">
                <a:solidFill>
                  <a:srgbClr val="808080"/>
                </a:solidFill>
                <a:latin typeface="Consolas" panose="020B0609020204030204" pitchFamily="49" charset="0"/>
              </a:rPr>
              <a:t>left</a:t>
            </a:r>
            <a:r>
              <a:rPr lang="pt-BR" sz="1200" dirty="0">
                <a:solidFill>
                  <a:srgbClr val="000000"/>
                </a:solidFill>
                <a:latin typeface="Consolas" panose="020B0609020204030204" pitchFamily="49" charset="0"/>
              </a:rPr>
              <a:t> </a:t>
            </a:r>
            <a:r>
              <a:rPr lang="pt-BR" sz="1200" dirty="0">
                <a:solidFill>
                  <a:srgbClr val="808080"/>
                </a:solidFill>
                <a:latin typeface="Consolas" panose="020B0609020204030204" pitchFamily="49" charset="0"/>
              </a:rPr>
              <a:t>join</a:t>
            </a:r>
            <a:r>
              <a:rPr lang="pt-BR" sz="1200" dirty="0">
                <a:solidFill>
                  <a:srgbClr val="000000"/>
                </a:solidFill>
                <a:latin typeface="Consolas" panose="020B0609020204030204" pitchFamily="49" charset="0"/>
              </a:rPr>
              <a:t> Profiles PR </a:t>
            </a:r>
            <a:r>
              <a:rPr lang="pt-BR" sz="1200" dirty="0">
                <a:solidFill>
                  <a:srgbClr val="0000FF"/>
                </a:solidFill>
                <a:latin typeface="Consolas" panose="020B0609020204030204" pitchFamily="49" charset="0"/>
              </a:rPr>
              <a:t>on</a:t>
            </a:r>
            <a:r>
              <a:rPr lang="pt-BR" sz="1200" dirty="0">
                <a:solidFill>
                  <a:srgbClr val="000000"/>
                </a:solidFill>
                <a:latin typeface="Consolas" panose="020B0609020204030204" pitchFamily="49" charset="0"/>
              </a:rPr>
              <a:t> PR</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DD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r>
              <a:rPr lang="en-US" sz="1200" dirty="0">
                <a:solidFill>
                  <a:srgbClr val="000000"/>
                </a:solidFill>
                <a:latin typeface="Consolas" panose="020B0609020204030204" pitchFamily="49" charset="0"/>
              </a:rPr>
              <a:t>DepartmentID</a:t>
            </a:r>
            <a:endParaRPr lang="pt-BR" sz="1200" dirty="0"/>
          </a:p>
        </p:txBody>
      </p:sp>
      <p:sp>
        <p:nvSpPr>
          <p:cNvPr id="9" name="CaixaDeTexto 8">
            <a:extLst>
              <a:ext uri="{FF2B5EF4-FFF2-40B4-BE49-F238E27FC236}">
                <a16:creationId xmlns:a16="http://schemas.microsoft.com/office/drawing/2014/main" id="{D2327E57-F98A-AB56-6F99-3B9E0AEEFC9D}"/>
              </a:ext>
            </a:extLst>
          </p:cNvPr>
          <p:cNvSpPr txBox="1"/>
          <p:nvPr/>
        </p:nvSpPr>
        <p:spPr>
          <a:xfrm>
            <a:off x="7158162" y="1882538"/>
            <a:ext cx="3131026" cy="461665"/>
          </a:xfrm>
          <a:prstGeom prst="rect">
            <a:avLst/>
          </a:prstGeom>
          <a:noFill/>
        </p:spPr>
        <p:txBody>
          <a:bodyPr wrap="square" rtlCol="0">
            <a:spAutoFit/>
          </a:bodyPr>
          <a:lstStyle/>
          <a:p>
            <a:r>
              <a:rPr lang="pt-BR" sz="2400" b="1" i="0" dirty="0">
                <a:solidFill>
                  <a:srgbClr val="374151"/>
                </a:solidFill>
                <a:effectLst/>
                <a:latin typeface="Söhne"/>
              </a:rPr>
              <a:t>Departmental sales</a:t>
            </a:r>
            <a:endParaRPr lang="pt-BR" sz="2400" b="1" dirty="0"/>
          </a:p>
        </p:txBody>
      </p:sp>
      <p:pic>
        <p:nvPicPr>
          <p:cNvPr id="10" name="Imagem 9">
            <a:extLst>
              <a:ext uri="{FF2B5EF4-FFF2-40B4-BE49-F238E27FC236}">
                <a16:creationId xmlns:a16="http://schemas.microsoft.com/office/drawing/2014/main" id="{E0771B50-2CF5-3BF7-3F1F-8E1C8EC86B7F}"/>
              </a:ext>
            </a:extLst>
          </p:cNvPr>
          <p:cNvPicPr>
            <a:picLocks noChangeAspect="1"/>
          </p:cNvPicPr>
          <p:nvPr/>
        </p:nvPicPr>
        <p:blipFill>
          <a:blip r:embed="rId2"/>
          <a:stretch>
            <a:fillRect/>
          </a:stretch>
        </p:blipFill>
        <p:spPr>
          <a:xfrm>
            <a:off x="1523242" y="5794166"/>
            <a:ext cx="4065437" cy="1973183"/>
          </a:xfrm>
          <a:prstGeom prst="rect">
            <a:avLst/>
          </a:prstGeom>
        </p:spPr>
      </p:pic>
      <p:sp>
        <p:nvSpPr>
          <p:cNvPr id="11" name="CaixaDeTexto 10">
            <a:extLst>
              <a:ext uri="{FF2B5EF4-FFF2-40B4-BE49-F238E27FC236}">
                <a16:creationId xmlns:a16="http://schemas.microsoft.com/office/drawing/2014/main" id="{50D7AF2B-7F95-8C20-2992-928855999111}"/>
              </a:ext>
            </a:extLst>
          </p:cNvPr>
          <p:cNvSpPr txBox="1"/>
          <p:nvPr/>
        </p:nvSpPr>
        <p:spPr>
          <a:xfrm>
            <a:off x="1371599" y="2336088"/>
            <a:ext cx="5787551" cy="3231654"/>
          </a:xfrm>
          <a:prstGeom prst="rect">
            <a:avLst/>
          </a:prstGeom>
          <a:noFill/>
        </p:spPr>
        <p:txBody>
          <a:bodyPr wrap="square">
            <a:spAutoFit/>
          </a:bodyPr>
          <a:lstStyle/>
          <a:p>
            <a:r>
              <a:rPr lang="pt-BR" sz="1200" dirty="0">
                <a:solidFill>
                  <a:srgbClr val="0000FF"/>
                </a:solidFill>
                <a:latin typeface="Consolas" panose="020B0609020204030204" pitchFamily="49" charset="0"/>
              </a:rPr>
              <a:t>select</a:t>
            </a:r>
          </a:p>
          <a:p>
            <a:r>
              <a:rPr lang="pt-BR" sz="1200" dirty="0">
                <a:solidFill>
                  <a:srgbClr val="000000"/>
                </a:solidFill>
                <a:latin typeface="Consolas" panose="020B0609020204030204" pitchFamily="49" charset="0"/>
              </a:rPr>
              <a:t>CO</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CO</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PR</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Profile_Description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CO</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SE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Segment_Description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VE</a:t>
            </a:r>
            <a:r>
              <a:rPr lang="pt-BR" sz="1200" dirty="0">
                <a:solidFill>
                  <a:srgbClr val="808080"/>
                </a:solidFill>
                <a:latin typeface="Consolas" panose="020B0609020204030204" pitchFamily="49" charset="0"/>
              </a:rPr>
              <a:t>.</a:t>
            </a:r>
            <a:r>
              <a:rPr lang="pt-BR" sz="1200" dirty="0">
                <a:solidFill>
                  <a:srgbClr val="0000FF"/>
                </a:solidFill>
                <a:latin typeface="Consolas" panose="020B0609020204030204" pitchFamily="49" charset="0"/>
              </a:rPr>
              <a:t>Version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IV</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Version_Description</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SA</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Spend</a:t>
            </a:r>
            <a:r>
              <a:rPr lang="pt-BR" sz="1200" dirty="0">
                <a:solidFill>
                  <a:srgbClr val="808080"/>
                </a:solidFill>
                <a:latin typeface="Consolas" panose="020B0609020204030204" pitchFamily="49" charset="0"/>
              </a:rPr>
              <a:t>,</a:t>
            </a:r>
            <a:endParaRPr lang="pt-BR" sz="1200" dirty="0">
              <a:solidFill>
                <a:srgbClr val="000000"/>
              </a:solidFill>
              <a:latin typeface="Consolas" panose="020B0609020204030204" pitchFamily="49" charset="0"/>
            </a:endParaRPr>
          </a:p>
          <a:p>
            <a:r>
              <a:rPr lang="pt-BR" sz="1200" dirty="0">
                <a:solidFill>
                  <a:srgbClr val="000000"/>
                </a:solidFill>
                <a:latin typeface="Consolas" panose="020B0609020204030204" pitchFamily="49" charset="0"/>
              </a:rPr>
              <a:t>VE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MailInd</a:t>
            </a:r>
          </a:p>
          <a:p>
            <a:endParaRPr lang="pt-BR" sz="1200" dirty="0">
              <a:solidFill>
                <a:srgbClr val="000000"/>
              </a:solidFill>
              <a:latin typeface="Consolas" panose="020B0609020204030204" pitchFamily="49" charset="0"/>
            </a:endParaRPr>
          </a:p>
          <a:p>
            <a:r>
              <a:rPr lang="pt-BR" sz="1200" dirty="0">
                <a:solidFill>
                  <a:srgbClr val="0000FF"/>
                </a:solidFill>
                <a:latin typeface="Consolas" panose="020B0609020204030204" pitchFamily="49" charset="0"/>
              </a:rPr>
              <a:t>from</a:t>
            </a:r>
            <a:r>
              <a:rPr lang="pt-BR" sz="1200" dirty="0">
                <a:solidFill>
                  <a:srgbClr val="000000"/>
                </a:solidFill>
                <a:latin typeface="Consolas" panose="020B0609020204030204" pitchFamily="49" charset="0"/>
              </a:rPr>
              <a:t> costumers CO</a:t>
            </a:r>
          </a:p>
          <a:p>
            <a:r>
              <a:rPr lang="en-US" sz="1200" dirty="0">
                <a:solidFill>
                  <a:srgbClr val="808080"/>
                </a:solidFill>
                <a:latin typeface="Consolas" panose="020B0609020204030204" pitchFamily="49" charset="0"/>
              </a:rPr>
              <a:t>left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Sales SA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SA</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CO</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ID</a:t>
            </a:r>
          </a:p>
          <a:p>
            <a:r>
              <a:rPr lang="en-US" sz="1200" dirty="0">
                <a:solidFill>
                  <a:srgbClr val="808080"/>
                </a:solidFill>
                <a:latin typeface="Consolas" panose="020B0609020204030204" pitchFamily="49" charset="0"/>
              </a:rPr>
              <a:t>left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join</a:t>
            </a:r>
            <a:r>
              <a:rPr lang="en-US" sz="1200" dirty="0">
                <a:solidFill>
                  <a:srgbClr val="000000"/>
                </a:solidFill>
                <a:latin typeface="Consolas" panose="020B0609020204030204" pitchFamily="49" charset="0"/>
              </a:rPr>
              <a:t> versions VE </a:t>
            </a:r>
            <a:r>
              <a:rPr lang="en-US" sz="1200" dirty="0">
                <a:solidFill>
                  <a:srgbClr val="0000FF"/>
                </a:solidFill>
                <a:latin typeface="Consolas" panose="020B0609020204030204" pitchFamily="49" charset="0"/>
              </a:rPr>
              <a:t>on</a:t>
            </a:r>
            <a:r>
              <a:rPr lang="en-US" sz="1200" dirty="0">
                <a:solidFill>
                  <a:srgbClr val="000000"/>
                </a:solidFill>
                <a:latin typeface="Consolas" panose="020B0609020204030204" pitchFamily="49" charset="0"/>
              </a:rPr>
              <a:t> VE</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ID</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CO</a:t>
            </a:r>
            <a:r>
              <a:rPr lang="en-US" sz="1200" dirty="0">
                <a:solidFill>
                  <a:srgbClr val="808080"/>
                </a:solidFill>
                <a:latin typeface="Consolas" panose="020B0609020204030204" pitchFamily="49" charset="0"/>
              </a:rPr>
              <a:t>.</a:t>
            </a:r>
            <a:r>
              <a:rPr lang="en-US" sz="1200" dirty="0">
                <a:solidFill>
                  <a:srgbClr val="000000"/>
                </a:solidFill>
                <a:latin typeface="Consolas" panose="020B0609020204030204" pitchFamily="49" charset="0"/>
              </a:rPr>
              <a:t>ID</a:t>
            </a:r>
          </a:p>
          <a:p>
            <a:r>
              <a:rPr lang="pt-BR" sz="1200" dirty="0">
                <a:solidFill>
                  <a:srgbClr val="808080"/>
                </a:solidFill>
                <a:latin typeface="Consolas" panose="020B0609020204030204" pitchFamily="49" charset="0"/>
              </a:rPr>
              <a:t>left</a:t>
            </a:r>
            <a:r>
              <a:rPr lang="pt-BR" sz="1200" dirty="0">
                <a:solidFill>
                  <a:srgbClr val="000000"/>
                </a:solidFill>
                <a:latin typeface="Consolas" panose="020B0609020204030204" pitchFamily="49" charset="0"/>
              </a:rPr>
              <a:t> </a:t>
            </a:r>
            <a:r>
              <a:rPr lang="pt-BR" sz="1200" dirty="0">
                <a:solidFill>
                  <a:srgbClr val="808080"/>
                </a:solidFill>
                <a:latin typeface="Consolas" panose="020B0609020204030204" pitchFamily="49" charset="0"/>
              </a:rPr>
              <a:t>join</a:t>
            </a:r>
            <a:r>
              <a:rPr lang="pt-BR" sz="1200" dirty="0">
                <a:solidFill>
                  <a:srgbClr val="000000"/>
                </a:solidFill>
                <a:latin typeface="Consolas" panose="020B0609020204030204" pitchFamily="49" charset="0"/>
              </a:rPr>
              <a:t> Segments SE </a:t>
            </a:r>
            <a:r>
              <a:rPr lang="pt-BR" sz="1200" dirty="0">
                <a:solidFill>
                  <a:srgbClr val="0000FF"/>
                </a:solidFill>
                <a:latin typeface="Consolas" panose="020B0609020204030204" pitchFamily="49" charset="0"/>
              </a:rPr>
              <a:t>on</a:t>
            </a:r>
            <a:r>
              <a:rPr lang="pt-BR" sz="1200" dirty="0">
                <a:solidFill>
                  <a:srgbClr val="000000"/>
                </a:solidFill>
                <a:latin typeface="Consolas" panose="020B0609020204030204" pitchFamily="49" charset="0"/>
              </a:rPr>
              <a:t> SE</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 </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CO</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SegmentID</a:t>
            </a:r>
          </a:p>
          <a:p>
            <a:r>
              <a:rPr lang="pt-BR" sz="1200" dirty="0">
                <a:solidFill>
                  <a:srgbClr val="808080"/>
                </a:solidFill>
                <a:latin typeface="Consolas" panose="020B0609020204030204" pitchFamily="49" charset="0"/>
              </a:rPr>
              <a:t>left</a:t>
            </a:r>
            <a:r>
              <a:rPr lang="pt-BR" sz="1200" dirty="0">
                <a:solidFill>
                  <a:srgbClr val="000000"/>
                </a:solidFill>
                <a:latin typeface="Consolas" panose="020B0609020204030204" pitchFamily="49" charset="0"/>
              </a:rPr>
              <a:t> </a:t>
            </a:r>
            <a:r>
              <a:rPr lang="pt-BR" sz="1200" dirty="0">
                <a:solidFill>
                  <a:srgbClr val="808080"/>
                </a:solidFill>
                <a:latin typeface="Consolas" panose="020B0609020204030204" pitchFamily="49" charset="0"/>
              </a:rPr>
              <a:t>join</a:t>
            </a:r>
            <a:r>
              <a:rPr lang="pt-BR" sz="1200" dirty="0">
                <a:solidFill>
                  <a:srgbClr val="000000"/>
                </a:solidFill>
                <a:latin typeface="Consolas" panose="020B0609020204030204" pitchFamily="49" charset="0"/>
              </a:rPr>
              <a:t> Profiles PR </a:t>
            </a:r>
            <a:r>
              <a:rPr lang="pt-BR" sz="1200" dirty="0">
                <a:solidFill>
                  <a:srgbClr val="0000FF"/>
                </a:solidFill>
                <a:latin typeface="Consolas" panose="020B0609020204030204" pitchFamily="49" charset="0"/>
              </a:rPr>
              <a:t>on</a:t>
            </a:r>
            <a:r>
              <a:rPr lang="pt-BR" sz="1200" dirty="0">
                <a:solidFill>
                  <a:srgbClr val="000000"/>
                </a:solidFill>
                <a:latin typeface="Consolas" panose="020B0609020204030204" pitchFamily="49" charset="0"/>
              </a:rPr>
              <a:t> PR</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CO</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ProfileID</a:t>
            </a:r>
          </a:p>
          <a:p>
            <a:r>
              <a:rPr lang="pt-BR" sz="1200" dirty="0">
                <a:solidFill>
                  <a:srgbClr val="808080"/>
                </a:solidFill>
                <a:latin typeface="Consolas" panose="020B0609020204030204" pitchFamily="49" charset="0"/>
              </a:rPr>
              <a:t>left</a:t>
            </a:r>
            <a:r>
              <a:rPr lang="pt-BR" sz="1200" dirty="0">
                <a:solidFill>
                  <a:srgbClr val="000000"/>
                </a:solidFill>
                <a:latin typeface="Consolas" panose="020B0609020204030204" pitchFamily="49" charset="0"/>
              </a:rPr>
              <a:t> </a:t>
            </a:r>
            <a:r>
              <a:rPr lang="pt-BR" sz="1200" dirty="0">
                <a:solidFill>
                  <a:srgbClr val="808080"/>
                </a:solidFill>
                <a:latin typeface="Consolas" panose="020B0609020204030204" pitchFamily="49" charset="0"/>
              </a:rPr>
              <a:t>join</a:t>
            </a:r>
            <a:r>
              <a:rPr lang="pt-BR" sz="1200" dirty="0">
                <a:solidFill>
                  <a:srgbClr val="000000"/>
                </a:solidFill>
                <a:latin typeface="Consolas" panose="020B0609020204030204" pitchFamily="49" charset="0"/>
              </a:rPr>
              <a:t> InfoVersions IV </a:t>
            </a:r>
            <a:r>
              <a:rPr lang="pt-BR" sz="1200" dirty="0">
                <a:solidFill>
                  <a:srgbClr val="0000FF"/>
                </a:solidFill>
                <a:latin typeface="Consolas" panose="020B0609020204030204" pitchFamily="49" charset="0"/>
              </a:rPr>
              <a:t>on</a:t>
            </a:r>
            <a:r>
              <a:rPr lang="pt-BR" sz="1200" dirty="0">
                <a:solidFill>
                  <a:srgbClr val="000000"/>
                </a:solidFill>
                <a:latin typeface="Consolas" panose="020B0609020204030204" pitchFamily="49" charset="0"/>
              </a:rPr>
              <a:t> IV</a:t>
            </a:r>
            <a:r>
              <a:rPr lang="pt-BR" sz="1200" dirty="0">
                <a:solidFill>
                  <a:srgbClr val="808080"/>
                </a:solidFill>
                <a:latin typeface="Consolas" panose="020B0609020204030204" pitchFamily="49" charset="0"/>
              </a:rPr>
              <a:t>.</a:t>
            </a:r>
            <a:r>
              <a:rPr lang="pt-BR" sz="1200" dirty="0">
                <a:solidFill>
                  <a:srgbClr val="0000FF"/>
                </a:solidFill>
                <a:latin typeface="Consolas" panose="020B0609020204030204" pitchFamily="49" charset="0"/>
              </a:rPr>
              <a:t>version</a:t>
            </a:r>
            <a:r>
              <a:rPr lang="pt-BR" sz="1200" dirty="0">
                <a:solidFill>
                  <a:srgbClr val="808080"/>
                </a:solidFill>
                <a:latin typeface="Consolas" panose="020B0609020204030204" pitchFamily="49" charset="0"/>
              </a:rPr>
              <a:t>=</a:t>
            </a:r>
            <a:r>
              <a:rPr lang="pt-BR" sz="1200" dirty="0">
                <a:solidFill>
                  <a:srgbClr val="000000"/>
                </a:solidFill>
                <a:latin typeface="Consolas" panose="020B0609020204030204" pitchFamily="49" charset="0"/>
              </a:rPr>
              <a:t>VE</a:t>
            </a:r>
            <a:r>
              <a:rPr lang="pt-BR" sz="1200" dirty="0">
                <a:solidFill>
                  <a:srgbClr val="808080"/>
                </a:solidFill>
                <a:latin typeface="Consolas" panose="020B0609020204030204" pitchFamily="49" charset="0"/>
              </a:rPr>
              <a:t>.</a:t>
            </a:r>
            <a:r>
              <a:rPr lang="pt-BR" sz="1200" dirty="0">
                <a:solidFill>
                  <a:srgbClr val="0000FF"/>
                </a:solidFill>
                <a:latin typeface="Consolas" panose="020B0609020204030204" pitchFamily="49" charset="0"/>
              </a:rPr>
              <a:t>Version</a:t>
            </a:r>
            <a:endParaRPr lang="pt-BR" sz="1200" dirty="0"/>
          </a:p>
        </p:txBody>
      </p:sp>
      <p:pic>
        <p:nvPicPr>
          <p:cNvPr id="12" name="Imagem 11">
            <a:extLst>
              <a:ext uri="{FF2B5EF4-FFF2-40B4-BE49-F238E27FC236}">
                <a16:creationId xmlns:a16="http://schemas.microsoft.com/office/drawing/2014/main" id="{80A8C3A1-0CB3-C200-42D7-264EDFDEDA85}"/>
              </a:ext>
            </a:extLst>
          </p:cNvPr>
          <p:cNvPicPr>
            <a:picLocks noChangeAspect="1"/>
          </p:cNvPicPr>
          <p:nvPr/>
        </p:nvPicPr>
        <p:blipFill>
          <a:blip r:embed="rId3"/>
          <a:stretch>
            <a:fillRect/>
          </a:stretch>
        </p:blipFill>
        <p:spPr>
          <a:xfrm>
            <a:off x="7257326" y="5752305"/>
            <a:ext cx="4736553" cy="1980319"/>
          </a:xfrm>
          <a:prstGeom prst="rect">
            <a:avLst/>
          </a:prstGeom>
        </p:spPr>
      </p:pic>
      <p:sp>
        <p:nvSpPr>
          <p:cNvPr id="13" name="CaixaDeTexto 12">
            <a:extLst>
              <a:ext uri="{FF2B5EF4-FFF2-40B4-BE49-F238E27FC236}">
                <a16:creationId xmlns:a16="http://schemas.microsoft.com/office/drawing/2014/main" id="{BE5E4B37-4D9F-AEEA-D554-6E705E20DAB5}"/>
              </a:ext>
            </a:extLst>
          </p:cNvPr>
          <p:cNvSpPr txBox="1"/>
          <p:nvPr/>
        </p:nvSpPr>
        <p:spPr>
          <a:xfrm>
            <a:off x="483312" y="5671662"/>
            <a:ext cx="7018020" cy="369332"/>
          </a:xfrm>
          <a:prstGeom prst="rect">
            <a:avLst/>
          </a:prstGeom>
          <a:noFill/>
        </p:spPr>
        <p:txBody>
          <a:bodyPr wrap="square">
            <a:spAutoFit/>
          </a:bodyPr>
          <a:lstStyle/>
          <a:p>
            <a:r>
              <a:rPr lang="pt-BR" b="0" i="0" dirty="0">
                <a:solidFill>
                  <a:srgbClr val="374151"/>
                </a:solidFill>
                <a:effectLst/>
                <a:latin typeface="Söhne"/>
              </a:rPr>
              <a:t>Example</a:t>
            </a:r>
            <a:r>
              <a:rPr lang="en-US" dirty="0">
                <a:solidFill>
                  <a:srgbClr val="374151"/>
                </a:solidFill>
                <a:latin typeface="Söhne"/>
              </a:rPr>
              <a:t>:</a:t>
            </a:r>
            <a:r>
              <a:rPr lang="en-US" sz="1800" b="0" i="0" dirty="0">
                <a:solidFill>
                  <a:srgbClr val="374151"/>
                </a:solidFill>
                <a:effectLst/>
                <a:latin typeface="Söhne"/>
              </a:rPr>
              <a:t> </a:t>
            </a:r>
          </a:p>
        </p:txBody>
      </p:sp>
    </p:spTree>
    <p:extLst>
      <p:ext uri="{BB962C8B-B14F-4D97-AF65-F5344CB8AC3E}">
        <p14:creationId xmlns:p14="http://schemas.microsoft.com/office/powerpoint/2010/main" val="381099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5"/>
          <p:cNvSpPr>
            <a:spLocks/>
          </p:cNvSpPr>
          <p:nvPr/>
        </p:nvSpPr>
        <p:spPr bwMode="auto">
          <a:xfrm>
            <a:off x="13546137" y="4300538"/>
            <a:ext cx="271463" cy="3471862"/>
          </a:xfrm>
          <a:custGeom>
            <a:avLst/>
            <a:gdLst>
              <a:gd name="T0" fmla="*/ 171 w 171"/>
              <a:gd name="T1" fmla="*/ 2187 h 2187"/>
              <a:gd name="T2" fmla="*/ 0 w 171"/>
              <a:gd name="T3" fmla="*/ 2187 h 2187"/>
              <a:gd name="T4" fmla="*/ 0 w 171"/>
              <a:gd name="T5" fmla="*/ 139 h 2187"/>
              <a:gd name="T6" fmla="*/ 171 w 171"/>
              <a:gd name="T7" fmla="*/ 0 h 2187"/>
              <a:gd name="T8" fmla="*/ 171 w 171"/>
              <a:gd name="T9" fmla="*/ 2187 h 2187"/>
            </a:gdLst>
            <a:ahLst/>
            <a:cxnLst>
              <a:cxn ang="0">
                <a:pos x="T0" y="T1"/>
              </a:cxn>
              <a:cxn ang="0">
                <a:pos x="T2" y="T3"/>
              </a:cxn>
              <a:cxn ang="0">
                <a:pos x="T4" y="T5"/>
              </a:cxn>
              <a:cxn ang="0">
                <a:pos x="T6" y="T7"/>
              </a:cxn>
              <a:cxn ang="0">
                <a:pos x="T8" y="T9"/>
              </a:cxn>
            </a:cxnLst>
            <a:rect l="0" t="0" r="r" b="b"/>
            <a:pathLst>
              <a:path w="171" h="2187">
                <a:moveTo>
                  <a:pt x="171" y="2187"/>
                </a:moveTo>
                <a:lnTo>
                  <a:pt x="0" y="2187"/>
                </a:lnTo>
                <a:lnTo>
                  <a:pt x="0" y="139"/>
                </a:lnTo>
                <a:lnTo>
                  <a:pt x="171" y="0"/>
                </a:lnTo>
                <a:lnTo>
                  <a:pt x="171" y="2187"/>
                </a:lnTo>
                <a:close/>
              </a:path>
            </a:pathLst>
          </a:custGeom>
          <a:solidFill>
            <a:schemeClr val="accent2"/>
          </a:solidFill>
          <a:ln w="3175">
            <a:noFill/>
          </a:ln>
        </p:spPr>
        <p:txBody>
          <a:bodyPr vert="horz" wrap="square" lIns="91440" tIns="45720" rIns="91440" bIns="45720" numCol="1" anchor="t" anchorCtr="0" compatLnSpc="1">
            <a:prstTxWarp prst="textNoShape">
              <a:avLst/>
            </a:prstTxWarp>
          </a:bodyPr>
          <a:lstStyle/>
          <a:p>
            <a:endParaRPr lang="en-GB" dirty="0"/>
          </a:p>
        </p:txBody>
      </p:sp>
      <p:sp>
        <p:nvSpPr>
          <p:cNvPr id="15" name="Rectangle 14"/>
          <p:cNvSpPr/>
          <p:nvPr/>
        </p:nvSpPr>
        <p:spPr>
          <a:xfrm>
            <a:off x="1468994" y="-12700"/>
            <a:ext cx="2578100" cy="7772400"/>
          </a:xfrm>
          <a:prstGeom prst="rect">
            <a:avLst/>
          </a:pr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Chevron 11"/>
          <p:cNvSpPr/>
          <p:nvPr/>
        </p:nvSpPr>
        <p:spPr>
          <a:xfrm rot="5400000">
            <a:off x="1689100" y="4159250"/>
            <a:ext cx="2152650" cy="2749550"/>
          </a:xfrm>
          <a:prstGeom prst="chevron">
            <a:avLst>
              <a:gd name="adj" fmla="val 22842"/>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lIns="182880" tIns="0" bIns="0" rtlCol="0" anchor="ctr"/>
          <a:lstStyle/>
          <a:p>
            <a:pPr algn="ctr"/>
            <a:r>
              <a:rPr lang="pt-BR" sz="12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Section 1 - </a:t>
            </a:r>
          </a:p>
          <a:p>
            <a:pPr algn="ctr"/>
            <a:r>
              <a:rPr lang="pt-BR" sz="12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Marketing Campaign</a:t>
            </a:r>
            <a:endParaRPr lang="en-GB" sz="12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 name="CaixaDeTexto 2">
            <a:extLst>
              <a:ext uri="{FF2B5EF4-FFF2-40B4-BE49-F238E27FC236}">
                <a16:creationId xmlns:a16="http://schemas.microsoft.com/office/drawing/2014/main" id="{CAA9F86F-0B3D-B476-3486-48970C01E373}"/>
              </a:ext>
            </a:extLst>
          </p:cNvPr>
          <p:cNvSpPr txBox="1"/>
          <p:nvPr/>
        </p:nvSpPr>
        <p:spPr>
          <a:xfrm>
            <a:off x="6153553" y="2101272"/>
            <a:ext cx="6908800" cy="523220"/>
          </a:xfrm>
          <a:prstGeom prst="rect">
            <a:avLst/>
          </a:prstGeom>
          <a:noFill/>
        </p:spPr>
        <p:txBody>
          <a:bodyPr wrap="square">
            <a:spAutoFit/>
          </a:bodyPr>
          <a:lstStyle/>
          <a:p>
            <a:r>
              <a:rPr lang="pt-BR" sz="2800" b="1" dirty="0">
                <a:solidFill>
                  <a:srgbClr val="5B2A28"/>
                </a:solidFill>
                <a:latin typeface="Cooper Black" panose="0208090404030B020404" pitchFamily="18" charset="0"/>
              </a:rPr>
              <a:t>Marketing campaign results</a:t>
            </a:r>
          </a:p>
        </p:txBody>
      </p:sp>
      <p:pic>
        <p:nvPicPr>
          <p:cNvPr id="5122" name="Picture 2" descr="Marketing de varejo: o que é e as inovações no setor!">
            <a:extLst>
              <a:ext uri="{FF2B5EF4-FFF2-40B4-BE49-F238E27FC236}">
                <a16:creationId xmlns:a16="http://schemas.microsoft.com/office/drawing/2014/main" id="{1CBF3CA9-F04F-9B1D-9F83-CB0820DA0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176" y="2856083"/>
            <a:ext cx="5014991" cy="2636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810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64860" y="538271"/>
            <a:ext cx="8204955" cy="461400"/>
          </a:xfrm>
        </p:spPr>
        <p:txBody>
          <a:bodyPr/>
          <a:lstStyle/>
          <a:p>
            <a:r>
              <a:rPr lang="en-US" sz="2000" dirty="0"/>
              <a:t>Overall, which version generated better incremental results?</a:t>
            </a:r>
            <a:endParaRPr lang="en-GB" sz="2000" dirty="0"/>
          </a:p>
        </p:txBody>
      </p:sp>
      <p:pic>
        <p:nvPicPr>
          <p:cNvPr id="3" name="Imagem 2">
            <a:extLst>
              <a:ext uri="{FF2B5EF4-FFF2-40B4-BE49-F238E27FC236}">
                <a16:creationId xmlns:a16="http://schemas.microsoft.com/office/drawing/2014/main" id="{8884BC28-DD35-92B8-9C5B-B8B28D71C1D8}"/>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40093" b="80926" l="50156" r="67656">
                        <a14:foregroundMark x1="56875" y1="41667" x2="56927" y2="53796"/>
                        <a14:foregroundMark x1="59531" y1="47685" x2="59531" y2="47685"/>
                        <a14:foregroundMark x1="57083" y1="54444" x2="56823" y2="61389"/>
                        <a14:foregroundMark x1="55990" y1="55370" x2="57969" y2="59537"/>
                        <a14:foregroundMark x1="56458" y1="56111" x2="56563" y2="60370"/>
                        <a14:foregroundMark x1="58281" y1="58889" x2="57083" y2="56574"/>
                        <a14:foregroundMark x1="57760" y1="56296" x2="57760" y2="56296"/>
                        <a14:foregroundMark x1="57552" y1="55926" x2="57552" y2="55926"/>
                        <a14:foregroundMark x1="61510" y1="65093" x2="61510" y2="65093"/>
                        <a14:foregroundMark x1="61510" y1="65926" x2="61510" y2="65926"/>
                        <a14:foregroundMark x1="61615" y1="68426" x2="61615" y2="69537"/>
                        <a14:foregroundMark x1="60469" y1="66111" x2="61771" y2="70648"/>
                        <a14:foregroundMark x1="62344" y1="70926" x2="62135" y2="71204"/>
                        <a14:foregroundMark x1="61510" y1="80926" x2="61510" y2="80926"/>
                        <a14:foregroundMark x1="53490" y1="80926" x2="53490" y2="80926"/>
                        <a14:foregroundMark x1="57083" y1="80000" x2="57083" y2="80000"/>
                        <a14:foregroundMark x1="57188" y1="80741" x2="57188" y2="80741"/>
                      </a14:backgroundRemoval>
                    </a14:imgEffect>
                  </a14:imgLayer>
                </a14:imgProps>
              </a:ext>
            </a:extLst>
          </a:blip>
          <a:srcRect l="48015" t="35044" r="30147" b="14210"/>
          <a:stretch/>
        </p:blipFill>
        <p:spPr>
          <a:xfrm>
            <a:off x="8495818" y="117433"/>
            <a:ext cx="3017520" cy="3944195"/>
          </a:xfrm>
          <a:prstGeom prst="rect">
            <a:avLst/>
          </a:prstGeom>
        </p:spPr>
      </p:pic>
      <p:sp>
        <p:nvSpPr>
          <p:cNvPr id="4" name="CaixaDeTexto 3">
            <a:extLst>
              <a:ext uri="{FF2B5EF4-FFF2-40B4-BE49-F238E27FC236}">
                <a16:creationId xmlns:a16="http://schemas.microsoft.com/office/drawing/2014/main" id="{CE65F946-438F-43EC-0BFF-22E2F7F91ADB}"/>
              </a:ext>
            </a:extLst>
          </p:cNvPr>
          <p:cNvSpPr txBox="1"/>
          <p:nvPr/>
        </p:nvSpPr>
        <p:spPr>
          <a:xfrm>
            <a:off x="315597" y="1328654"/>
            <a:ext cx="4292265" cy="1815882"/>
          </a:xfrm>
          <a:prstGeom prst="rect">
            <a:avLst/>
          </a:prstGeom>
          <a:noFill/>
        </p:spPr>
        <p:txBody>
          <a:bodyPr wrap="none" rtlCol="0">
            <a:spAutoFit/>
          </a:bodyPr>
          <a:lstStyle/>
          <a:p>
            <a:r>
              <a:rPr lang="en-US" sz="2800" b="1" dirty="0">
                <a:solidFill>
                  <a:srgbClr val="5B2A28"/>
                </a:solidFill>
                <a:latin typeface="Cooper Black" panose="0208090404030B020404" pitchFamily="18" charset="0"/>
              </a:rPr>
              <a:t>N = sample size </a:t>
            </a:r>
          </a:p>
          <a:p>
            <a:r>
              <a:rPr lang="en-US" sz="2800" b="1" dirty="0">
                <a:solidFill>
                  <a:srgbClr val="5B2A28"/>
                </a:solidFill>
                <a:latin typeface="Cooper Black" panose="0208090404030B020404" pitchFamily="18" charset="0"/>
              </a:rPr>
              <a:t>Z = z-score </a:t>
            </a:r>
          </a:p>
          <a:p>
            <a:r>
              <a:rPr lang="en-US" sz="2800" b="1" dirty="0">
                <a:solidFill>
                  <a:srgbClr val="5B2A28"/>
                </a:solidFill>
                <a:latin typeface="Cooper Black" panose="0208090404030B020404" pitchFamily="18" charset="0"/>
              </a:rPr>
              <a:t>E = margin of error </a:t>
            </a:r>
          </a:p>
          <a:p>
            <a:r>
              <a:rPr lang="en-US" sz="2800" b="1" dirty="0">
                <a:solidFill>
                  <a:srgbClr val="5B2A28"/>
                </a:solidFill>
                <a:latin typeface="Cooper Black" panose="0208090404030B020404" pitchFamily="18" charset="0"/>
              </a:rPr>
              <a:t>P = standard deviation</a:t>
            </a:r>
            <a:endParaRPr lang="pt-BR" sz="2800" b="1" dirty="0">
              <a:solidFill>
                <a:srgbClr val="5B2A28"/>
              </a:solidFill>
              <a:latin typeface="Cooper Black" panose="0208090404030B020404" pitchFamily="18" charset="0"/>
            </a:endParaRPr>
          </a:p>
        </p:txBody>
      </p:sp>
      <p:pic>
        <p:nvPicPr>
          <p:cNvPr id="9" name="Imagem 8">
            <a:extLst>
              <a:ext uri="{FF2B5EF4-FFF2-40B4-BE49-F238E27FC236}">
                <a16:creationId xmlns:a16="http://schemas.microsoft.com/office/drawing/2014/main" id="{BBCEFFD4-CD8C-56E3-A1B2-06F30FCC1980}"/>
              </a:ext>
            </a:extLst>
          </p:cNvPr>
          <p:cNvPicPr>
            <a:picLocks noChangeAspect="1"/>
          </p:cNvPicPr>
          <p:nvPr/>
        </p:nvPicPr>
        <p:blipFill rotWithShape="1">
          <a:blip r:embed="rId6"/>
          <a:srcRect l="41134"/>
          <a:stretch/>
        </p:blipFill>
        <p:spPr>
          <a:xfrm>
            <a:off x="6504972" y="1494971"/>
            <a:ext cx="1990846" cy="1455546"/>
          </a:xfrm>
          <a:prstGeom prst="rect">
            <a:avLst/>
          </a:prstGeom>
        </p:spPr>
      </p:pic>
      <p:sp>
        <p:nvSpPr>
          <p:cNvPr id="10" name="CaixaDeTexto 9">
            <a:extLst>
              <a:ext uri="{FF2B5EF4-FFF2-40B4-BE49-F238E27FC236}">
                <a16:creationId xmlns:a16="http://schemas.microsoft.com/office/drawing/2014/main" id="{9410D2D0-8AE8-BA79-A45F-4EBB00BF2F7B}"/>
              </a:ext>
            </a:extLst>
          </p:cNvPr>
          <p:cNvSpPr txBox="1"/>
          <p:nvPr/>
        </p:nvSpPr>
        <p:spPr>
          <a:xfrm>
            <a:off x="246460" y="3546406"/>
            <a:ext cx="3189591" cy="2246769"/>
          </a:xfrm>
          <a:prstGeom prst="rect">
            <a:avLst/>
          </a:prstGeom>
          <a:noFill/>
        </p:spPr>
        <p:txBody>
          <a:bodyPr wrap="none" rtlCol="0">
            <a:spAutoFit/>
          </a:bodyPr>
          <a:lstStyle/>
          <a:p>
            <a:r>
              <a:rPr lang="en-US" sz="2800" b="1" dirty="0">
                <a:solidFill>
                  <a:srgbClr val="5B2A28"/>
                </a:solidFill>
                <a:latin typeface="Cooper Black" panose="0208090404030B020404" pitchFamily="18" charset="0"/>
              </a:rPr>
              <a:t>N </a:t>
            </a:r>
            <a:r>
              <a:rPr lang="en-US" sz="2800" b="1">
                <a:solidFill>
                  <a:srgbClr val="5B2A28"/>
                </a:solidFill>
                <a:latin typeface="Cooper Black" panose="0208090404030B020404" pitchFamily="18" charset="0"/>
              </a:rPr>
              <a:t>= 110,000</a:t>
            </a:r>
            <a:endParaRPr lang="en-US" sz="2800" b="1" dirty="0">
              <a:solidFill>
                <a:srgbClr val="5B2A28"/>
              </a:solidFill>
              <a:latin typeface="Cooper Black" panose="0208090404030B020404" pitchFamily="18" charset="0"/>
            </a:endParaRPr>
          </a:p>
          <a:p>
            <a:r>
              <a:rPr lang="en-US" sz="2800" b="1" dirty="0">
                <a:solidFill>
                  <a:srgbClr val="5B2A28"/>
                </a:solidFill>
                <a:latin typeface="Cooper Black" panose="0208090404030B020404" pitchFamily="18" charset="0"/>
              </a:rPr>
              <a:t>Z = 2,58</a:t>
            </a:r>
          </a:p>
          <a:p>
            <a:r>
              <a:rPr lang="en-US" sz="2800" b="1" dirty="0">
                <a:solidFill>
                  <a:srgbClr val="FF0000"/>
                </a:solidFill>
                <a:latin typeface="Cooper Black" panose="0208090404030B020404" pitchFamily="18" charset="0"/>
              </a:rPr>
              <a:t>E = ??? (0,01282)</a:t>
            </a:r>
          </a:p>
          <a:p>
            <a:r>
              <a:rPr lang="en-US" sz="2800" b="1" dirty="0">
                <a:solidFill>
                  <a:srgbClr val="5B2A28"/>
                </a:solidFill>
                <a:latin typeface="Cooper Black" panose="0208090404030B020404" pitchFamily="18" charset="0"/>
              </a:rPr>
              <a:t>P = 0,5</a:t>
            </a:r>
          </a:p>
          <a:p>
            <a:r>
              <a:rPr lang="en-US" sz="2800" b="1" dirty="0">
                <a:solidFill>
                  <a:srgbClr val="5B2A28"/>
                </a:solidFill>
                <a:latin typeface="Cooper Black" panose="0208090404030B020404" pitchFamily="18" charset="0"/>
              </a:rPr>
              <a:t>Control=10.000</a:t>
            </a:r>
            <a:endParaRPr lang="pt-BR" sz="2800" b="1" dirty="0">
              <a:solidFill>
                <a:srgbClr val="5B2A28"/>
              </a:solidFill>
              <a:latin typeface="Cooper Black" panose="0208090404030B020404" pitchFamily="18" charset="0"/>
            </a:endParaRPr>
          </a:p>
        </p:txBody>
      </p:sp>
      <p:sp>
        <p:nvSpPr>
          <p:cNvPr id="12" name="Title 21">
            <a:extLst>
              <a:ext uri="{FF2B5EF4-FFF2-40B4-BE49-F238E27FC236}">
                <a16:creationId xmlns:a16="http://schemas.microsoft.com/office/drawing/2014/main" id="{168CC501-09B7-DB44-4035-D15D06DA88B1}"/>
              </a:ext>
            </a:extLst>
          </p:cNvPr>
          <p:cNvSpPr txBox="1">
            <a:spLocks/>
          </p:cNvSpPr>
          <p:nvPr/>
        </p:nvSpPr>
        <p:spPr>
          <a:xfrm>
            <a:off x="5278057" y="1778696"/>
            <a:ext cx="1469984" cy="381438"/>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Equation</a:t>
            </a:r>
            <a:endParaRPr lang="en-GB" sz="2000" dirty="0"/>
          </a:p>
        </p:txBody>
      </p:sp>
      <p:sp>
        <p:nvSpPr>
          <p:cNvPr id="16" name="CaixaDeTexto 15">
            <a:extLst>
              <a:ext uri="{FF2B5EF4-FFF2-40B4-BE49-F238E27FC236}">
                <a16:creationId xmlns:a16="http://schemas.microsoft.com/office/drawing/2014/main" id="{5BA09AE1-347A-34CF-D46E-60A7115579B2}"/>
              </a:ext>
            </a:extLst>
          </p:cNvPr>
          <p:cNvSpPr txBox="1"/>
          <p:nvPr/>
        </p:nvSpPr>
        <p:spPr>
          <a:xfrm>
            <a:off x="1712504" y="4061628"/>
            <a:ext cx="3565553" cy="369332"/>
          </a:xfrm>
          <a:prstGeom prst="rect">
            <a:avLst/>
          </a:prstGeom>
          <a:noFill/>
        </p:spPr>
        <p:txBody>
          <a:bodyPr wrap="square">
            <a:spAutoFit/>
          </a:bodyPr>
          <a:lstStyle/>
          <a:p>
            <a:r>
              <a:rPr lang="en-US" b="0" i="0" dirty="0">
                <a:solidFill>
                  <a:srgbClr val="292929"/>
                </a:solidFill>
                <a:effectLst/>
                <a:latin typeface="source-serif-pro"/>
              </a:rPr>
              <a:t>(99% confidence</a:t>
            </a:r>
            <a:r>
              <a:rPr lang="pt-BR" b="0" i="0" dirty="0">
                <a:solidFill>
                  <a:srgbClr val="292929"/>
                </a:solidFill>
                <a:effectLst/>
                <a:latin typeface="source-serif-pro"/>
              </a:rPr>
              <a:t>)</a:t>
            </a:r>
            <a:endParaRPr lang="en-US" b="0" i="0" dirty="0">
              <a:solidFill>
                <a:srgbClr val="292929"/>
              </a:solidFill>
              <a:effectLst/>
              <a:latin typeface="source-serif-pro"/>
            </a:endParaRPr>
          </a:p>
        </p:txBody>
      </p:sp>
      <p:sp>
        <p:nvSpPr>
          <p:cNvPr id="18" name="CaixaDeTexto 17">
            <a:extLst>
              <a:ext uri="{FF2B5EF4-FFF2-40B4-BE49-F238E27FC236}">
                <a16:creationId xmlns:a16="http://schemas.microsoft.com/office/drawing/2014/main" id="{BF5A5D1D-86C5-FCBF-7ACB-6C1FCC2A329F}"/>
              </a:ext>
            </a:extLst>
          </p:cNvPr>
          <p:cNvSpPr txBox="1"/>
          <p:nvPr/>
        </p:nvSpPr>
        <p:spPr>
          <a:xfrm>
            <a:off x="3837007" y="4292254"/>
            <a:ext cx="6910086" cy="923330"/>
          </a:xfrm>
          <a:prstGeom prst="rect">
            <a:avLst/>
          </a:prstGeom>
          <a:noFill/>
        </p:spPr>
        <p:txBody>
          <a:bodyPr wrap="square">
            <a:spAutoFit/>
          </a:bodyPr>
          <a:lstStyle/>
          <a:p>
            <a:r>
              <a:rPr lang="en-US" b="0" i="0" dirty="0">
                <a:solidFill>
                  <a:srgbClr val="374151"/>
                </a:solidFill>
                <a:effectLst/>
                <a:latin typeface="Söhne"/>
              </a:rPr>
              <a:t>Based on the numbers presented from the control group, I estimate that the sampling precision error of the control sample is only 1.28% based on the equation presented.</a:t>
            </a:r>
            <a:endParaRPr lang="pt-BR" dirty="0"/>
          </a:p>
        </p:txBody>
      </p:sp>
    </p:spTree>
    <p:extLst>
      <p:ext uri="{BB962C8B-B14F-4D97-AF65-F5344CB8AC3E}">
        <p14:creationId xmlns:p14="http://schemas.microsoft.com/office/powerpoint/2010/main" val="2507897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3266022"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Convertion Rate</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538271"/>
            <a:ext cx="8204955" cy="461400"/>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Overall, which version generated better incremental results?</a:t>
            </a:r>
            <a:endParaRPr lang="en-GB" sz="2000" dirty="0"/>
          </a:p>
        </p:txBody>
      </p:sp>
      <p:graphicFrame>
        <p:nvGraphicFramePr>
          <p:cNvPr id="28" name="Tabela 27">
            <a:extLst>
              <a:ext uri="{FF2B5EF4-FFF2-40B4-BE49-F238E27FC236}">
                <a16:creationId xmlns:a16="http://schemas.microsoft.com/office/drawing/2014/main" id="{D16275F0-640D-3D9C-4399-43471062B360}"/>
              </a:ext>
            </a:extLst>
          </p:cNvPr>
          <p:cNvGraphicFramePr>
            <a:graphicFrameLocks noGrp="1"/>
          </p:cNvGraphicFramePr>
          <p:nvPr>
            <p:extLst>
              <p:ext uri="{D42A27DB-BD31-4B8C-83A1-F6EECF244321}">
                <p14:modId xmlns:p14="http://schemas.microsoft.com/office/powerpoint/2010/main" val="3806662854"/>
              </p:ext>
            </p:extLst>
          </p:nvPr>
        </p:nvGraphicFramePr>
        <p:xfrm>
          <a:off x="358836" y="1886110"/>
          <a:ext cx="10339643" cy="4081086"/>
        </p:xfrm>
        <a:graphic>
          <a:graphicData uri="http://schemas.openxmlformats.org/drawingml/2006/table">
            <a:tbl>
              <a:tblPr/>
              <a:tblGrid>
                <a:gridCol w="1659233">
                  <a:extLst>
                    <a:ext uri="{9D8B030D-6E8A-4147-A177-3AD203B41FA5}">
                      <a16:colId xmlns:a16="http://schemas.microsoft.com/office/drawing/2014/main" val="4110963351"/>
                    </a:ext>
                  </a:extLst>
                </a:gridCol>
                <a:gridCol w="1173689">
                  <a:extLst>
                    <a:ext uri="{9D8B030D-6E8A-4147-A177-3AD203B41FA5}">
                      <a16:colId xmlns:a16="http://schemas.microsoft.com/office/drawing/2014/main" val="4025860843"/>
                    </a:ext>
                  </a:extLst>
                </a:gridCol>
                <a:gridCol w="1550946">
                  <a:extLst>
                    <a:ext uri="{9D8B030D-6E8A-4147-A177-3AD203B41FA5}">
                      <a16:colId xmlns:a16="http://schemas.microsoft.com/office/drawing/2014/main" val="2734430056"/>
                    </a:ext>
                  </a:extLst>
                </a:gridCol>
                <a:gridCol w="1446152">
                  <a:extLst>
                    <a:ext uri="{9D8B030D-6E8A-4147-A177-3AD203B41FA5}">
                      <a16:colId xmlns:a16="http://schemas.microsoft.com/office/drawing/2014/main" val="2065360658"/>
                    </a:ext>
                  </a:extLst>
                </a:gridCol>
                <a:gridCol w="454106">
                  <a:extLst>
                    <a:ext uri="{9D8B030D-6E8A-4147-A177-3AD203B41FA5}">
                      <a16:colId xmlns:a16="http://schemas.microsoft.com/office/drawing/2014/main" val="552702457"/>
                    </a:ext>
                  </a:extLst>
                </a:gridCol>
                <a:gridCol w="1351839">
                  <a:extLst>
                    <a:ext uri="{9D8B030D-6E8A-4147-A177-3AD203B41FA5}">
                      <a16:colId xmlns:a16="http://schemas.microsoft.com/office/drawing/2014/main" val="805092251"/>
                    </a:ext>
                  </a:extLst>
                </a:gridCol>
                <a:gridCol w="1351839">
                  <a:extLst>
                    <a:ext uri="{9D8B030D-6E8A-4147-A177-3AD203B41FA5}">
                      <a16:colId xmlns:a16="http://schemas.microsoft.com/office/drawing/2014/main" val="74273252"/>
                    </a:ext>
                  </a:extLst>
                </a:gridCol>
                <a:gridCol w="1351839">
                  <a:extLst>
                    <a:ext uri="{9D8B030D-6E8A-4147-A177-3AD203B41FA5}">
                      <a16:colId xmlns:a16="http://schemas.microsoft.com/office/drawing/2014/main" val="1736588608"/>
                    </a:ext>
                  </a:extLst>
                </a:gridCol>
              </a:tblGrid>
              <a:tr h="214794">
                <a:tc>
                  <a:txBody>
                    <a:bodyPr/>
                    <a:lstStyle/>
                    <a:p>
                      <a:pPr algn="l" fontAlgn="b"/>
                      <a:endParaRPr lang="pt-BR" sz="1100" b="1"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3">
                  <a:txBody>
                    <a:bodyPr/>
                    <a:lstStyle/>
                    <a:p>
                      <a:pPr algn="ctr" fontAlgn="b"/>
                      <a:r>
                        <a:rPr lang="pt-BR" sz="1100" b="1" i="0" u="none" strike="noStrike" dirty="0">
                          <a:solidFill>
                            <a:srgbClr val="000000"/>
                          </a:solidFill>
                          <a:effectLst/>
                          <a:latin typeface="Calibri" panose="020F0502020204030204" pitchFamily="34" charset="0"/>
                        </a:rPr>
                        <a:t>99%OFF</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100" b="1" i="0" u="none" strike="noStrike" dirty="0">
                          <a:solidFill>
                            <a:srgbClr val="000000"/>
                          </a:solidFill>
                          <a:effectLst/>
                          <a:latin typeface="Calibri" panose="020F0502020204030204" pitchFamily="34" charset="0"/>
                        </a:rPr>
                        <a:t>BOGO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67416407"/>
                  </a:ext>
                </a:extLst>
              </a:tr>
              <a:tr h="214794">
                <a:tc>
                  <a:txBody>
                    <a:bodyPr/>
                    <a:lstStyle/>
                    <a:p>
                      <a:pPr algn="ctr" fontAlgn="b"/>
                      <a:r>
                        <a:rPr lang="pt-BR" sz="1100" b="1" i="0" u="none" strike="noStrike" dirty="0">
                          <a:solidFill>
                            <a:srgbClr val="000000"/>
                          </a:solidFill>
                          <a:effectLst/>
                          <a:latin typeface="Calibri" panose="020F0502020204030204" pitchFamily="34" charset="0"/>
                        </a:rPr>
                        <a:t>PROFILE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956827137"/>
                  </a:ext>
                </a:extLst>
              </a:tr>
              <a:tr h="214794">
                <a:tc>
                  <a:txBody>
                    <a:bodyPr/>
                    <a:lstStyle/>
                    <a:p>
                      <a:pPr algn="l" fontAlgn="b"/>
                      <a:r>
                        <a:rPr lang="pt-BR" sz="1100" b="1" i="0" u="none" strike="noStrike" dirty="0">
                          <a:solidFill>
                            <a:srgbClr val="000000"/>
                          </a:solidFill>
                          <a:effectLst/>
                          <a:latin typeface="Calibri" panose="020F0502020204030204" pitchFamily="34" charset="0"/>
                        </a:rPr>
                        <a:t>BlueCollarRoyalty</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11,07%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-2,21%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282"/>
                    </a:solidFill>
                  </a:tcPr>
                </a:tc>
                <a:extLst>
                  <a:ext uri="{0D108BD9-81ED-4DB2-BD59-A6C34878D82A}">
                    <a16:rowId xmlns:a16="http://schemas.microsoft.com/office/drawing/2014/main" val="623055435"/>
                  </a:ext>
                </a:extLst>
              </a:tr>
              <a:tr h="214794">
                <a:tc>
                  <a:txBody>
                    <a:bodyPr/>
                    <a:lstStyle/>
                    <a:p>
                      <a:pPr algn="l" fontAlgn="b"/>
                      <a:r>
                        <a:rPr lang="pt-BR" sz="1100" b="1" i="0" u="none" strike="noStrike" dirty="0">
                          <a:solidFill>
                            <a:srgbClr val="000000"/>
                          </a:solidFill>
                          <a:effectLst/>
                          <a:latin typeface="Calibri" panose="020F0502020204030204" pitchFamily="34" charset="0"/>
                        </a:rPr>
                        <a:t>CitySlickers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10,15%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9,55%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E483"/>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10,94%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11,40%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-0,47%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17C"/>
                    </a:solidFill>
                  </a:tcPr>
                </a:tc>
                <a:extLst>
                  <a:ext uri="{0D108BD9-81ED-4DB2-BD59-A6C34878D82A}">
                    <a16:rowId xmlns:a16="http://schemas.microsoft.com/office/drawing/2014/main" val="3387031244"/>
                  </a:ext>
                </a:extLst>
              </a:tr>
              <a:tr h="214794">
                <a:tc>
                  <a:txBody>
                    <a:bodyPr/>
                    <a:lstStyle/>
                    <a:p>
                      <a:pPr algn="l" fontAlgn="b"/>
                      <a:r>
                        <a:rPr lang="pt-BR" sz="1100" b="1" i="0" u="none" strike="noStrike" dirty="0" err="1">
                          <a:solidFill>
                            <a:srgbClr val="000000"/>
                          </a:solidFill>
                          <a:effectLst/>
                          <a:latin typeface="Calibri" panose="020F0502020204030204" pitchFamily="34" charset="0"/>
                        </a:rPr>
                        <a:t>Mr.&amp;Mrs.Smiths</a:t>
                      </a:r>
                      <a:endParaRPr lang="pt-BR" sz="1100" b="1" i="0" u="none" strike="noStrike" dirty="0">
                        <a:solidFill>
                          <a:srgbClr val="000000"/>
                        </a:solidFill>
                        <a:effectLst/>
                        <a:latin typeface="Calibri" panose="020F0502020204030204" pitchFamily="34" charset="0"/>
                      </a:endParaRP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2,69%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3,44%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57C"/>
                    </a:solidFill>
                  </a:tcPr>
                </a:tc>
                <a:extLst>
                  <a:ext uri="{0D108BD9-81ED-4DB2-BD59-A6C34878D82A}">
                    <a16:rowId xmlns:a16="http://schemas.microsoft.com/office/drawing/2014/main" val="2977466301"/>
                  </a:ext>
                </a:extLst>
              </a:tr>
              <a:tr h="214794">
                <a:tc>
                  <a:txBody>
                    <a:bodyPr/>
                    <a:lstStyle/>
                    <a:p>
                      <a:pPr algn="l" fontAlgn="b"/>
                      <a:r>
                        <a:rPr lang="pt-BR" sz="1100" b="1" i="0" u="none" strike="noStrike" dirty="0">
                          <a:solidFill>
                            <a:srgbClr val="000000"/>
                          </a:solidFill>
                          <a:effectLst/>
                          <a:latin typeface="Calibri" panose="020F0502020204030204" pitchFamily="34" charset="0"/>
                        </a:rPr>
                        <a:t>NormalFamilies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9,33%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8,16%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1,17%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380"/>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extLst>
                  <a:ext uri="{0D108BD9-81ED-4DB2-BD59-A6C34878D82A}">
                    <a16:rowId xmlns:a16="http://schemas.microsoft.com/office/drawing/2014/main" val="2303717626"/>
                  </a:ext>
                </a:extLst>
              </a:tr>
              <a:tr h="214794">
                <a:tc>
                  <a:txBody>
                    <a:bodyPr/>
                    <a:lstStyle/>
                    <a:p>
                      <a:pPr algn="l" fontAlgn="b"/>
                      <a:r>
                        <a:rPr lang="pt-BR" sz="1100" b="1" i="0" u="none" strike="noStrike" dirty="0">
                          <a:solidFill>
                            <a:srgbClr val="000000"/>
                          </a:solidFill>
                          <a:effectLst/>
                          <a:latin typeface="Calibri" panose="020F0502020204030204" pitchFamily="34" charset="0"/>
                        </a:rPr>
                        <a:t>NULL</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5,94%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483"/>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6,48%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6,54%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-0,07%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extLst>
                  <a:ext uri="{0D108BD9-81ED-4DB2-BD59-A6C34878D82A}">
                    <a16:rowId xmlns:a16="http://schemas.microsoft.com/office/drawing/2014/main" val="3737816686"/>
                  </a:ext>
                </a:extLst>
              </a:tr>
              <a:tr h="214794">
                <a:tc>
                  <a:txBody>
                    <a:bodyPr/>
                    <a:lstStyle/>
                    <a:p>
                      <a:pPr algn="l" fontAlgn="b"/>
                      <a:r>
                        <a:rPr lang="pt-BR" sz="1100" b="1" i="0" u="none" strike="noStrike" dirty="0">
                          <a:solidFill>
                            <a:srgbClr val="000000"/>
                          </a:solidFill>
                          <a:effectLst/>
                          <a:latin typeface="Calibri" panose="020F0502020204030204" pitchFamily="34" charset="0"/>
                        </a:rPr>
                        <a:t>PinchedPockets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7,54%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A80"/>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D780"/>
                    </a:solidFill>
                  </a:tcPr>
                </a:tc>
                <a:extLst>
                  <a:ext uri="{0D108BD9-81ED-4DB2-BD59-A6C34878D82A}">
                    <a16:rowId xmlns:a16="http://schemas.microsoft.com/office/drawing/2014/main" val="1724154152"/>
                  </a:ext>
                </a:extLst>
              </a:tr>
              <a:tr h="214794">
                <a:tc>
                  <a:txBody>
                    <a:bodyPr/>
                    <a:lstStyle/>
                    <a:p>
                      <a:pPr algn="l" fontAlgn="b"/>
                      <a:r>
                        <a:rPr lang="pt-BR" sz="1100" b="1" i="0" u="none" strike="noStrike" dirty="0">
                          <a:solidFill>
                            <a:srgbClr val="000000"/>
                          </a:solidFill>
                          <a:effectLst/>
                          <a:latin typeface="Calibri" panose="020F0502020204030204" pitchFamily="34" charset="0"/>
                        </a:rPr>
                        <a:t>Rich&amp;Richer</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10,35%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10,29%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C81"/>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11,14%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9,28%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1,86%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703618486"/>
                  </a:ext>
                </a:extLst>
              </a:tr>
              <a:tr h="214794">
                <a:tc>
                  <a:txBody>
                    <a:bodyPr/>
                    <a:lstStyle/>
                    <a:p>
                      <a:pPr algn="l" fontAlgn="b"/>
                      <a:r>
                        <a:rPr lang="pt-BR" sz="1100" b="1" i="0" u="none" strike="noStrike" dirty="0">
                          <a:solidFill>
                            <a:srgbClr val="000000"/>
                          </a:solidFill>
                          <a:effectLst/>
                          <a:latin typeface="Calibri" panose="020F0502020204030204" pitchFamily="34" charset="0"/>
                        </a:rPr>
                        <a:t>Total</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7,27%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0,24%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7,76%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0,36%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411582848"/>
                  </a:ext>
                </a:extLst>
              </a:tr>
              <a:tr h="214794">
                <a:tc>
                  <a:txBody>
                    <a:bodyPr/>
                    <a:lstStyle/>
                    <a:p>
                      <a:pPr algn="l" fontAlgn="b"/>
                      <a:endParaRPr lang="pt-BR" sz="1100" b="1"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3142534"/>
                  </a:ext>
                </a:extLst>
              </a:tr>
              <a:tr h="214794">
                <a:tc>
                  <a:txBody>
                    <a:bodyPr/>
                    <a:lstStyle/>
                    <a:p>
                      <a:pPr algn="l" fontAlgn="b"/>
                      <a:endParaRPr lang="pt-BR" sz="1100" b="1"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3">
                  <a:txBody>
                    <a:bodyPr/>
                    <a:lstStyle/>
                    <a:p>
                      <a:pPr algn="ctr" fontAlgn="b"/>
                      <a:r>
                        <a:rPr lang="pt-BR" sz="1100" b="1" i="0" u="none" strike="noStrike" dirty="0">
                          <a:solidFill>
                            <a:srgbClr val="000000"/>
                          </a:solidFill>
                          <a:effectLst/>
                          <a:latin typeface="Calibri" panose="020F0502020204030204" pitchFamily="34" charset="0"/>
                        </a:rPr>
                        <a:t>99%OFF</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100" b="1" i="0" u="none" strike="noStrike" dirty="0">
                          <a:solidFill>
                            <a:srgbClr val="000000"/>
                          </a:solidFill>
                          <a:effectLst/>
                          <a:latin typeface="Calibri" panose="020F0502020204030204" pitchFamily="34" charset="0"/>
                        </a:rPr>
                        <a:t>BOGO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420645929"/>
                  </a:ext>
                </a:extLst>
              </a:tr>
              <a:tr h="214794">
                <a:tc>
                  <a:txBody>
                    <a:bodyPr/>
                    <a:lstStyle/>
                    <a:p>
                      <a:pPr algn="ctr" fontAlgn="b"/>
                      <a:r>
                        <a:rPr lang="pt-BR" sz="1100" b="1" i="0" u="none" strike="noStrike" dirty="0">
                          <a:solidFill>
                            <a:srgbClr val="000000"/>
                          </a:solidFill>
                          <a:effectLst/>
                          <a:latin typeface="Calibri" panose="020F0502020204030204" pitchFamily="34" charset="0"/>
                        </a:rPr>
                        <a:t>PROFILE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918531010"/>
                  </a:ext>
                </a:extLst>
              </a:tr>
              <a:tr h="214794">
                <a:tc>
                  <a:txBody>
                    <a:bodyPr/>
                    <a:lstStyle/>
                    <a:p>
                      <a:pPr algn="l" fontAlgn="b"/>
                      <a:r>
                        <a:rPr lang="pt-BR" sz="1100" b="1" i="0" u="none" strike="noStrike" dirty="0">
                          <a:solidFill>
                            <a:srgbClr val="000000"/>
                          </a:solidFill>
                          <a:effectLst/>
                          <a:latin typeface="Calibri" panose="020F0502020204030204" pitchFamily="34" charset="0"/>
                        </a:rPr>
                        <a:t>CoreCustomers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8,05%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9,59%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-0,70%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1813706229"/>
                  </a:ext>
                </a:extLst>
              </a:tr>
              <a:tr h="214794">
                <a:tc>
                  <a:txBody>
                    <a:bodyPr/>
                    <a:lstStyle/>
                    <a:p>
                      <a:pPr algn="l" fontAlgn="b"/>
                      <a:r>
                        <a:rPr lang="pt-BR" sz="1100" b="1" i="0" u="none" strike="noStrike" dirty="0">
                          <a:solidFill>
                            <a:srgbClr val="000000"/>
                          </a:solidFill>
                          <a:effectLst/>
                          <a:latin typeface="Calibri" panose="020F0502020204030204" pitchFamily="34" charset="0"/>
                        </a:rPr>
                        <a:t>EliteCustomers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8,99%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9,71%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b"/>
                      <a:r>
                        <a:rPr lang="pt-BR" sz="1100" b="0" i="0" u="none" strike="noStrike" dirty="0">
                          <a:solidFill>
                            <a:srgbClr val="000000"/>
                          </a:solidFill>
                          <a:effectLst/>
                          <a:latin typeface="Calibri" panose="020F0502020204030204" pitchFamily="34" charset="0"/>
                        </a:rPr>
                        <a:t>-0,72%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7,84%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1,95%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1237589860"/>
                  </a:ext>
                </a:extLst>
              </a:tr>
              <a:tr h="214794">
                <a:tc>
                  <a:txBody>
                    <a:bodyPr/>
                    <a:lstStyle/>
                    <a:p>
                      <a:pPr algn="l" fontAlgn="b"/>
                      <a:r>
                        <a:rPr lang="pt-BR" sz="1100" b="1" i="0" u="none" strike="noStrike" dirty="0">
                          <a:solidFill>
                            <a:srgbClr val="000000"/>
                          </a:solidFill>
                          <a:effectLst/>
                          <a:latin typeface="Calibri" panose="020F0502020204030204" pitchFamily="34" charset="0"/>
                        </a:rPr>
                        <a:t>InfrequentCustomers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6,97%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5,00%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1,97%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6,68%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0,38%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D81"/>
                    </a:solidFill>
                  </a:tcPr>
                </a:tc>
                <a:extLst>
                  <a:ext uri="{0D108BD9-81ED-4DB2-BD59-A6C34878D82A}">
                    <a16:rowId xmlns:a16="http://schemas.microsoft.com/office/drawing/2014/main" val="49054327"/>
                  </a:ext>
                </a:extLst>
              </a:tr>
              <a:tr h="214794">
                <a:tc>
                  <a:txBody>
                    <a:bodyPr/>
                    <a:lstStyle/>
                    <a:p>
                      <a:pPr algn="l" fontAlgn="b"/>
                      <a:r>
                        <a:rPr lang="pt-BR" sz="1100" b="1" i="0" u="none" strike="noStrike" dirty="0">
                          <a:solidFill>
                            <a:srgbClr val="000000"/>
                          </a:solidFill>
                          <a:effectLst/>
                          <a:latin typeface="Calibri" panose="020F0502020204030204" pitchFamily="34" charset="0"/>
                        </a:rPr>
                        <a:t>NewCustomers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5,22%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E283"/>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6,71%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5,92%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0,79%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extLst>
                  <a:ext uri="{0D108BD9-81ED-4DB2-BD59-A6C34878D82A}">
                    <a16:rowId xmlns:a16="http://schemas.microsoft.com/office/drawing/2014/main" val="1604067963"/>
                  </a:ext>
                </a:extLst>
              </a:tr>
              <a:tr h="214794">
                <a:tc>
                  <a:txBody>
                    <a:bodyPr/>
                    <a:lstStyle/>
                    <a:p>
                      <a:pPr algn="l" fontAlgn="b"/>
                      <a:r>
                        <a:rPr lang="pt-BR" sz="1100" b="1" i="0" u="none" strike="noStrike" dirty="0">
                          <a:solidFill>
                            <a:srgbClr val="000000"/>
                          </a:solidFill>
                          <a:effectLst/>
                          <a:latin typeface="Calibri" panose="020F0502020204030204" pitchFamily="34" charset="0"/>
                        </a:rPr>
                        <a:t>PowerShoppers</a:t>
                      </a:r>
                    </a:p>
                  </a:txBody>
                  <a:tcPr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A77"/>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8,47%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0,51%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extLst>
                  <a:ext uri="{0D108BD9-81ED-4DB2-BD59-A6C34878D82A}">
                    <a16:rowId xmlns:a16="http://schemas.microsoft.com/office/drawing/2014/main" val="200803906"/>
                  </a:ext>
                </a:extLst>
              </a:tr>
              <a:tr h="214794">
                <a:tc>
                  <a:txBody>
                    <a:bodyPr/>
                    <a:lstStyle/>
                    <a:p>
                      <a:pPr algn="l" fontAlgn="b"/>
                      <a:r>
                        <a:rPr lang="pt-BR" sz="1100" b="1" i="0" u="none" strike="noStrike" dirty="0">
                          <a:solidFill>
                            <a:srgbClr val="000000"/>
                          </a:solidFill>
                          <a:effectLst/>
                          <a:latin typeface="Calibri" panose="020F0502020204030204" pitchFamily="34" charset="0"/>
                        </a:rPr>
                        <a:t>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7,27%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0,24%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7,76%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7,40%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0,36%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020342550"/>
                  </a:ext>
                </a:extLst>
              </a:tr>
            </a:tbl>
          </a:graphicData>
        </a:graphic>
      </p:graphicFrame>
      <p:sp>
        <p:nvSpPr>
          <p:cNvPr id="29" name="Retângulo 28">
            <a:extLst>
              <a:ext uri="{FF2B5EF4-FFF2-40B4-BE49-F238E27FC236}">
                <a16:creationId xmlns:a16="http://schemas.microsoft.com/office/drawing/2014/main" id="{6ED43817-AAEE-748F-5F88-ED1BC8110556}"/>
              </a:ext>
            </a:extLst>
          </p:cNvPr>
          <p:cNvSpPr/>
          <p:nvPr/>
        </p:nvSpPr>
        <p:spPr>
          <a:xfrm>
            <a:off x="4734560" y="3835400"/>
            <a:ext cx="144272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Retângulo 29">
            <a:extLst>
              <a:ext uri="{FF2B5EF4-FFF2-40B4-BE49-F238E27FC236}">
                <a16:creationId xmlns:a16="http://schemas.microsoft.com/office/drawing/2014/main" id="{7D2C8DA6-1663-649F-387F-F9EA0D0731C4}"/>
              </a:ext>
            </a:extLst>
          </p:cNvPr>
          <p:cNvSpPr/>
          <p:nvPr/>
        </p:nvSpPr>
        <p:spPr>
          <a:xfrm>
            <a:off x="9327605" y="3835400"/>
            <a:ext cx="1391194"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Retângulo 30">
            <a:extLst>
              <a:ext uri="{FF2B5EF4-FFF2-40B4-BE49-F238E27FC236}">
                <a16:creationId xmlns:a16="http://schemas.microsoft.com/office/drawing/2014/main" id="{79607459-9F95-B17D-B9BF-F8ADDA300490}"/>
              </a:ext>
            </a:extLst>
          </p:cNvPr>
          <p:cNvSpPr/>
          <p:nvPr/>
        </p:nvSpPr>
        <p:spPr>
          <a:xfrm>
            <a:off x="4744720" y="5765800"/>
            <a:ext cx="144272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Retângulo 31">
            <a:extLst>
              <a:ext uri="{FF2B5EF4-FFF2-40B4-BE49-F238E27FC236}">
                <a16:creationId xmlns:a16="http://schemas.microsoft.com/office/drawing/2014/main" id="{6F7B77F1-1071-7EC0-BD01-B5D5FAFA3579}"/>
              </a:ext>
            </a:extLst>
          </p:cNvPr>
          <p:cNvSpPr/>
          <p:nvPr/>
        </p:nvSpPr>
        <p:spPr>
          <a:xfrm>
            <a:off x="9337765" y="5765800"/>
            <a:ext cx="1391194"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4" name="CaixaDeTexto 33">
            <a:extLst>
              <a:ext uri="{FF2B5EF4-FFF2-40B4-BE49-F238E27FC236}">
                <a16:creationId xmlns:a16="http://schemas.microsoft.com/office/drawing/2014/main" id="{B24F375F-BB85-8A4E-EAC6-949D42DB7E79}"/>
              </a:ext>
            </a:extLst>
          </p:cNvPr>
          <p:cNvSpPr txBox="1"/>
          <p:nvPr/>
        </p:nvSpPr>
        <p:spPr>
          <a:xfrm>
            <a:off x="6532147" y="6100922"/>
            <a:ext cx="4237452" cy="1200329"/>
          </a:xfrm>
          <a:prstGeom prst="rect">
            <a:avLst/>
          </a:prstGeom>
          <a:noFill/>
        </p:spPr>
        <p:txBody>
          <a:bodyPr wrap="square">
            <a:spAutoFit/>
          </a:bodyPr>
          <a:lstStyle/>
          <a:p>
            <a:r>
              <a:rPr lang="en-US" b="0" i="0" dirty="0">
                <a:solidFill>
                  <a:srgbClr val="374151"/>
                </a:solidFill>
                <a:effectLst/>
                <a:latin typeface="Söhne"/>
              </a:rPr>
              <a:t>Even though there is a margin of error of 1.28% in the comparison of the control group vs. the test group, we have a higher conversion rate in the action groups.</a:t>
            </a:r>
            <a:endParaRPr lang="pt-BR" dirty="0"/>
          </a:p>
        </p:txBody>
      </p:sp>
    </p:spTree>
    <p:extLst>
      <p:ext uri="{BB962C8B-B14F-4D97-AF65-F5344CB8AC3E}">
        <p14:creationId xmlns:p14="http://schemas.microsoft.com/office/powerpoint/2010/main" val="3114223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5"/>
          <p:cNvSpPr>
            <a:spLocks/>
          </p:cNvSpPr>
          <p:nvPr/>
        </p:nvSpPr>
        <p:spPr bwMode="auto">
          <a:xfrm>
            <a:off x="13546137" y="4300538"/>
            <a:ext cx="271463" cy="3471862"/>
          </a:xfrm>
          <a:custGeom>
            <a:avLst/>
            <a:gdLst>
              <a:gd name="T0" fmla="*/ 171 w 171"/>
              <a:gd name="T1" fmla="*/ 2187 h 2187"/>
              <a:gd name="T2" fmla="*/ 0 w 171"/>
              <a:gd name="T3" fmla="*/ 2187 h 2187"/>
              <a:gd name="T4" fmla="*/ 0 w 171"/>
              <a:gd name="T5" fmla="*/ 139 h 2187"/>
              <a:gd name="T6" fmla="*/ 171 w 171"/>
              <a:gd name="T7" fmla="*/ 0 h 2187"/>
              <a:gd name="T8" fmla="*/ 171 w 171"/>
              <a:gd name="T9" fmla="*/ 2187 h 2187"/>
            </a:gdLst>
            <a:ahLst/>
            <a:cxnLst>
              <a:cxn ang="0">
                <a:pos x="T0" y="T1"/>
              </a:cxn>
              <a:cxn ang="0">
                <a:pos x="T2" y="T3"/>
              </a:cxn>
              <a:cxn ang="0">
                <a:pos x="T4" y="T5"/>
              </a:cxn>
              <a:cxn ang="0">
                <a:pos x="T6" y="T7"/>
              </a:cxn>
              <a:cxn ang="0">
                <a:pos x="T8" y="T9"/>
              </a:cxn>
            </a:cxnLst>
            <a:rect l="0" t="0" r="r" b="b"/>
            <a:pathLst>
              <a:path w="171" h="2187">
                <a:moveTo>
                  <a:pt x="171" y="2187"/>
                </a:moveTo>
                <a:lnTo>
                  <a:pt x="0" y="2187"/>
                </a:lnTo>
                <a:lnTo>
                  <a:pt x="0" y="139"/>
                </a:lnTo>
                <a:lnTo>
                  <a:pt x="171" y="0"/>
                </a:lnTo>
                <a:lnTo>
                  <a:pt x="171" y="2187"/>
                </a:lnTo>
                <a:close/>
              </a:path>
            </a:pathLst>
          </a:custGeom>
          <a:solidFill>
            <a:schemeClr val="accent2"/>
          </a:solidFill>
          <a:ln w="3175">
            <a:noFill/>
          </a:ln>
        </p:spPr>
        <p:txBody>
          <a:bodyPr vert="horz" wrap="square" lIns="91440" tIns="45720" rIns="91440" bIns="45720" numCol="1" anchor="t" anchorCtr="0" compatLnSpc="1">
            <a:prstTxWarp prst="textNoShape">
              <a:avLst/>
            </a:prstTxWarp>
          </a:bodyPr>
          <a:lstStyle/>
          <a:p>
            <a:endParaRPr lang="en-GB" dirty="0"/>
          </a:p>
        </p:txBody>
      </p:sp>
      <p:sp>
        <p:nvSpPr>
          <p:cNvPr id="12" name="Chevron 11"/>
          <p:cNvSpPr/>
          <p:nvPr/>
        </p:nvSpPr>
        <p:spPr>
          <a:xfrm rot="5400000">
            <a:off x="2545707" y="-2423488"/>
            <a:ext cx="2152650" cy="7244064"/>
          </a:xfrm>
          <a:prstGeom prst="chevron">
            <a:avLst>
              <a:gd name="adj" fmla="val 22842"/>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lIns="182880" tIns="0" bIns="0" rtlCol="0" anchor="ctr"/>
          <a:lstStyle/>
          <a:p>
            <a:pPr algn="ctr"/>
            <a:r>
              <a:rPr lang="pt-BR" sz="54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Z-test statistic</a:t>
            </a:r>
            <a:endParaRPr lang="en-GB" sz="54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pic>
        <p:nvPicPr>
          <p:cNvPr id="4098" name="Picture 2" descr="Distribuição Normal">
            <a:extLst>
              <a:ext uri="{FF2B5EF4-FFF2-40B4-BE49-F238E27FC236}">
                <a16:creationId xmlns:a16="http://schemas.microsoft.com/office/drawing/2014/main" id="{46D6C723-6AC3-6FDC-560C-F9E553BBF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22" y="1969374"/>
            <a:ext cx="6551678" cy="4250372"/>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CAA9F86F-0B3D-B476-3486-48970C01E373}"/>
              </a:ext>
            </a:extLst>
          </p:cNvPr>
          <p:cNvSpPr txBox="1"/>
          <p:nvPr/>
        </p:nvSpPr>
        <p:spPr>
          <a:xfrm>
            <a:off x="414526" y="6036469"/>
            <a:ext cx="6908800" cy="954107"/>
          </a:xfrm>
          <a:prstGeom prst="rect">
            <a:avLst/>
          </a:prstGeom>
          <a:noFill/>
        </p:spPr>
        <p:txBody>
          <a:bodyPr wrap="square">
            <a:spAutoFit/>
          </a:bodyPr>
          <a:lstStyle/>
          <a:p>
            <a:r>
              <a:rPr lang="en-US" sz="2800" b="1" dirty="0">
                <a:solidFill>
                  <a:srgbClr val="5B2A28"/>
                </a:solidFill>
                <a:latin typeface="Cooper Black" panose="0208090404030B020404" pitchFamily="18" charset="0"/>
              </a:rPr>
              <a:t>Using the z-test to validate if the conversion difference is significant.</a:t>
            </a:r>
            <a:endParaRPr lang="pt-BR" sz="2800" b="1" dirty="0">
              <a:solidFill>
                <a:srgbClr val="5B2A28"/>
              </a:solidFill>
              <a:latin typeface="Cooper Black" panose="0208090404030B020404" pitchFamily="18" charset="0"/>
            </a:endParaRPr>
          </a:p>
        </p:txBody>
      </p:sp>
      <p:sp>
        <p:nvSpPr>
          <p:cNvPr id="4" name="CaixaDeTexto 3">
            <a:extLst>
              <a:ext uri="{FF2B5EF4-FFF2-40B4-BE49-F238E27FC236}">
                <a16:creationId xmlns:a16="http://schemas.microsoft.com/office/drawing/2014/main" id="{483C2F4E-5510-8B74-2CE5-3CB0DC771D09}"/>
              </a:ext>
            </a:extLst>
          </p:cNvPr>
          <p:cNvSpPr txBox="1"/>
          <p:nvPr/>
        </p:nvSpPr>
        <p:spPr>
          <a:xfrm>
            <a:off x="7323326" y="3380427"/>
            <a:ext cx="5284666" cy="646331"/>
          </a:xfrm>
          <a:prstGeom prst="rect">
            <a:avLst/>
          </a:prstGeom>
          <a:noFill/>
        </p:spPr>
        <p:txBody>
          <a:bodyPr wrap="square">
            <a:spAutoFit/>
          </a:bodyPr>
          <a:lstStyle/>
          <a:p>
            <a:r>
              <a:rPr lang="en-US" b="0" i="0" dirty="0">
                <a:solidFill>
                  <a:srgbClr val="374151"/>
                </a:solidFill>
                <a:effectLst/>
                <a:latin typeface="Söhne"/>
              </a:rPr>
              <a:t>Despite having a positive difference between the conversion rates, we need to validate if it is significant!</a:t>
            </a:r>
            <a:endParaRPr lang="pt-BR" dirty="0"/>
          </a:p>
        </p:txBody>
      </p:sp>
    </p:spTree>
    <p:extLst>
      <p:ext uri="{BB962C8B-B14F-4D97-AF65-F5344CB8AC3E}">
        <p14:creationId xmlns:p14="http://schemas.microsoft.com/office/powerpoint/2010/main" val="2769299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64860" y="-615857"/>
            <a:ext cx="10289220" cy="1615528"/>
          </a:xfrm>
        </p:spPr>
        <p:txBody>
          <a:bodyPr/>
          <a:lstStyle/>
          <a:p>
            <a:r>
              <a:rPr lang="en-US" dirty="0"/>
              <a:t>Is this percentage difference significant?</a:t>
            </a:r>
            <a:endParaRPr lang="en-GB" dirty="0"/>
          </a:p>
        </p:txBody>
      </p:sp>
      <p:sp>
        <p:nvSpPr>
          <p:cNvPr id="6" name="CaixaDeTexto 5">
            <a:extLst>
              <a:ext uri="{FF2B5EF4-FFF2-40B4-BE49-F238E27FC236}">
                <a16:creationId xmlns:a16="http://schemas.microsoft.com/office/drawing/2014/main" id="{566387A7-F7EC-12E8-D175-42CC0EEC0912}"/>
              </a:ext>
            </a:extLst>
          </p:cNvPr>
          <p:cNvSpPr txBox="1"/>
          <p:nvPr/>
        </p:nvSpPr>
        <p:spPr>
          <a:xfrm>
            <a:off x="426720" y="1634068"/>
            <a:ext cx="13309600" cy="6247864"/>
          </a:xfrm>
          <a:prstGeom prst="rect">
            <a:avLst/>
          </a:prstGeom>
          <a:noFill/>
        </p:spPr>
        <p:txBody>
          <a:bodyPr wrap="square">
            <a:spAutoFit/>
          </a:bodyPr>
          <a:lstStyle/>
          <a:p>
            <a:pPr algn="l"/>
            <a:r>
              <a:rPr lang="en-US" sz="2000" b="1" i="0" dirty="0">
                <a:solidFill>
                  <a:srgbClr val="374151"/>
                </a:solidFill>
                <a:effectLst/>
                <a:latin typeface="Söhne"/>
              </a:rPr>
              <a:t>Establish the hypotheses:</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1: </a:t>
            </a:r>
          </a:p>
          <a:p>
            <a:pPr algn="l"/>
            <a:r>
              <a:rPr lang="en-US" b="0" i="0" dirty="0">
                <a:solidFill>
                  <a:srgbClr val="374151"/>
                </a:solidFill>
                <a:effectLst/>
                <a:latin typeface="Söhne"/>
              </a:rPr>
              <a:t>Choose a significance level (alpha): Let's say you choose a significance level of 0.05 (or 5%) </a:t>
            </a:r>
          </a:p>
          <a:p>
            <a:pPr algn="l"/>
            <a:r>
              <a:rPr lang="en-US" dirty="0">
                <a:solidFill>
                  <a:srgbClr val="374151"/>
                </a:solidFill>
                <a:latin typeface="Söhne"/>
              </a:rPr>
              <a:t>C</a:t>
            </a:r>
            <a:r>
              <a:rPr lang="en-US" b="0" i="0" dirty="0">
                <a:solidFill>
                  <a:srgbClr val="374151"/>
                </a:solidFill>
                <a:effectLst/>
                <a:latin typeface="Söhne"/>
              </a:rPr>
              <a:t>ritical value for a two-tailed test is </a:t>
            </a:r>
            <a:r>
              <a:rPr lang="en-US" b="1" i="0" dirty="0">
                <a:solidFill>
                  <a:srgbClr val="374151"/>
                </a:solidFill>
                <a:effectLst/>
                <a:latin typeface="Söhne"/>
              </a:rPr>
              <a:t>approximately ±1.96</a:t>
            </a:r>
            <a:r>
              <a:rPr lang="en-US" b="0" i="0" dirty="0">
                <a:solidFill>
                  <a:srgbClr val="374151"/>
                </a:solidFill>
                <a:effectLst/>
                <a:latin typeface="Söhne"/>
              </a:rPr>
              <a:t>.</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2:</a:t>
            </a:r>
          </a:p>
          <a:p>
            <a:pPr algn="l"/>
            <a:r>
              <a:rPr lang="en-US" b="0" i="0" dirty="0">
                <a:solidFill>
                  <a:srgbClr val="374151"/>
                </a:solidFill>
                <a:effectLst/>
                <a:latin typeface="Söhne"/>
              </a:rPr>
              <a:t>Calculate the proportions and combined proportion: </a:t>
            </a:r>
          </a:p>
          <a:p>
            <a:pPr algn="l"/>
            <a:r>
              <a:rPr lang="en-US" b="0" i="0" dirty="0">
                <a:solidFill>
                  <a:srgbClr val="374151"/>
                </a:solidFill>
                <a:effectLst/>
                <a:latin typeface="Söhne"/>
              </a:rPr>
              <a:t>Proportion of group A: p1 = 3646/50.141 = 0.0727 (or 7.27%) </a:t>
            </a:r>
          </a:p>
          <a:p>
            <a:pPr algn="l"/>
            <a:r>
              <a:rPr lang="en-US" b="0" i="0" dirty="0">
                <a:solidFill>
                  <a:srgbClr val="374151"/>
                </a:solidFill>
                <a:effectLst/>
                <a:latin typeface="Söhne"/>
              </a:rPr>
              <a:t>Proportion of group B: p2 = 357/5.080 = 0.0702 (or 7.02%) </a:t>
            </a:r>
          </a:p>
          <a:p>
            <a:pPr algn="l"/>
            <a:r>
              <a:rPr lang="en-US" b="0" i="0" dirty="0">
                <a:solidFill>
                  <a:srgbClr val="374151"/>
                </a:solidFill>
                <a:effectLst/>
                <a:latin typeface="Söhne"/>
              </a:rPr>
              <a:t>Combined proportion: p = (p1 * n1 + p2 * n2) / (n1 + n2) p = (0.0727 * 50,141 + 0.0702 * 5080) / (50.141 + 5.080) = 0.0724 (or 7.24%).</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3:</a:t>
            </a:r>
          </a:p>
          <a:p>
            <a:pPr algn="l"/>
            <a:r>
              <a:rPr lang="en-US" b="0" i="0" dirty="0">
                <a:solidFill>
                  <a:srgbClr val="374151"/>
                </a:solidFill>
                <a:effectLst/>
                <a:latin typeface="Söhne"/>
              </a:rPr>
              <a:t>Calculate the estimated standard deviation: Estimated standard deviation: sqrt(p * (1 - p) * (1/n1 + 1/n2)) Estimated standard deviation = sqrt(0.0724 * (1 - 0.0724) * (1/50,141 + 1/5080)) = 0.00381.</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4: </a:t>
            </a:r>
          </a:p>
          <a:p>
            <a:pPr algn="l"/>
            <a:r>
              <a:rPr lang="en-US" b="0" i="0" dirty="0">
                <a:solidFill>
                  <a:srgbClr val="374151"/>
                </a:solidFill>
                <a:effectLst/>
                <a:latin typeface="Söhne"/>
              </a:rPr>
              <a:t>Calculate the Z-test statistic: Z-test statistic: </a:t>
            </a:r>
          </a:p>
          <a:p>
            <a:pPr algn="l"/>
            <a:r>
              <a:rPr lang="en-US" b="0" i="0" dirty="0">
                <a:solidFill>
                  <a:srgbClr val="374151"/>
                </a:solidFill>
                <a:effectLst/>
                <a:latin typeface="Söhne"/>
              </a:rPr>
              <a:t>(p1 - p2) / estimated standard deviation Z-test statistic = (0.0724 - 0.0702) / 0.00381 = </a:t>
            </a:r>
            <a:r>
              <a:rPr lang="pt-BR" sz="2400" b="1" i="0" dirty="0">
                <a:solidFill>
                  <a:srgbClr val="FF0000"/>
                </a:solidFill>
                <a:effectLst/>
                <a:latin typeface="Söhne"/>
              </a:rPr>
              <a:t>0.5774</a:t>
            </a:r>
            <a:r>
              <a:rPr lang="pt-BR" sz="2400" b="1" i="0" dirty="0">
                <a:solidFill>
                  <a:srgbClr val="374151"/>
                </a:solidFill>
                <a:effectLst/>
                <a:latin typeface="Söhne"/>
              </a:rPr>
              <a:t> </a:t>
            </a:r>
          </a:p>
          <a:p>
            <a:pPr algn="l"/>
            <a:r>
              <a:rPr lang="pt-BR" sz="2400" b="1" i="0" dirty="0">
                <a:solidFill>
                  <a:srgbClr val="374151"/>
                </a:solidFill>
                <a:effectLst/>
                <a:latin typeface="Söhne"/>
              </a:rPr>
              <a:t>(</a:t>
            </a:r>
            <a:r>
              <a:rPr lang="en-US" b="1" i="0" dirty="0">
                <a:solidFill>
                  <a:srgbClr val="374151"/>
                </a:solidFill>
                <a:effectLst/>
                <a:latin typeface="Söhne"/>
              </a:rPr>
              <a:t>Based solely on the provided value of </a:t>
            </a:r>
            <a:r>
              <a:rPr lang="en-US" b="1" dirty="0">
                <a:solidFill>
                  <a:srgbClr val="FF0000"/>
                </a:solidFill>
                <a:latin typeface="Söhne"/>
              </a:rPr>
              <a:t>-1.96&lt; </a:t>
            </a:r>
            <a:r>
              <a:rPr lang="en-US" b="1" i="0" dirty="0">
                <a:solidFill>
                  <a:srgbClr val="FF0000"/>
                </a:solidFill>
                <a:effectLst/>
                <a:latin typeface="Söhne"/>
              </a:rPr>
              <a:t>0.5774 &lt;1.96</a:t>
            </a:r>
            <a:r>
              <a:rPr lang="en-US" b="1" i="0" dirty="0">
                <a:solidFill>
                  <a:srgbClr val="374151"/>
                </a:solidFill>
                <a:effectLst/>
                <a:latin typeface="Söhne"/>
              </a:rPr>
              <a:t>, we can conclude that the result would not be statistically significant, assuming a significance level of 0.05).</a:t>
            </a:r>
            <a:endParaRPr lang="pt-BR" b="1" i="0" dirty="0">
              <a:solidFill>
                <a:srgbClr val="374151"/>
              </a:solidFill>
              <a:effectLst/>
              <a:latin typeface="Söhne"/>
            </a:endParaRPr>
          </a:p>
        </p:txBody>
      </p:sp>
      <p:graphicFrame>
        <p:nvGraphicFramePr>
          <p:cNvPr id="17" name="Tabela 16">
            <a:extLst>
              <a:ext uri="{FF2B5EF4-FFF2-40B4-BE49-F238E27FC236}">
                <a16:creationId xmlns:a16="http://schemas.microsoft.com/office/drawing/2014/main" id="{32B71FAF-D464-3654-FBD9-ECBE09E5F47C}"/>
              </a:ext>
            </a:extLst>
          </p:cNvPr>
          <p:cNvGraphicFramePr>
            <a:graphicFrameLocks noGrp="1"/>
          </p:cNvGraphicFramePr>
          <p:nvPr>
            <p:extLst>
              <p:ext uri="{D42A27DB-BD31-4B8C-83A1-F6EECF244321}">
                <p14:modId xmlns:p14="http://schemas.microsoft.com/office/powerpoint/2010/main" val="2783890213"/>
              </p:ext>
            </p:extLst>
          </p:nvPr>
        </p:nvGraphicFramePr>
        <p:xfrm>
          <a:off x="9287193" y="719668"/>
          <a:ext cx="3949700" cy="914400"/>
        </p:xfrm>
        <a:graphic>
          <a:graphicData uri="http://schemas.openxmlformats.org/drawingml/2006/table">
            <a:tbl>
              <a:tblPr/>
              <a:tblGrid>
                <a:gridCol w="1535994">
                  <a:extLst>
                    <a:ext uri="{9D8B030D-6E8A-4147-A177-3AD203B41FA5}">
                      <a16:colId xmlns:a16="http://schemas.microsoft.com/office/drawing/2014/main" val="3386837301"/>
                    </a:ext>
                  </a:extLst>
                </a:gridCol>
                <a:gridCol w="1158579">
                  <a:extLst>
                    <a:ext uri="{9D8B030D-6E8A-4147-A177-3AD203B41FA5}">
                      <a16:colId xmlns:a16="http://schemas.microsoft.com/office/drawing/2014/main" val="3112158706"/>
                    </a:ext>
                  </a:extLst>
                </a:gridCol>
                <a:gridCol w="1255127">
                  <a:extLst>
                    <a:ext uri="{9D8B030D-6E8A-4147-A177-3AD203B41FA5}">
                      <a16:colId xmlns:a16="http://schemas.microsoft.com/office/drawing/2014/main" val="2905620658"/>
                    </a:ext>
                  </a:extLst>
                </a:gridCol>
              </a:tblGrid>
              <a:tr h="182880">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gridSpan="2">
                  <a:txBody>
                    <a:bodyPr/>
                    <a:lstStyle/>
                    <a:p>
                      <a:pPr algn="ctr" fontAlgn="b"/>
                      <a:r>
                        <a:rPr lang="pt-BR" sz="1100" b="1" i="0" u="none" strike="noStrike" dirty="0">
                          <a:solidFill>
                            <a:srgbClr val="000000"/>
                          </a:solidFill>
                          <a:effectLst/>
                          <a:latin typeface="Calibri" panose="020F0502020204030204" pitchFamily="34" charset="0"/>
                        </a:rPr>
                        <a:t>99%OFF</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3626128741"/>
                  </a:ext>
                </a:extLst>
              </a:tr>
              <a:tr h="182880">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1" i="0" u="none" strike="noStrike" dirty="0">
                          <a:solidFill>
                            <a:srgbClr val="000000"/>
                          </a:solidFill>
                          <a:effectLst/>
                          <a:latin typeface="Calibri" panose="020F0502020204030204" pitchFamily="34" charset="0"/>
                        </a:rPr>
                        <a:t>Sum (ID Costumer)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1" i="0" u="none" strike="noStrike" dirty="0">
                          <a:solidFill>
                            <a:srgbClr val="000000"/>
                          </a:solidFill>
                          <a:effectLst/>
                          <a:latin typeface="Calibri" panose="020F0502020204030204" pitchFamily="34" charset="0"/>
                        </a:rPr>
                        <a:t>Sum (ID Sales)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7050137"/>
                  </a:ext>
                </a:extLst>
              </a:tr>
              <a:tr h="182880">
                <a:tc>
                  <a:txBody>
                    <a:bodyPr/>
                    <a:lstStyle/>
                    <a:p>
                      <a:pPr algn="ctr" fontAlgn="b"/>
                      <a:r>
                        <a:rPr lang="pt-BR" sz="1100" b="1" i="0" u="none" strike="noStrike" dirty="0">
                          <a:solidFill>
                            <a:srgbClr val="000000"/>
                          </a:solidFill>
                          <a:effectLst/>
                          <a:latin typeface="Calibri" panose="020F0502020204030204" pitchFamily="34" charset="0"/>
                        </a:rPr>
                        <a:t>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50141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3646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4837334"/>
                  </a:ext>
                </a:extLst>
              </a:tr>
              <a:tr h="182880">
                <a:tc>
                  <a:txBody>
                    <a:bodyPr/>
                    <a:lstStyle/>
                    <a:p>
                      <a:pPr algn="ctr" fontAlgn="b"/>
                      <a:r>
                        <a:rPr lang="pt-BR" sz="1100" b="1" i="0" u="none" strike="noStrike" dirty="0">
                          <a:solidFill>
                            <a:srgbClr val="000000"/>
                          </a:solidFill>
                          <a:effectLst/>
                          <a:latin typeface="Calibri" panose="020F0502020204030204" pitchFamily="34" charset="0"/>
                        </a:rPr>
                        <a:t>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5080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357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8054769"/>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55221</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4003</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77038419"/>
                  </a:ext>
                </a:extLst>
              </a:tr>
            </a:tbl>
          </a:graphicData>
        </a:graphic>
      </p:graphicFrame>
      <p:pic>
        <p:nvPicPr>
          <p:cNvPr id="2" name="Imagem 1">
            <a:extLst>
              <a:ext uri="{FF2B5EF4-FFF2-40B4-BE49-F238E27FC236}">
                <a16:creationId xmlns:a16="http://schemas.microsoft.com/office/drawing/2014/main" id="{5A683E6B-39E5-D790-72F7-DBBBCE4C5063}"/>
              </a:ext>
            </a:extLst>
          </p:cNvPr>
          <p:cNvPicPr>
            <a:picLocks noChangeAspect="1"/>
          </p:cNvPicPr>
          <p:nvPr/>
        </p:nvPicPr>
        <p:blipFill rotWithShape="1">
          <a:blip r:embed="rId2"/>
          <a:srcRect l="21029" t="39346" r="41882" b="18302"/>
          <a:stretch/>
        </p:blipFill>
        <p:spPr>
          <a:xfrm>
            <a:off x="9744570" y="1914071"/>
            <a:ext cx="3275646" cy="2104077"/>
          </a:xfrm>
          <a:prstGeom prst="rect">
            <a:avLst/>
          </a:prstGeom>
        </p:spPr>
      </p:pic>
    </p:spTree>
    <p:extLst>
      <p:ext uri="{BB962C8B-B14F-4D97-AF65-F5344CB8AC3E}">
        <p14:creationId xmlns:p14="http://schemas.microsoft.com/office/powerpoint/2010/main" val="2911351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64860" y="-615857"/>
            <a:ext cx="10289220" cy="1615528"/>
          </a:xfrm>
        </p:spPr>
        <p:txBody>
          <a:bodyPr/>
          <a:lstStyle/>
          <a:p>
            <a:r>
              <a:rPr lang="en-US" dirty="0"/>
              <a:t>Is this percentage difference significant?</a:t>
            </a:r>
            <a:endParaRPr lang="en-GB" dirty="0"/>
          </a:p>
        </p:txBody>
      </p:sp>
      <p:sp>
        <p:nvSpPr>
          <p:cNvPr id="6" name="CaixaDeTexto 5">
            <a:extLst>
              <a:ext uri="{FF2B5EF4-FFF2-40B4-BE49-F238E27FC236}">
                <a16:creationId xmlns:a16="http://schemas.microsoft.com/office/drawing/2014/main" id="{566387A7-F7EC-12E8-D175-42CC0EEC0912}"/>
              </a:ext>
            </a:extLst>
          </p:cNvPr>
          <p:cNvSpPr txBox="1"/>
          <p:nvPr/>
        </p:nvSpPr>
        <p:spPr>
          <a:xfrm>
            <a:off x="315597" y="1446440"/>
            <a:ext cx="13502003" cy="6524863"/>
          </a:xfrm>
          <a:prstGeom prst="rect">
            <a:avLst/>
          </a:prstGeom>
          <a:noFill/>
        </p:spPr>
        <p:txBody>
          <a:bodyPr wrap="square">
            <a:spAutoFit/>
          </a:bodyPr>
          <a:lstStyle/>
          <a:p>
            <a:pPr algn="l"/>
            <a:r>
              <a:rPr lang="en-US" sz="2000" b="1" i="0" dirty="0">
                <a:solidFill>
                  <a:srgbClr val="374151"/>
                </a:solidFill>
                <a:effectLst/>
                <a:latin typeface="Söhne"/>
              </a:rPr>
              <a:t>Establish the hypotheses:</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1: </a:t>
            </a:r>
          </a:p>
          <a:p>
            <a:pPr algn="l"/>
            <a:r>
              <a:rPr lang="en-US" b="0" i="0" dirty="0">
                <a:solidFill>
                  <a:srgbClr val="374151"/>
                </a:solidFill>
                <a:effectLst/>
                <a:latin typeface="Söhne"/>
              </a:rPr>
              <a:t>Choose a significance level (alpha): Let's say you choose a significance level of 0.05 (or 5%).</a:t>
            </a:r>
          </a:p>
          <a:p>
            <a:r>
              <a:rPr lang="en-US" dirty="0">
                <a:solidFill>
                  <a:srgbClr val="374151"/>
                </a:solidFill>
                <a:latin typeface="Söhne"/>
              </a:rPr>
              <a:t>C</a:t>
            </a:r>
            <a:r>
              <a:rPr lang="en-US" b="0" i="0" dirty="0">
                <a:solidFill>
                  <a:srgbClr val="374151"/>
                </a:solidFill>
                <a:effectLst/>
                <a:latin typeface="Söhne"/>
              </a:rPr>
              <a:t>ritical value for a two-tailed test is </a:t>
            </a:r>
            <a:r>
              <a:rPr lang="en-US" b="1" i="0" dirty="0">
                <a:solidFill>
                  <a:srgbClr val="374151"/>
                </a:solidFill>
                <a:effectLst/>
                <a:latin typeface="Söhne"/>
              </a:rPr>
              <a:t>approximately ±1.96</a:t>
            </a:r>
            <a:r>
              <a:rPr lang="en-US" b="0" i="0" dirty="0">
                <a:solidFill>
                  <a:srgbClr val="374151"/>
                </a:solidFill>
                <a:effectLst/>
                <a:latin typeface="Söhne"/>
              </a:rPr>
              <a:t>.</a:t>
            </a:r>
          </a:p>
          <a:p>
            <a:pPr algn="l"/>
            <a:endParaRPr lang="en-US" b="0" i="0" dirty="0">
              <a:solidFill>
                <a:srgbClr val="374151"/>
              </a:solidFill>
              <a:effectLst/>
              <a:latin typeface="Söhne"/>
            </a:endParaRPr>
          </a:p>
          <a:p>
            <a:pPr algn="l"/>
            <a:endParaRPr lang="en-US" b="0" i="0" dirty="0">
              <a:solidFill>
                <a:srgbClr val="374151"/>
              </a:solidFill>
              <a:effectLst/>
              <a:latin typeface="Söhne"/>
            </a:endParaRPr>
          </a:p>
          <a:p>
            <a:pPr algn="l"/>
            <a:r>
              <a:rPr lang="en-US" sz="2000" b="1" i="0" dirty="0">
                <a:solidFill>
                  <a:srgbClr val="374151"/>
                </a:solidFill>
                <a:effectLst/>
                <a:latin typeface="Söhne"/>
              </a:rPr>
              <a:t>Step 2: </a:t>
            </a:r>
          </a:p>
          <a:p>
            <a:pPr algn="l"/>
            <a:r>
              <a:rPr lang="en-US" b="0" i="0" dirty="0">
                <a:solidFill>
                  <a:srgbClr val="374151"/>
                </a:solidFill>
                <a:effectLst/>
                <a:latin typeface="Söhne"/>
              </a:rPr>
              <a:t>Calculate the proportions and combined proportion:</a:t>
            </a:r>
          </a:p>
          <a:p>
            <a:pPr algn="l"/>
            <a:r>
              <a:rPr lang="en-US" b="0" i="0" dirty="0">
                <a:solidFill>
                  <a:srgbClr val="374151"/>
                </a:solidFill>
                <a:effectLst/>
                <a:latin typeface="Söhne"/>
              </a:rPr>
              <a:t>Proportion of group A: p1 = 3867/49.859 = 0.0775 (or 7.75%).</a:t>
            </a:r>
          </a:p>
          <a:p>
            <a:pPr algn="l"/>
            <a:r>
              <a:rPr lang="en-US" b="0" i="0" dirty="0">
                <a:solidFill>
                  <a:srgbClr val="374151"/>
                </a:solidFill>
                <a:effectLst/>
                <a:latin typeface="Söhne"/>
              </a:rPr>
              <a:t>Proportion of group B: p2 = 364/4.920 = 0.07398 (or 7.398%)</a:t>
            </a:r>
          </a:p>
          <a:p>
            <a:pPr algn="l"/>
            <a:r>
              <a:rPr lang="en-US" b="0" i="0" dirty="0">
                <a:solidFill>
                  <a:srgbClr val="374151"/>
                </a:solidFill>
                <a:effectLst/>
                <a:latin typeface="Söhne"/>
              </a:rPr>
              <a:t>Combined proportion: p = (p1 * n1 + p2 * n2) / (n1 + n2) p = (0.0775 * 49.859 + 0.07398 * 4.920) / (49.859 + 4.920) = 0.07499 (or 7.499%).</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3: </a:t>
            </a:r>
            <a:endParaRPr lang="en-US" b="1" i="0" dirty="0">
              <a:solidFill>
                <a:srgbClr val="374151"/>
              </a:solidFill>
              <a:effectLst/>
              <a:latin typeface="Söhne"/>
            </a:endParaRPr>
          </a:p>
          <a:p>
            <a:pPr algn="l"/>
            <a:r>
              <a:rPr lang="en-US" b="0" i="0" dirty="0">
                <a:solidFill>
                  <a:srgbClr val="374151"/>
                </a:solidFill>
                <a:effectLst/>
                <a:latin typeface="Söhne"/>
              </a:rPr>
              <a:t>Calculate the estimated standard deviation: Estimated standard deviation: sqrt(p * (1 - p) * (1/n1 + 1/n2)) Estimated standard deviation = sqrt(0.07499 * (1 - 0.07499) * (1/49.859 + 1/4.920)) = 0.003936.</a:t>
            </a:r>
          </a:p>
          <a:p>
            <a:pPr algn="l"/>
            <a:endParaRPr lang="en-US" b="0" i="0" dirty="0">
              <a:solidFill>
                <a:srgbClr val="374151"/>
              </a:solidFill>
              <a:effectLst/>
              <a:latin typeface="Söhne"/>
            </a:endParaRPr>
          </a:p>
          <a:p>
            <a:pPr algn="l"/>
            <a:r>
              <a:rPr lang="en-US" sz="2000" b="1" i="0" dirty="0">
                <a:solidFill>
                  <a:srgbClr val="374151"/>
                </a:solidFill>
                <a:effectLst/>
                <a:latin typeface="Söhne"/>
              </a:rPr>
              <a:t>Step 4: </a:t>
            </a:r>
          </a:p>
          <a:p>
            <a:pPr algn="l"/>
            <a:r>
              <a:rPr lang="en-US" b="0" i="0" dirty="0">
                <a:solidFill>
                  <a:srgbClr val="374151"/>
                </a:solidFill>
                <a:effectLst/>
                <a:latin typeface="Söhne"/>
              </a:rPr>
              <a:t>Calculate the Z-test statistic: Z-test statistic: </a:t>
            </a:r>
          </a:p>
          <a:p>
            <a:pPr algn="l"/>
            <a:r>
              <a:rPr lang="en-US" b="0" i="0" dirty="0">
                <a:solidFill>
                  <a:srgbClr val="374151"/>
                </a:solidFill>
                <a:effectLst/>
                <a:latin typeface="Söhne"/>
              </a:rPr>
              <a:t>(p1 - p2) / estimated standard deviation Z-test statistic = (0.0775 - 0.07398) / 0.003936 = </a:t>
            </a:r>
            <a:r>
              <a:rPr lang="en-US" sz="2400" b="1" i="0" dirty="0">
                <a:solidFill>
                  <a:srgbClr val="FF0000"/>
                </a:solidFill>
                <a:effectLst/>
                <a:latin typeface="Söhne"/>
              </a:rPr>
              <a:t>0.8943 </a:t>
            </a:r>
          </a:p>
          <a:p>
            <a:pPr algn="l"/>
            <a:r>
              <a:rPr lang="pt-BR" sz="2400" b="1" i="0" dirty="0">
                <a:solidFill>
                  <a:srgbClr val="374151"/>
                </a:solidFill>
                <a:effectLst/>
                <a:latin typeface="Söhne"/>
              </a:rPr>
              <a:t>(</a:t>
            </a:r>
            <a:r>
              <a:rPr lang="en-US" b="1" i="0" dirty="0">
                <a:solidFill>
                  <a:srgbClr val="374151"/>
                </a:solidFill>
                <a:effectLst/>
                <a:latin typeface="Söhne"/>
              </a:rPr>
              <a:t>Based solely on the provided value of</a:t>
            </a:r>
            <a:r>
              <a:rPr lang="en-US" b="1" i="0" dirty="0">
                <a:solidFill>
                  <a:srgbClr val="FF0000"/>
                </a:solidFill>
                <a:effectLst/>
                <a:latin typeface="Söhne"/>
              </a:rPr>
              <a:t> </a:t>
            </a:r>
            <a:r>
              <a:rPr lang="en-US" b="1" dirty="0">
                <a:solidFill>
                  <a:srgbClr val="FF0000"/>
                </a:solidFill>
                <a:latin typeface="Söhne"/>
              </a:rPr>
              <a:t>-1,96&lt; </a:t>
            </a:r>
            <a:r>
              <a:rPr lang="en-US" b="1" i="0" dirty="0">
                <a:solidFill>
                  <a:srgbClr val="FF0000"/>
                </a:solidFill>
                <a:effectLst/>
                <a:latin typeface="Söhne"/>
              </a:rPr>
              <a:t>0.8943 &lt;1,96</a:t>
            </a:r>
            <a:r>
              <a:rPr lang="en-US" b="1" i="0" dirty="0">
                <a:solidFill>
                  <a:srgbClr val="374151"/>
                </a:solidFill>
                <a:effectLst/>
                <a:latin typeface="Söhne"/>
              </a:rPr>
              <a:t>, we can conclude that the result would not be statistically significant, assuming a significance level of 0.05).</a:t>
            </a:r>
            <a:endParaRPr lang="pt-BR" b="1" i="0" dirty="0">
              <a:solidFill>
                <a:srgbClr val="374151"/>
              </a:solidFill>
              <a:effectLst/>
              <a:latin typeface="Söhne"/>
            </a:endParaRPr>
          </a:p>
        </p:txBody>
      </p:sp>
      <p:graphicFrame>
        <p:nvGraphicFramePr>
          <p:cNvPr id="3" name="Tabela 2">
            <a:extLst>
              <a:ext uri="{FF2B5EF4-FFF2-40B4-BE49-F238E27FC236}">
                <a16:creationId xmlns:a16="http://schemas.microsoft.com/office/drawing/2014/main" id="{BE071110-0BEE-42B3-1131-9944A46D5F3A}"/>
              </a:ext>
            </a:extLst>
          </p:cNvPr>
          <p:cNvGraphicFramePr>
            <a:graphicFrameLocks noGrp="1"/>
          </p:cNvGraphicFramePr>
          <p:nvPr>
            <p:extLst>
              <p:ext uri="{D42A27DB-BD31-4B8C-83A1-F6EECF244321}">
                <p14:modId xmlns:p14="http://schemas.microsoft.com/office/powerpoint/2010/main" val="1335563942"/>
              </p:ext>
            </p:extLst>
          </p:nvPr>
        </p:nvGraphicFramePr>
        <p:xfrm>
          <a:off x="9274493" y="712350"/>
          <a:ext cx="3949700" cy="914400"/>
        </p:xfrm>
        <a:graphic>
          <a:graphicData uri="http://schemas.openxmlformats.org/drawingml/2006/table">
            <a:tbl>
              <a:tblPr/>
              <a:tblGrid>
                <a:gridCol w="1535994">
                  <a:extLst>
                    <a:ext uri="{9D8B030D-6E8A-4147-A177-3AD203B41FA5}">
                      <a16:colId xmlns:a16="http://schemas.microsoft.com/office/drawing/2014/main" val="2214822891"/>
                    </a:ext>
                  </a:extLst>
                </a:gridCol>
                <a:gridCol w="1158579">
                  <a:extLst>
                    <a:ext uri="{9D8B030D-6E8A-4147-A177-3AD203B41FA5}">
                      <a16:colId xmlns:a16="http://schemas.microsoft.com/office/drawing/2014/main" val="1574847821"/>
                    </a:ext>
                  </a:extLst>
                </a:gridCol>
                <a:gridCol w="1255127">
                  <a:extLst>
                    <a:ext uri="{9D8B030D-6E8A-4147-A177-3AD203B41FA5}">
                      <a16:colId xmlns:a16="http://schemas.microsoft.com/office/drawing/2014/main" val="1414248220"/>
                    </a:ext>
                  </a:extLst>
                </a:gridCol>
              </a:tblGrid>
              <a:tr h="182880">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gridSpan="2">
                  <a:txBody>
                    <a:bodyPr/>
                    <a:lstStyle/>
                    <a:p>
                      <a:pPr algn="ctr" fontAlgn="b"/>
                      <a:r>
                        <a:rPr lang="pt-BR" sz="1100" b="1" i="0" u="none" strike="noStrike" dirty="0">
                          <a:solidFill>
                            <a:srgbClr val="000000"/>
                          </a:solidFill>
                          <a:effectLst/>
                          <a:latin typeface="Calibri" panose="020F0502020204030204" pitchFamily="34" charset="0"/>
                        </a:rPr>
                        <a:t>BOGO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578189172"/>
                  </a:ext>
                </a:extLst>
              </a:tr>
              <a:tr h="182880">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1" i="0" u="none" strike="noStrike" dirty="0">
                          <a:solidFill>
                            <a:srgbClr val="000000"/>
                          </a:solidFill>
                          <a:effectLst/>
                          <a:latin typeface="Calibri" panose="020F0502020204030204" pitchFamily="34" charset="0"/>
                        </a:rPr>
                        <a:t>Sum (ID Costumer)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1" i="0" u="none" strike="noStrike" dirty="0">
                          <a:solidFill>
                            <a:srgbClr val="000000"/>
                          </a:solidFill>
                          <a:effectLst/>
                          <a:latin typeface="Calibri" panose="020F0502020204030204" pitchFamily="34" charset="0"/>
                        </a:rPr>
                        <a:t>Sum (ID Sales)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6360916"/>
                  </a:ext>
                </a:extLst>
              </a:tr>
              <a:tr h="182880">
                <a:tc>
                  <a:txBody>
                    <a:bodyPr/>
                    <a:lstStyle/>
                    <a:p>
                      <a:pPr algn="ctr" fontAlgn="b"/>
                      <a:r>
                        <a:rPr lang="pt-BR" sz="1100" b="1" i="0" u="none" strike="noStrike" dirty="0">
                          <a:solidFill>
                            <a:srgbClr val="000000"/>
                          </a:solidFill>
                          <a:effectLst/>
                          <a:latin typeface="Calibri" panose="020F0502020204030204" pitchFamily="34" charset="0"/>
                        </a:rPr>
                        <a:t>Test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49859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3867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3398331"/>
                  </a:ext>
                </a:extLst>
              </a:tr>
              <a:tr h="182880">
                <a:tc>
                  <a:txBody>
                    <a:bodyPr/>
                    <a:lstStyle/>
                    <a:p>
                      <a:pPr algn="ctr" fontAlgn="b"/>
                      <a:r>
                        <a:rPr lang="pt-BR" sz="1100" b="1" i="0" u="none" strike="noStrike" dirty="0">
                          <a:solidFill>
                            <a:srgbClr val="000000"/>
                          </a:solidFill>
                          <a:effectLst/>
                          <a:latin typeface="Calibri" panose="020F0502020204030204" pitchFamily="34" charset="0"/>
                        </a:rPr>
                        <a:t>Control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4920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364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8324457"/>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54779</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4231</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51636129"/>
                  </a:ext>
                </a:extLst>
              </a:tr>
            </a:tbl>
          </a:graphicData>
        </a:graphic>
      </p:graphicFrame>
      <p:pic>
        <p:nvPicPr>
          <p:cNvPr id="2" name="Imagem 1">
            <a:extLst>
              <a:ext uri="{FF2B5EF4-FFF2-40B4-BE49-F238E27FC236}">
                <a16:creationId xmlns:a16="http://schemas.microsoft.com/office/drawing/2014/main" id="{40B40CC4-BB64-0663-0B4C-DC5900436AD6}"/>
              </a:ext>
            </a:extLst>
          </p:cNvPr>
          <p:cNvPicPr>
            <a:picLocks noChangeAspect="1"/>
          </p:cNvPicPr>
          <p:nvPr/>
        </p:nvPicPr>
        <p:blipFill rotWithShape="1">
          <a:blip r:embed="rId2"/>
          <a:srcRect l="31397" t="38482" r="31514" b="19234"/>
          <a:stretch/>
        </p:blipFill>
        <p:spPr>
          <a:xfrm>
            <a:off x="9532118" y="1902918"/>
            <a:ext cx="3281038" cy="2104077"/>
          </a:xfrm>
          <a:prstGeom prst="rect">
            <a:avLst/>
          </a:prstGeom>
        </p:spPr>
      </p:pic>
    </p:spTree>
    <p:extLst>
      <p:ext uri="{BB962C8B-B14F-4D97-AF65-F5344CB8AC3E}">
        <p14:creationId xmlns:p14="http://schemas.microsoft.com/office/powerpoint/2010/main" val="75407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229271" y="1059317"/>
            <a:ext cx="3266022"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Convertion Rate</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54699" y="315006"/>
            <a:ext cx="12506001" cy="637188"/>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Did a particular version perform better for a particular set of customers?  If so, what are the marketing implications of this result? If so, what are the marketing implications of this result?</a:t>
            </a:r>
            <a:endParaRPr lang="en-GB" sz="2000" dirty="0"/>
          </a:p>
        </p:txBody>
      </p:sp>
      <p:graphicFrame>
        <p:nvGraphicFramePr>
          <p:cNvPr id="2" name="Gráfico 1">
            <a:extLst>
              <a:ext uri="{FF2B5EF4-FFF2-40B4-BE49-F238E27FC236}">
                <a16:creationId xmlns:a16="http://schemas.microsoft.com/office/drawing/2014/main" id="{0A32349C-FE4E-4AF6-AB84-24B5D509EDEA}"/>
              </a:ext>
            </a:extLst>
          </p:cNvPr>
          <p:cNvGraphicFramePr>
            <a:graphicFrameLocks/>
          </p:cNvGraphicFramePr>
          <p:nvPr>
            <p:extLst>
              <p:ext uri="{D42A27DB-BD31-4B8C-83A1-F6EECF244321}">
                <p14:modId xmlns:p14="http://schemas.microsoft.com/office/powerpoint/2010/main" val="710882221"/>
              </p:ext>
            </p:extLst>
          </p:nvPr>
        </p:nvGraphicFramePr>
        <p:xfrm>
          <a:off x="595525" y="1655059"/>
          <a:ext cx="6008473" cy="236278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Gráfico 2">
            <a:extLst>
              <a:ext uri="{FF2B5EF4-FFF2-40B4-BE49-F238E27FC236}">
                <a16:creationId xmlns:a16="http://schemas.microsoft.com/office/drawing/2014/main" id="{54AA09A8-4B68-4D1A-9FBB-182666C00E3B}"/>
              </a:ext>
            </a:extLst>
          </p:cNvPr>
          <p:cNvGraphicFramePr>
            <a:graphicFrameLocks/>
          </p:cNvGraphicFramePr>
          <p:nvPr>
            <p:extLst>
              <p:ext uri="{D42A27DB-BD31-4B8C-83A1-F6EECF244321}">
                <p14:modId xmlns:p14="http://schemas.microsoft.com/office/powerpoint/2010/main" val="3502048355"/>
              </p:ext>
            </p:extLst>
          </p:nvPr>
        </p:nvGraphicFramePr>
        <p:xfrm>
          <a:off x="7317129" y="1312091"/>
          <a:ext cx="5486400" cy="275683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Gráfico 4">
            <a:extLst>
              <a:ext uri="{FF2B5EF4-FFF2-40B4-BE49-F238E27FC236}">
                <a16:creationId xmlns:a16="http://schemas.microsoft.com/office/drawing/2014/main" id="{D8A678B5-BB74-1132-2B03-B56885005BFC}"/>
              </a:ext>
            </a:extLst>
          </p:cNvPr>
          <p:cNvGraphicFramePr>
            <a:graphicFrameLocks/>
          </p:cNvGraphicFramePr>
          <p:nvPr>
            <p:extLst>
              <p:ext uri="{D42A27DB-BD31-4B8C-83A1-F6EECF244321}">
                <p14:modId xmlns:p14="http://schemas.microsoft.com/office/powerpoint/2010/main" val="1189341347"/>
              </p:ext>
            </p:extLst>
          </p:nvPr>
        </p:nvGraphicFramePr>
        <p:xfrm>
          <a:off x="556896" y="4754880"/>
          <a:ext cx="5876795" cy="235732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Gráfico 5">
            <a:extLst>
              <a:ext uri="{FF2B5EF4-FFF2-40B4-BE49-F238E27FC236}">
                <a16:creationId xmlns:a16="http://schemas.microsoft.com/office/drawing/2014/main" id="{8BEC0792-8220-C0AB-0659-31F4F82F7C6E}"/>
              </a:ext>
            </a:extLst>
          </p:cNvPr>
          <p:cNvGraphicFramePr>
            <a:graphicFrameLocks/>
          </p:cNvGraphicFramePr>
          <p:nvPr>
            <p:extLst>
              <p:ext uri="{D42A27DB-BD31-4B8C-83A1-F6EECF244321}">
                <p14:modId xmlns:p14="http://schemas.microsoft.com/office/powerpoint/2010/main" val="1054216949"/>
              </p:ext>
            </p:extLst>
          </p:nvPr>
        </p:nvGraphicFramePr>
        <p:xfrm>
          <a:off x="7420660" y="4763041"/>
          <a:ext cx="5382869" cy="2349164"/>
        </p:xfrm>
        <a:graphic>
          <a:graphicData uri="http://schemas.openxmlformats.org/drawingml/2006/chart">
            <c:chart xmlns:c="http://schemas.openxmlformats.org/drawingml/2006/chart" xmlns:r="http://schemas.openxmlformats.org/officeDocument/2006/relationships" r:id="rId7"/>
          </a:graphicData>
        </a:graphic>
      </p:graphicFrame>
      <p:cxnSp>
        <p:nvCxnSpPr>
          <p:cNvPr id="12" name="Conector reto 11">
            <a:extLst>
              <a:ext uri="{FF2B5EF4-FFF2-40B4-BE49-F238E27FC236}">
                <a16:creationId xmlns:a16="http://schemas.microsoft.com/office/drawing/2014/main" id="{F9C5F866-A8CE-6E8F-198A-9417F2AB43F5}"/>
              </a:ext>
            </a:extLst>
          </p:cNvPr>
          <p:cNvCxnSpPr/>
          <p:nvPr/>
        </p:nvCxnSpPr>
        <p:spPr>
          <a:xfrm>
            <a:off x="7012330" y="1254440"/>
            <a:ext cx="0" cy="64008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C28F570-9B06-5800-C16D-755B51F3D3AA}"/>
              </a:ext>
            </a:extLst>
          </p:cNvPr>
          <p:cNvCxnSpPr>
            <a:cxnSpLocks/>
          </p:cNvCxnSpPr>
          <p:nvPr/>
        </p:nvCxnSpPr>
        <p:spPr>
          <a:xfrm>
            <a:off x="315597" y="4673600"/>
            <a:ext cx="1294510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Elipse 15">
            <a:extLst>
              <a:ext uri="{FF2B5EF4-FFF2-40B4-BE49-F238E27FC236}">
                <a16:creationId xmlns:a16="http://schemas.microsoft.com/office/drawing/2014/main" id="{385C8AE8-0DED-4621-7F28-A07D82A72EEA}"/>
              </a:ext>
            </a:extLst>
          </p:cNvPr>
          <p:cNvSpPr/>
          <p:nvPr/>
        </p:nvSpPr>
        <p:spPr>
          <a:xfrm>
            <a:off x="3525773" y="2150724"/>
            <a:ext cx="582916" cy="523234"/>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Elipse 17">
            <a:extLst>
              <a:ext uri="{FF2B5EF4-FFF2-40B4-BE49-F238E27FC236}">
                <a16:creationId xmlns:a16="http://schemas.microsoft.com/office/drawing/2014/main" id="{6272C9B4-E59D-7711-E911-D92649F69CF0}"/>
              </a:ext>
            </a:extLst>
          </p:cNvPr>
          <p:cNvSpPr/>
          <p:nvPr/>
        </p:nvSpPr>
        <p:spPr>
          <a:xfrm>
            <a:off x="12023912" y="1699446"/>
            <a:ext cx="582916" cy="523234"/>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Elipse 18">
            <a:extLst>
              <a:ext uri="{FF2B5EF4-FFF2-40B4-BE49-F238E27FC236}">
                <a16:creationId xmlns:a16="http://schemas.microsoft.com/office/drawing/2014/main" id="{D1543C64-9DBD-7C40-DE0D-2D9AA4924F65}"/>
              </a:ext>
            </a:extLst>
          </p:cNvPr>
          <p:cNvSpPr/>
          <p:nvPr/>
        </p:nvSpPr>
        <p:spPr>
          <a:xfrm>
            <a:off x="3372506" y="5014523"/>
            <a:ext cx="736183" cy="62966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Elipse 19">
            <a:extLst>
              <a:ext uri="{FF2B5EF4-FFF2-40B4-BE49-F238E27FC236}">
                <a16:creationId xmlns:a16="http://schemas.microsoft.com/office/drawing/2014/main" id="{C8E98847-15A1-4317-F316-D98AFD76E95A}"/>
              </a:ext>
            </a:extLst>
          </p:cNvPr>
          <p:cNvSpPr/>
          <p:nvPr/>
        </p:nvSpPr>
        <p:spPr>
          <a:xfrm>
            <a:off x="9001760" y="4779970"/>
            <a:ext cx="812800" cy="71076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CaixaDeTexto 21">
            <a:extLst>
              <a:ext uri="{FF2B5EF4-FFF2-40B4-BE49-F238E27FC236}">
                <a16:creationId xmlns:a16="http://schemas.microsoft.com/office/drawing/2014/main" id="{41558C63-8DBA-C889-C393-76DFE2DB44AB}"/>
              </a:ext>
            </a:extLst>
          </p:cNvPr>
          <p:cNvSpPr txBox="1"/>
          <p:nvPr/>
        </p:nvSpPr>
        <p:spPr>
          <a:xfrm>
            <a:off x="362831" y="3897447"/>
            <a:ext cx="6908800" cy="646331"/>
          </a:xfrm>
          <a:prstGeom prst="rect">
            <a:avLst/>
          </a:prstGeom>
          <a:noFill/>
        </p:spPr>
        <p:txBody>
          <a:bodyPr wrap="square">
            <a:spAutoFit/>
          </a:bodyPr>
          <a:lstStyle/>
          <a:p>
            <a:r>
              <a:rPr lang="en-US" i="0" dirty="0">
                <a:solidFill>
                  <a:srgbClr val="374151"/>
                </a:solidFill>
                <a:effectLst/>
                <a:latin typeface="Söhne"/>
              </a:rPr>
              <a:t>For the 99%OFF campaign, the </a:t>
            </a:r>
            <a:r>
              <a:rPr lang="en-US" b="1" i="0" dirty="0">
                <a:solidFill>
                  <a:srgbClr val="374151"/>
                </a:solidFill>
                <a:effectLst/>
                <a:latin typeface="Söhne"/>
              </a:rPr>
              <a:t>NormalFamilies </a:t>
            </a:r>
          </a:p>
          <a:p>
            <a:r>
              <a:rPr lang="en-US" i="0" dirty="0">
                <a:solidFill>
                  <a:srgbClr val="374151"/>
                </a:solidFill>
                <a:effectLst/>
                <a:latin typeface="Söhne"/>
              </a:rPr>
              <a:t>Profile had the highest conversion rate.</a:t>
            </a:r>
            <a:endParaRPr lang="pt-BR" dirty="0"/>
          </a:p>
        </p:txBody>
      </p:sp>
      <p:sp>
        <p:nvSpPr>
          <p:cNvPr id="24" name="CaixaDeTexto 23">
            <a:extLst>
              <a:ext uri="{FF2B5EF4-FFF2-40B4-BE49-F238E27FC236}">
                <a16:creationId xmlns:a16="http://schemas.microsoft.com/office/drawing/2014/main" id="{31878BD5-34E1-EFB0-0161-8888600F1F5C}"/>
              </a:ext>
            </a:extLst>
          </p:cNvPr>
          <p:cNvSpPr txBox="1"/>
          <p:nvPr/>
        </p:nvSpPr>
        <p:spPr>
          <a:xfrm>
            <a:off x="7379767" y="3901269"/>
            <a:ext cx="6908800" cy="646331"/>
          </a:xfrm>
          <a:prstGeom prst="rect">
            <a:avLst/>
          </a:prstGeom>
          <a:noFill/>
        </p:spPr>
        <p:txBody>
          <a:bodyPr wrap="square">
            <a:spAutoFit/>
          </a:bodyPr>
          <a:lstStyle/>
          <a:p>
            <a:r>
              <a:rPr lang="en-US" i="0" dirty="0">
                <a:solidFill>
                  <a:srgbClr val="374151"/>
                </a:solidFill>
                <a:effectLst/>
                <a:latin typeface="Söhne"/>
              </a:rPr>
              <a:t>For the </a:t>
            </a:r>
            <a:r>
              <a:rPr lang="en-US" dirty="0">
                <a:solidFill>
                  <a:srgbClr val="374151"/>
                </a:solidFill>
                <a:latin typeface="Söhne"/>
              </a:rPr>
              <a:t>BOGO</a:t>
            </a:r>
            <a:r>
              <a:rPr lang="en-US" i="0" dirty="0">
                <a:solidFill>
                  <a:srgbClr val="374151"/>
                </a:solidFill>
                <a:effectLst/>
                <a:latin typeface="Söhne"/>
              </a:rPr>
              <a:t> campaign, the </a:t>
            </a:r>
            <a:r>
              <a:rPr lang="en-US" b="1" i="0" dirty="0">
                <a:solidFill>
                  <a:srgbClr val="374151"/>
                </a:solidFill>
                <a:effectLst/>
                <a:latin typeface="Söhne"/>
              </a:rPr>
              <a:t>Rich&amp;Richer </a:t>
            </a:r>
          </a:p>
          <a:p>
            <a:r>
              <a:rPr lang="en-US" i="0" dirty="0">
                <a:solidFill>
                  <a:srgbClr val="374151"/>
                </a:solidFill>
                <a:effectLst/>
                <a:latin typeface="Söhne"/>
              </a:rPr>
              <a:t>Profile had the highest conversion rate.</a:t>
            </a:r>
            <a:endParaRPr lang="pt-BR" dirty="0"/>
          </a:p>
        </p:txBody>
      </p:sp>
      <p:sp>
        <p:nvSpPr>
          <p:cNvPr id="27" name="CaixaDeTexto 26">
            <a:extLst>
              <a:ext uri="{FF2B5EF4-FFF2-40B4-BE49-F238E27FC236}">
                <a16:creationId xmlns:a16="http://schemas.microsoft.com/office/drawing/2014/main" id="{962201FB-6CEC-9A3A-1AB7-674B6E22CE89}"/>
              </a:ext>
            </a:extLst>
          </p:cNvPr>
          <p:cNvSpPr txBox="1"/>
          <p:nvPr/>
        </p:nvSpPr>
        <p:spPr>
          <a:xfrm>
            <a:off x="515231" y="7044297"/>
            <a:ext cx="6908800" cy="646331"/>
          </a:xfrm>
          <a:prstGeom prst="rect">
            <a:avLst/>
          </a:prstGeom>
          <a:noFill/>
        </p:spPr>
        <p:txBody>
          <a:bodyPr wrap="square">
            <a:spAutoFit/>
          </a:bodyPr>
          <a:lstStyle/>
          <a:p>
            <a:r>
              <a:rPr lang="en-US" i="0" dirty="0">
                <a:solidFill>
                  <a:srgbClr val="374151"/>
                </a:solidFill>
                <a:effectLst/>
                <a:latin typeface="Söhne"/>
              </a:rPr>
              <a:t>For the 99%OFF campaign, the </a:t>
            </a:r>
            <a:r>
              <a:rPr lang="en-US" b="1" i="0" dirty="0">
                <a:solidFill>
                  <a:srgbClr val="374151"/>
                </a:solidFill>
                <a:effectLst/>
                <a:latin typeface="Söhne"/>
              </a:rPr>
              <a:t>InfrequentCustomers</a:t>
            </a:r>
          </a:p>
          <a:p>
            <a:r>
              <a:rPr lang="en-US" i="0" dirty="0">
                <a:solidFill>
                  <a:srgbClr val="374151"/>
                </a:solidFill>
                <a:effectLst/>
                <a:latin typeface="Söhne"/>
              </a:rPr>
              <a:t>Profile had the highest conversion rate.</a:t>
            </a:r>
            <a:endParaRPr lang="pt-BR" dirty="0"/>
          </a:p>
        </p:txBody>
      </p:sp>
      <p:sp>
        <p:nvSpPr>
          <p:cNvPr id="33" name="CaixaDeTexto 32">
            <a:extLst>
              <a:ext uri="{FF2B5EF4-FFF2-40B4-BE49-F238E27FC236}">
                <a16:creationId xmlns:a16="http://schemas.microsoft.com/office/drawing/2014/main" id="{7BCD783C-5096-510F-530B-443DF08CE965}"/>
              </a:ext>
            </a:extLst>
          </p:cNvPr>
          <p:cNvSpPr txBox="1"/>
          <p:nvPr/>
        </p:nvSpPr>
        <p:spPr>
          <a:xfrm>
            <a:off x="7532167" y="7027799"/>
            <a:ext cx="6908800" cy="646331"/>
          </a:xfrm>
          <a:prstGeom prst="rect">
            <a:avLst/>
          </a:prstGeom>
          <a:noFill/>
        </p:spPr>
        <p:txBody>
          <a:bodyPr wrap="square">
            <a:spAutoFit/>
          </a:bodyPr>
          <a:lstStyle/>
          <a:p>
            <a:r>
              <a:rPr lang="en-US" i="0" dirty="0">
                <a:solidFill>
                  <a:srgbClr val="374151"/>
                </a:solidFill>
                <a:effectLst/>
                <a:latin typeface="Söhne"/>
              </a:rPr>
              <a:t>For the </a:t>
            </a:r>
            <a:r>
              <a:rPr lang="en-US" dirty="0">
                <a:solidFill>
                  <a:srgbClr val="374151"/>
                </a:solidFill>
                <a:latin typeface="Söhne"/>
              </a:rPr>
              <a:t>BOGO</a:t>
            </a:r>
            <a:r>
              <a:rPr lang="en-US" i="0" dirty="0">
                <a:solidFill>
                  <a:srgbClr val="374151"/>
                </a:solidFill>
                <a:effectLst/>
                <a:latin typeface="Söhne"/>
              </a:rPr>
              <a:t> campaign, the </a:t>
            </a:r>
            <a:r>
              <a:rPr lang="en-US" b="1" i="0" dirty="0">
                <a:solidFill>
                  <a:srgbClr val="374151"/>
                </a:solidFill>
                <a:effectLst/>
                <a:latin typeface="Söhne"/>
              </a:rPr>
              <a:t>EliteCustomers</a:t>
            </a:r>
          </a:p>
          <a:p>
            <a:r>
              <a:rPr lang="en-US" i="0" dirty="0">
                <a:solidFill>
                  <a:srgbClr val="374151"/>
                </a:solidFill>
                <a:effectLst/>
                <a:latin typeface="Söhne"/>
              </a:rPr>
              <a:t>Profile had the highest conversion rate.</a:t>
            </a:r>
            <a:endParaRPr lang="pt-BR" dirty="0"/>
          </a:p>
        </p:txBody>
      </p:sp>
    </p:spTree>
    <p:extLst>
      <p:ext uri="{BB962C8B-B14F-4D97-AF65-F5344CB8AC3E}">
        <p14:creationId xmlns:p14="http://schemas.microsoft.com/office/powerpoint/2010/main" val="1237519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125015"/>
            <a:ext cx="13817600" cy="34000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p:cNvSpPr txBox="1"/>
          <p:nvPr/>
        </p:nvSpPr>
        <p:spPr>
          <a:xfrm>
            <a:off x="1363518" y="2893833"/>
            <a:ext cx="4991561" cy="337047"/>
          </a:xfrm>
          <a:prstGeom prst="rect">
            <a:avLst/>
          </a:prstGeom>
          <a:noFill/>
        </p:spPr>
        <p:txBody>
          <a:bodyPr wrap="square" lIns="0" tIns="0" rIns="0" bIns="0" rtlCol="0">
            <a:noAutofit/>
          </a:bodyPr>
          <a:lstStyle/>
          <a:p>
            <a:pPr>
              <a:lnSpc>
                <a:spcPts val="3400"/>
              </a:lnSpc>
            </a:pPr>
            <a:r>
              <a:rPr lang="pt-BR" sz="3600" spc="1080" dirty="0">
                <a:solidFill>
                  <a:schemeClr val="accent3"/>
                </a:solidFill>
                <a:latin typeface="Open Sans Extrabold" panose="020B0906030804020204" pitchFamily="34" charset="0"/>
                <a:ea typeface="Open Sans Extrabold" panose="020B0906030804020204" pitchFamily="34" charset="0"/>
                <a:cs typeface="Open Sans Extrabold" panose="020B0906030804020204" pitchFamily="34" charset="0"/>
              </a:rPr>
              <a:t>Versions</a:t>
            </a:r>
            <a:endParaRPr lang="en-GB" sz="3600" spc="1080" dirty="0">
              <a:solidFill>
                <a:schemeClr val="accent3"/>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9" name="TextBox 8"/>
          <p:cNvSpPr txBox="1"/>
          <p:nvPr/>
        </p:nvSpPr>
        <p:spPr>
          <a:xfrm>
            <a:off x="1363518" y="3461542"/>
            <a:ext cx="3848101" cy="1523171"/>
          </a:xfrm>
          <a:prstGeom prst="rect">
            <a:avLst/>
          </a:prstGeom>
          <a:noFill/>
        </p:spPr>
        <p:txBody>
          <a:bodyPr wrap="square" rtlCol="0">
            <a:noAutofit/>
          </a:bodyPr>
          <a:lstStyle/>
          <a:p>
            <a:pPr>
              <a:lnSpc>
                <a:spcPct val="130000"/>
              </a:lnSpc>
            </a:pPr>
            <a:r>
              <a:rPr lang="en-US" sz="1600" b="1" dirty="0">
                <a:solidFill>
                  <a:schemeClr val="bg1"/>
                </a:solidFill>
              </a:rPr>
              <a:t>A very relevant idea would be to handle the design of the images more focused on the audience that had better performance</a:t>
            </a:r>
            <a:endParaRPr lang="en-GB" sz="1600" b="1" dirty="0">
              <a:solidFill>
                <a:schemeClr val="bg1"/>
              </a:solidFill>
            </a:endParaRPr>
          </a:p>
        </p:txBody>
      </p:sp>
      <p:sp>
        <p:nvSpPr>
          <p:cNvPr id="7" name="Balão de Fala: Oval 6">
            <a:extLst>
              <a:ext uri="{FF2B5EF4-FFF2-40B4-BE49-F238E27FC236}">
                <a16:creationId xmlns:a16="http://schemas.microsoft.com/office/drawing/2014/main" id="{E9254626-A6AA-EEAD-F9D5-7E82145A4947}"/>
              </a:ext>
            </a:extLst>
          </p:cNvPr>
          <p:cNvSpPr/>
          <p:nvPr/>
        </p:nvSpPr>
        <p:spPr>
          <a:xfrm>
            <a:off x="7665720" y="164979"/>
            <a:ext cx="3931920" cy="1780771"/>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CaixaDeTexto 28">
            <a:extLst>
              <a:ext uri="{FF2B5EF4-FFF2-40B4-BE49-F238E27FC236}">
                <a16:creationId xmlns:a16="http://schemas.microsoft.com/office/drawing/2014/main" id="{13CB689F-A39D-22F8-04FA-64B12D73C4B1}"/>
              </a:ext>
            </a:extLst>
          </p:cNvPr>
          <p:cNvSpPr txBox="1"/>
          <p:nvPr/>
        </p:nvSpPr>
        <p:spPr>
          <a:xfrm>
            <a:off x="8061854" y="569597"/>
            <a:ext cx="3252814" cy="923330"/>
          </a:xfrm>
          <a:prstGeom prst="rect">
            <a:avLst/>
          </a:prstGeom>
          <a:noFill/>
        </p:spPr>
        <p:txBody>
          <a:bodyPr wrap="none" rtlCol="0">
            <a:spAutoFit/>
          </a:bodyPr>
          <a:lstStyle/>
          <a:p>
            <a:r>
              <a:rPr lang="en-US" b="1" dirty="0">
                <a:solidFill>
                  <a:schemeClr val="bg1"/>
                </a:solidFill>
              </a:rPr>
              <a:t>The 99%OFF campaign had</a:t>
            </a:r>
          </a:p>
          <a:p>
            <a:r>
              <a:rPr lang="en-US" b="1" dirty="0">
                <a:solidFill>
                  <a:schemeClr val="bg1"/>
                </a:solidFill>
              </a:rPr>
              <a:t>a greater impact on</a:t>
            </a:r>
          </a:p>
          <a:p>
            <a:r>
              <a:rPr lang="en-US" b="1" dirty="0">
                <a:solidFill>
                  <a:schemeClr val="bg1"/>
                </a:solidFill>
              </a:rPr>
              <a:t> lower-income consumers.</a:t>
            </a:r>
            <a:endParaRPr lang="pt-BR" b="1" dirty="0">
              <a:solidFill>
                <a:schemeClr val="bg1"/>
              </a:solidFill>
            </a:endParaRPr>
          </a:p>
        </p:txBody>
      </p:sp>
      <p:sp>
        <p:nvSpPr>
          <p:cNvPr id="38" name="Balão de Fala: Oval 37">
            <a:extLst>
              <a:ext uri="{FF2B5EF4-FFF2-40B4-BE49-F238E27FC236}">
                <a16:creationId xmlns:a16="http://schemas.microsoft.com/office/drawing/2014/main" id="{5B9C6D17-7D79-45B4-568C-51FAEF3C76E1}"/>
              </a:ext>
            </a:extLst>
          </p:cNvPr>
          <p:cNvSpPr/>
          <p:nvPr/>
        </p:nvSpPr>
        <p:spPr>
          <a:xfrm flipV="1">
            <a:off x="8970380" y="5513458"/>
            <a:ext cx="4649099" cy="1674419"/>
          </a:xfrm>
          <a:prstGeom prst="wedgeEllipseCallout">
            <a:avLst>
              <a:gd name="adj1" fmla="val 6287"/>
              <a:gd name="adj2" fmla="val 665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CBE8EF88-8337-1FA7-D36E-E062C14DA126}"/>
              </a:ext>
            </a:extLst>
          </p:cNvPr>
          <p:cNvSpPr txBox="1"/>
          <p:nvPr/>
        </p:nvSpPr>
        <p:spPr>
          <a:xfrm>
            <a:off x="9707021" y="5826542"/>
            <a:ext cx="3233578" cy="923330"/>
          </a:xfrm>
          <a:prstGeom prst="rect">
            <a:avLst/>
          </a:prstGeom>
          <a:noFill/>
        </p:spPr>
        <p:txBody>
          <a:bodyPr wrap="none" rtlCol="0">
            <a:spAutoFit/>
          </a:bodyPr>
          <a:lstStyle/>
          <a:p>
            <a:r>
              <a:rPr lang="en-US" b="1" dirty="0">
                <a:solidFill>
                  <a:schemeClr val="bg1"/>
                </a:solidFill>
              </a:rPr>
              <a:t>The BOGO campaign had a</a:t>
            </a:r>
          </a:p>
          <a:p>
            <a:r>
              <a:rPr lang="en-US" b="1" dirty="0">
                <a:solidFill>
                  <a:schemeClr val="bg1"/>
                </a:solidFill>
              </a:rPr>
              <a:t>greater impact on </a:t>
            </a:r>
          </a:p>
          <a:p>
            <a:r>
              <a:rPr lang="en-US" b="1" dirty="0">
                <a:solidFill>
                  <a:schemeClr val="bg1"/>
                </a:solidFill>
              </a:rPr>
              <a:t>higher-income consumers</a:t>
            </a:r>
            <a:endParaRPr lang="pt-BR" b="1" dirty="0">
              <a:solidFill>
                <a:schemeClr val="bg1"/>
              </a:solidFill>
            </a:endParaRPr>
          </a:p>
        </p:txBody>
      </p:sp>
      <p:sp>
        <p:nvSpPr>
          <p:cNvPr id="3" name="Freeform 5">
            <a:extLst>
              <a:ext uri="{FF2B5EF4-FFF2-40B4-BE49-F238E27FC236}">
                <a16:creationId xmlns:a16="http://schemas.microsoft.com/office/drawing/2014/main" id="{42321B82-B44B-9E0C-031B-DD106BF39B35}"/>
              </a:ext>
            </a:extLst>
          </p:cNvPr>
          <p:cNvSpPr>
            <a:spLocks/>
          </p:cNvSpPr>
          <p:nvPr/>
        </p:nvSpPr>
        <p:spPr bwMode="auto">
          <a:xfrm>
            <a:off x="346077" y="8667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Freeform 6">
            <a:extLst>
              <a:ext uri="{FF2B5EF4-FFF2-40B4-BE49-F238E27FC236}">
                <a16:creationId xmlns:a16="http://schemas.microsoft.com/office/drawing/2014/main" id="{4BA2EBCD-E8DD-190A-9D1B-F89E51A68055}"/>
              </a:ext>
            </a:extLst>
          </p:cNvPr>
          <p:cNvSpPr>
            <a:spLocks/>
          </p:cNvSpPr>
          <p:nvPr/>
        </p:nvSpPr>
        <p:spPr bwMode="auto">
          <a:xfrm>
            <a:off x="138114" y="8667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 name="Title 21">
            <a:extLst>
              <a:ext uri="{FF2B5EF4-FFF2-40B4-BE49-F238E27FC236}">
                <a16:creationId xmlns:a16="http://schemas.microsoft.com/office/drawing/2014/main" id="{65794329-CAC2-72CE-663E-328612417C6D}"/>
              </a:ext>
            </a:extLst>
          </p:cNvPr>
          <p:cNvSpPr txBox="1">
            <a:spLocks/>
          </p:cNvSpPr>
          <p:nvPr/>
        </p:nvSpPr>
        <p:spPr>
          <a:xfrm>
            <a:off x="744540" y="164979"/>
            <a:ext cx="6396904" cy="1615528"/>
          </a:xfrm>
          <a:prstGeom prst="rect">
            <a:avLst/>
          </a:prstGeom>
        </p:spPr>
        <p:txBody>
          <a:bodyPr/>
          <a:lstStyle>
            <a:lvl1pPr algn="l" defTabSz="1036290" rtl="0" eaLnBrk="1" latinLnBrk="0" hangingPunct="1">
              <a:lnSpc>
                <a:spcPct val="90000"/>
              </a:lnSpc>
              <a:spcBef>
                <a:spcPct val="0"/>
              </a:spcBef>
              <a:buNone/>
              <a:defRPr sz="4987" kern="1200">
                <a:solidFill>
                  <a:schemeClr val="tx1"/>
                </a:solidFill>
                <a:latin typeface="+mj-lt"/>
                <a:ea typeface="+mj-ea"/>
                <a:cs typeface="+mj-cs"/>
              </a:defRPr>
            </a:lvl1pPr>
          </a:lstStyle>
          <a:p>
            <a:r>
              <a:rPr lang="en-US" sz="2800" b="1"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What changes can be made to this marketing campaign in order to improve future results?</a:t>
            </a:r>
            <a:endParaRPr lang="en-GB" sz="2800" b="1"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pic>
        <p:nvPicPr>
          <p:cNvPr id="10" name="Imagem 9">
            <a:extLst>
              <a:ext uri="{FF2B5EF4-FFF2-40B4-BE49-F238E27FC236}">
                <a16:creationId xmlns:a16="http://schemas.microsoft.com/office/drawing/2014/main" id="{430F206C-1FB0-982F-56C4-78EA2C634897}"/>
              </a:ext>
            </a:extLst>
          </p:cNvPr>
          <p:cNvPicPr>
            <a:picLocks noChangeAspect="1"/>
          </p:cNvPicPr>
          <p:nvPr/>
        </p:nvPicPr>
        <p:blipFill rotWithShape="1">
          <a:blip r:embed="rId2"/>
          <a:srcRect l="21029" t="39346" r="41882" b="18302"/>
          <a:stretch/>
        </p:blipFill>
        <p:spPr>
          <a:xfrm>
            <a:off x="6431375" y="2604742"/>
            <a:ext cx="3275646" cy="2104077"/>
          </a:xfrm>
          <a:prstGeom prst="rect">
            <a:avLst/>
          </a:prstGeom>
        </p:spPr>
      </p:pic>
      <p:pic>
        <p:nvPicPr>
          <p:cNvPr id="11" name="Imagem 10">
            <a:extLst>
              <a:ext uri="{FF2B5EF4-FFF2-40B4-BE49-F238E27FC236}">
                <a16:creationId xmlns:a16="http://schemas.microsoft.com/office/drawing/2014/main" id="{E7434DCC-C27F-3830-7437-0F034E62556C}"/>
              </a:ext>
            </a:extLst>
          </p:cNvPr>
          <p:cNvPicPr>
            <a:picLocks noChangeAspect="1"/>
          </p:cNvPicPr>
          <p:nvPr/>
        </p:nvPicPr>
        <p:blipFill rotWithShape="1">
          <a:blip r:embed="rId3"/>
          <a:srcRect l="31397" t="38482" r="31514" b="19234"/>
          <a:stretch/>
        </p:blipFill>
        <p:spPr>
          <a:xfrm>
            <a:off x="10216502" y="2623288"/>
            <a:ext cx="3281038" cy="2104077"/>
          </a:xfrm>
          <a:prstGeom prst="rect">
            <a:avLst/>
          </a:prstGeom>
        </p:spPr>
      </p:pic>
    </p:spTree>
    <p:extLst>
      <p:ext uri="{BB962C8B-B14F-4D97-AF65-F5344CB8AC3E}">
        <p14:creationId xmlns:p14="http://schemas.microsoft.com/office/powerpoint/2010/main" val="3130947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46077" y="8667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38114" y="8667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95340" y="-119501"/>
            <a:ext cx="6396904" cy="1615528"/>
          </a:xfrm>
        </p:spPr>
        <p:txBody>
          <a:bodyPr/>
          <a:lstStyle/>
          <a:p>
            <a:r>
              <a:rPr lang="en-US" sz="2800" dirty="0"/>
              <a:t>What changes can be made to this marketing campaign in order to improve future results?</a:t>
            </a:r>
            <a:endParaRPr lang="en-GB" sz="2800" dirty="0"/>
          </a:p>
        </p:txBody>
      </p:sp>
      <p:sp>
        <p:nvSpPr>
          <p:cNvPr id="19" name="Freeform 18"/>
          <p:cNvSpPr/>
          <p:nvPr/>
        </p:nvSpPr>
        <p:spPr>
          <a:xfrm>
            <a:off x="9641255" y="0"/>
            <a:ext cx="4176345" cy="7772400"/>
          </a:xfrm>
          <a:custGeom>
            <a:avLst/>
            <a:gdLst>
              <a:gd name="connsiteX0" fmla="*/ 2395837 w 4176345"/>
              <a:gd name="connsiteY0" fmla="*/ 0 h 7772400"/>
              <a:gd name="connsiteX1" fmla="*/ 4176345 w 4176345"/>
              <a:gd name="connsiteY1" fmla="*/ 0 h 7772400"/>
              <a:gd name="connsiteX2" fmla="*/ 4176345 w 4176345"/>
              <a:gd name="connsiteY2" fmla="*/ 7772400 h 7772400"/>
              <a:gd name="connsiteX3" fmla="*/ 1087695 w 4176345"/>
              <a:gd name="connsiteY3" fmla="*/ 7772400 h 7772400"/>
              <a:gd name="connsiteX4" fmla="*/ 2092569 w 4176345"/>
              <a:gd name="connsiteY4" fmla="*/ 0 h 7772400"/>
              <a:gd name="connsiteX5" fmla="*/ 2316725 w 4176345"/>
              <a:gd name="connsiteY5" fmla="*/ 0 h 7772400"/>
              <a:gd name="connsiteX6" fmla="*/ 378072 w 4176345"/>
              <a:gd name="connsiteY6" fmla="*/ 7772400 h 7772400"/>
              <a:gd name="connsiteX7" fmla="*/ 0 w 4176345"/>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6345" h="7772400">
                <a:moveTo>
                  <a:pt x="2395837" y="0"/>
                </a:moveTo>
                <a:lnTo>
                  <a:pt x="4176345" y="0"/>
                </a:lnTo>
                <a:lnTo>
                  <a:pt x="4176345" y="7772400"/>
                </a:lnTo>
                <a:lnTo>
                  <a:pt x="1087695" y="7772400"/>
                </a:lnTo>
                <a:close/>
                <a:moveTo>
                  <a:pt x="2092569" y="0"/>
                </a:moveTo>
                <a:lnTo>
                  <a:pt x="2316725" y="0"/>
                </a:lnTo>
                <a:lnTo>
                  <a:pt x="378072" y="7772400"/>
                </a:lnTo>
                <a:lnTo>
                  <a:pt x="0" y="7772400"/>
                </a:lnTo>
                <a:close/>
              </a:path>
            </a:pathLst>
          </a:custGeom>
          <a:blipFill dpi="0" rotWithShape="1">
            <a:blip r:embed="rId4">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4" name="Imagem 13">
            <a:extLst>
              <a:ext uri="{FF2B5EF4-FFF2-40B4-BE49-F238E27FC236}">
                <a16:creationId xmlns:a16="http://schemas.microsoft.com/office/drawing/2014/main" id="{F8C3E092-AF8D-179D-0EED-45C6962E5423}"/>
              </a:ext>
            </a:extLst>
          </p:cNvPr>
          <p:cNvPicPr>
            <a:picLocks noChangeAspect="1"/>
          </p:cNvPicPr>
          <p:nvPr/>
        </p:nvPicPr>
        <p:blipFill rotWithShape="1">
          <a:blip r:embed="rId5"/>
          <a:srcRect l="21029" t="39346" r="41882" b="18302"/>
          <a:stretch/>
        </p:blipFill>
        <p:spPr>
          <a:xfrm>
            <a:off x="138114" y="1859280"/>
            <a:ext cx="3275646" cy="2104077"/>
          </a:xfrm>
          <a:prstGeom prst="rect">
            <a:avLst/>
          </a:prstGeom>
        </p:spPr>
      </p:pic>
      <p:pic>
        <p:nvPicPr>
          <p:cNvPr id="25" name="Imagem 24">
            <a:extLst>
              <a:ext uri="{FF2B5EF4-FFF2-40B4-BE49-F238E27FC236}">
                <a16:creationId xmlns:a16="http://schemas.microsoft.com/office/drawing/2014/main" id="{E5FFCF4F-29E5-8BF4-60FF-045FC901700C}"/>
              </a:ext>
            </a:extLst>
          </p:cNvPr>
          <p:cNvPicPr>
            <a:picLocks noChangeAspect="1"/>
          </p:cNvPicPr>
          <p:nvPr/>
        </p:nvPicPr>
        <p:blipFill rotWithShape="1">
          <a:blip r:embed="rId6"/>
          <a:srcRect l="8879" t="46165" r="66629" b="22115"/>
          <a:stretch/>
        </p:blipFill>
        <p:spPr>
          <a:xfrm>
            <a:off x="113582" y="4166297"/>
            <a:ext cx="2217574" cy="1615529"/>
          </a:xfrm>
          <a:prstGeom prst="rect">
            <a:avLst/>
          </a:prstGeom>
        </p:spPr>
      </p:pic>
      <p:pic>
        <p:nvPicPr>
          <p:cNvPr id="27" name="Imagem 26">
            <a:extLst>
              <a:ext uri="{FF2B5EF4-FFF2-40B4-BE49-F238E27FC236}">
                <a16:creationId xmlns:a16="http://schemas.microsoft.com/office/drawing/2014/main" id="{A818D396-5F20-5B5A-CA48-96FCC5539324}"/>
              </a:ext>
            </a:extLst>
          </p:cNvPr>
          <p:cNvPicPr>
            <a:picLocks noChangeAspect="1"/>
          </p:cNvPicPr>
          <p:nvPr/>
        </p:nvPicPr>
        <p:blipFill rotWithShape="1">
          <a:blip r:embed="rId7"/>
          <a:srcRect l="37528" t="45655" r="38766" b="30504"/>
          <a:stretch/>
        </p:blipFill>
        <p:spPr>
          <a:xfrm>
            <a:off x="148504" y="5916013"/>
            <a:ext cx="2182652" cy="1234718"/>
          </a:xfrm>
          <a:prstGeom prst="rect">
            <a:avLst/>
          </a:prstGeom>
        </p:spPr>
      </p:pic>
      <p:sp>
        <p:nvSpPr>
          <p:cNvPr id="29" name="CaixaDeTexto 28">
            <a:extLst>
              <a:ext uri="{FF2B5EF4-FFF2-40B4-BE49-F238E27FC236}">
                <a16:creationId xmlns:a16="http://schemas.microsoft.com/office/drawing/2014/main" id="{DA706D01-4BC5-5F37-A16D-8E81BB99A17C}"/>
              </a:ext>
            </a:extLst>
          </p:cNvPr>
          <p:cNvSpPr txBox="1"/>
          <p:nvPr/>
        </p:nvSpPr>
        <p:spPr>
          <a:xfrm>
            <a:off x="3945296" y="3480051"/>
            <a:ext cx="5164423" cy="2585323"/>
          </a:xfrm>
          <a:prstGeom prst="rect">
            <a:avLst/>
          </a:prstGeom>
          <a:noFill/>
        </p:spPr>
        <p:txBody>
          <a:bodyPr wrap="square">
            <a:spAutoFit/>
          </a:bodyPr>
          <a:lstStyle/>
          <a:p>
            <a:r>
              <a:rPr lang="en-US" b="0" i="0" dirty="0">
                <a:solidFill>
                  <a:srgbClr val="374151"/>
                </a:solidFill>
                <a:effectLst/>
                <a:latin typeface="Söhne"/>
              </a:rPr>
              <a:t>When targeting a low-income audience in marketing campaigns, choose </a:t>
            </a:r>
            <a:r>
              <a:rPr lang="en-US" b="1" i="0" dirty="0">
                <a:solidFill>
                  <a:srgbClr val="374151"/>
                </a:solidFill>
                <a:effectLst/>
                <a:latin typeface="Söhne"/>
              </a:rPr>
              <a:t>warm earth tones and </a:t>
            </a:r>
            <a:r>
              <a:rPr lang="en-US" b="1" i="0" dirty="0">
                <a:solidFill>
                  <a:srgbClr val="FFC000"/>
                </a:solidFill>
                <a:effectLst/>
                <a:latin typeface="Söhne"/>
              </a:rPr>
              <a:t>soft orange, </a:t>
            </a:r>
            <a:r>
              <a:rPr lang="en-US" b="1" i="0" dirty="0">
                <a:solidFill>
                  <a:srgbClr val="FFFF00"/>
                </a:solidFill>
                <a:effectLst/>
                <a:latin typeface="Söhne"/>
              </a:rPr>
              <a:t>yellow</a:t>
            </a:r>
            <a:r>
              <a:rPr lang="en-US" b="1" i="0" dirty="0">
                <a:solidFill>
                  <a:srgbClr val="374151"/>
                </a:solidFill>
                <a:effectLst/>
                <a:latin typeface="Söhne"/>
              </a:rPr>
              <a:t> and </a:t>
            </a:r>
            <a:r>
              <a:rPr lang="en-US" b="1" i="0" dirty="0">
                <a:solidFill>
                  <a:srgbClr val="FF0000"/>
                </a:solidFill>
                <a:effectLst/>
                <a:latin typeface="Söhne"/>
              </a:rPr>
              <a:t>red</a:t>
            </a:r>
            <a:r>
              <a:rPr lang="en-US" b="0" i="0" dirty="0">
                <a:solidFill>
                  <a:srgbClr val="374151"/>
                </a:solidFill>
                <a:effectLst/>
                <a:latin typeface="Söhne"/>
              </a:rPr>
              <a:t>. These colors convey affordability and comfort. Additionally, select a simple and readable font to ensure clarity in communication and ease of understanding. Make sure to demonstrate cultural sensitivity and align with the brand message to effectively engage the low-income demographic..</a:t>
            </a:r>
            <a:endParaRPr lang="pt-BR" dirty="0"/>
          </a:p>
        </p:txBody>
      </p:sp>
    </p:spTree>
    <p:extLst>
      <p:ext uri="{BB962C8B-B14F-4D97-AF65-F5344CB8AC3E}">
        <p14:creationId xmlns:p14="http://schemas.microsoft.com/office/powerpoint/2010/main" val="3221030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46077" y="8667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38114" y="8667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95340" y="-119501"/>
            <a:ext cx="6396904" cy="1615528"/>
          </a:xfrm>
        </p:spPr>
        <p:txBody>
          <a:bodyPr/>
          <a:lstStyle/>
          <a:p>
            <a:r>
              <a:rPr lang="en-US" sz="2800" dirty="0"/>
              <a:t>What changes can be made to this marketing campaign in order to improve future results?</a:t>
            </a:r>
            <a:endParaRPr lang="en-GB" sz="2800" dirty="0"/>
          </a:p>
        </p:txBody>
      </p:sp>
      <p:sp>
        <p:nvSpPr>
          <p:cNvPr id="19" name="Freeform 18"/>
          <p:cNvSpPr/>
          <p:nvPr/>
        </p:nvSpPr>
        <p:spPr>
          <a:xfrm>
            <a:off x="9641255" y="0"/>
            <a:ext cx="4176345" cy="7772400"/>
          </a:xfrm>
          <a:custGeom>
            <a:avLst/>
            <a:gdLst>
              <a:gd name="connsiteX0" fmla="*/ 2395837 w 4176345"/>
              <a:gd name="connsiteY0" fmla="*/ 0 h 7772400"/>
              <a:gd name="connsiteX1" fmla="*/ 4176345 w 4176345"/>
              <a:gd name="connsiteY1" fmla="*/ 0 h 7772400"/>
              <a:gd name="connsiteX2" fmla="*/ 4176345 w 4176345"/>
              <a:gd name="connsiteY2" fmla="*/ 7772400 h 7772400"/>
              <a:gd name="connsiteX3" fmla="*/ 1087695 w 4176345"/>
              <a:gd name="connsiteY3" fmla="*/ 7772400 h 7772400"/>
              <a:gd name="connsiteX4" fmla="*/ 2092569 w 4176345"/>
              <a:gd name="connsiteY4" fmla="*/ 0 h 7772400"/>
              <a:gd name="connsiteX5" fmla="*/ 2316725 w 4176345"/>
              <a:gd name="connsiteY5" fmla="*/ 0 h 7772400"/>
              <a:gd name="connsiteX6" fmla="*/ 378072 w 4176345"/>
              <a:gd name="connsiteY6" fmla="*/ 7772400 h 7772400"/>
              <a:gd name="connsiteX7" fmla="*/ 0 w 4176345"/>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6345" h="7772400">
                <a:moveTo>
                  <a:pt x="2395837" y="0"/>
                </a:moveTo>
                <a:lnTo>
                  <a:pt x="4176345" y="0"/>
                </a:lnTo>
                <a:lnTo>
                  <a:pt x="4176345" y="7772400"/>
                </a:lnTo>
                <a:lnTo>
                  <a:pt x="1087695" y="7772400"/>
                </a:lnTo>
                <a:close/>
                <a:moveTo>
                  <a:pt x="2092569" y="0"/>
                </a:moveTo>
                <a:lnTo>
                  <a:pt x="2316725" y="0"/>
                </a:lnTo>
                <a:lnTo>
                  <a:pt x="378072" y="7772400"/>
                </a:lnTo>
                <a:lnTo>
                  <a:pt x="0" y="7772400"/>
                </a:lnTo>
                <a:close/>
              </a:path>
            </a:pathLst>
          </a:custGeom>
          <a:blipFill dpi="0" rotWithShape="1">
            <a:blip r:embed="rId4">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6" name="Imagem 15">
            <a:extLst>
              <a:ext uri="{FF2B5EF4-FFF2-40B4-BE49-F238E27FC236}">
                <a16:creationId xmlns:a16="http://schemas.microsoft.com/office/drawing/2014/main" id="{8680C7A5-1F8F-6C21-DC74-06C3236D2A30}"/>
              </a:ext>
            </a:extLst>
          </p:cNvPr>
          <p:cNvPicPr>
            <a:picLocks noChangeAspect="1"/>
          </p:cNvPicPr>
          <p:nvPr/>
        </p:nvPicPr>
        <p:blipFill rotWithShape="1">
          <a:blip r:embed="rId5"/>
          <a:srcRect l="31397" t="38482" r="31514" b="19234"/>
          <a:stretch/>
        </p:blipFill>
        <p:spPr>
          <a:xfrm>
            <a:off x="346077" y="1938959"/>
            <a:ext cx="3281038" cy="2104077"/>
          </a:xfrm>
          <a:prstGeom prst="rect">
            <a:avLst/>
          </a:prstGeom>
        </p:spPr>
      </p:pic>
      <p:pic>
        <p:nvPicPr>
          <p:cNvPr id="18" name="Imagem 17">
            <a:extLst>
              <a:ext uri="{FF2B5EF4-FFF2-40B4-BE49-F238E27FC236}">
                <a16:creationId xmlns:a16="http://schemas.microsoft.com/office/drawing/2014/main" id="{D51B2A81-1CF2-81FB-54E4-39C8426A93A3}"/>
              </a:ext>
            </a:extLst>
          </p:cNvPr>
          <p:cNvPicPr>
            <a:picLocks noChangeAspect="1"/>
          </p:cNvPicPr>
          <p:nvPr/>
        </p:nvPicPr>
        <p:blipFill rotWithShape="1">
          <a:blip r:embed="rId6"/>
          <a:srcRect l="8712" t="52718" r="66493" b="17647"/>
          <a:stretch/>
        </p:blipFill>
        <p:spPr>
          <a:xfrm>
            <a:off x="362745" y="4462573"/>
            <a:ext cx="2021812" cy="1359259"/>
          </a:xfrm>
          <a:prstGeom prst="rect">
            <a:avLst/>
          </a:prstGeom>
        </p:spPr>
      </p:pic>
      <p:pic>
        <p:nvPicPr>
          <p:cNvPr id="21" name="Imagem 20">
            <a:extLst>
              <a:ext uri="{FF2B5EF4-FFF2-40B4-BE49-F238E27FC236}">
                <a16:creationId xmlns:a16="http://schemas.microsoft.com/office/drawing/2014/main" id="{C3F7A6F6-D45E-C62B-1DBB-527E68D2D10D}"/>
              </a:ext>
            </a:extLst>
          </p:cNvPr>
          <p:cNvPicPr>
            <a:picLocks noChangeAspect="1"/>
          </p:cNvPicPr>
          <p:nvPr/>
        </p:nvPicPr>
        <p:blipFill rotWithShape="1">
          <a:blip r:embed="rId7"/>
          <a:srcRect l="9258" t="29784" r="66996" b="41304"/>
          <a:stretch/>
        </p:blipFill>
        <p:spPr>
          <a:xfrm>
            <a:off x="362745" y="6177881"/>
            <a:ext cx="2021812" cy="1384681"/>
          </a:xfrm>
          <a:prstGeom prst="rect">
            <a:avLst/>
          </a:prstGeom>
        </p:spPr>
      </p:pic>
      <p:sp>
        <p:nvSpPr>
          <p:cNvPr id="29" name="CaixaDeTexto 28">
            <a:extLst>
              <a:ext uri="{FF2B5EF4-FFF2-40B4-BE49-F238E27FC236}">
                <a16:creationId xmlns:a16="http://schemas.microsoft.com/office/drawing/2014/main" id="{DA706D01-4BC5-5F37-A16D-8E81BB99A17C}"/>
              </a:ext>
            </a:extLst>
          </p:cNvPr>
          <p:cNvSpPr txBox="1"/>
          <p:nvPr/>
        </p:nvSpPr>
        <p:spPr>
          <a:xfrm>
            <a:off x="4176346" y="2913446"/>
            <a:ext cx="5233872" cy="2585323"/>
          </a:xfrm>
          <a:prstGeom prst="rect">
            <a:avLst/>
          </a:prstGeom>
          <a:noFill/>
        </p:spPr>
        <p:txBody>
          <a:bodyPr wrap="square">
            <a:spAutoFit/>
          </a:bodyPr>
          <a:lstStyle/>
          <a:p>
            <a:r>
              <a:rPr lang="en-US" b="0" i="0" dirty="0">
                <a:solidFill>
                  <a:srgbClr val="374151"/>
                </a:solidFill>
                <a:effectLst/>
                <a:latin typeface="Söhne"/>
              </a:rPr>
              <a:t>When targeting high-ticket buyers in marketing campaigns, opt for sophisticated and luxurious colors such as </a:t>
            </a:r>
            <a:r>
              <a:rPr lang="en-US" b="1" i="0" dirty="0">
                <a:solidFill>
                  <a:srgbClr val="0070C0"/>
                </a:solidFill>
                <a:effectLst/>
                <a:latin typeface="Söhne"/>
              </a:rPr>
              <a:t>deep blues</a:t>
            </a:r>
            <a:r>
              <a:rPr lang="en-US" b="1" i="0" dirty="0">
                <a:solidFill>
                  <a:srgbClr val="374151"/>
                </a:solidFill>
                <a:effectLst/>
                <a:latin typeface="Söhne"/>
              </a:rPr>
              <a:t>, </a:t>
            </a:r>
            <a:r>
              <a:rPr lang="en-US" b="1" i="0" dirty="0">
                <a:solidFill>
                  <a:srgbClr val="7030A0"/>
                </a:solidFill>
                <a:effectLst/>
                <a:latin typeface="Söhne"/>
              </a:rPr>
              <a:t>rich purples</a:t>
            </a:r>
            <a:r>
              <a:rPr lang="en-US" b="1" i="0" dirty="0">
                <a:solidFill>
                  <a:srgbClr val="374151"/>
                </a:solidFill>
                <a:effectLst/>
                <a:latin typeface="Söhne"/>
              </a:rPr>
              <a:t>, black and elegant metallic tones</a:t>
            </a:r>
            <a:r>
              <a:rPr lang="en-US" b="0" i="0" dirty="0">
                <a:solidFill>
                  <a:srgbClr val="374151"/>
                </a:solidFill>
                <a:effectLst/>
                <a:latin typeface="Söhne"/>
              </a:rPr>
              <a:t>. These colors convey exclusivity and quality. Additionally, use sleek and modern fonts to reflect a high-end image and create a sense of refinement. Ensure consistent branding and messaging to effectively resonate with the high-ticket buyer demographic</a:t>
            </a:r>
            <a:endParaRPr lang="pt-BR" dirty="0"/>
          </a:p>
        </p:txBody>
      </p:sp>
    </p:spTree>
    <p:extLst>
      <p:ext uri="{BB962C8B-B14F-4D97-AF65-F5344CB8AC3E}">
        <p14:creationId xmlns:p14="http://schemas.microsoft.com/office/powerpoint/2010/main" val="3205396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p:cNvSpPr>
          <p:nvPr/>
        </p:nvSpPr>
        <p:spPr bwMode="auto">
          <a:xfrm>
            <a:off x="346077" y="8667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38114" y="8667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Title 21"/>
          <p:cNvSpPr>
            <a:spLocks noGrp="1"/>
          </p:cNvSpPr>
          <p:nvPr>
            <p:ph type="ctrTitle"/>
          </p:nvPr>
        </p:nvSpPr>
        <p:spPr>
          <a:xfrm>
            <a:off x="795340" y="-119501"/>
            <a:ext cx="6396904" cy="1615528"/>
          </a:xfrm>
        </p:spPr>
        <p:txBody>
          <a:bodyPr/>
          <a:lstStyle/>
          <a:p>
            <a:r>
              <a:rPr lang="en-US" sz="2800" dirty="0"/>
              <a:t>What changes can be made to this marketing campaign in order to improve future results?</a:t>
            </a:r>
            <a:endParaRPr lang="en-GB" sz="2800" dirty="0"/>
          </a:p>
        </p:txBody>
      </p:sp>
      <p:sp>
        <p:nvSpPr>
          <p:cNvPr id="19" name="Freeform 18"/>
          <p:cNvSpPr/>
          <p:nvPr/>
        </p:nvSpPr>
        <p:spPr>
          <a:xfrm>
            <a:off x="9641255" y="0"/>
            <a:ext cx="4176345" cy="7772400"/>
          </a:xfrm>
          <a:custGeom>
            <a:avLst/>
            <a:gdLst>
              <a:gd name="connsiteX0" fmla="*/ 2395837 w 4176345"/>
              <a:gd name="connsiteY0" fmla="*/ 0 h 7772400"/>
              <a:gd name="connsiteX1" fmla="*/ 4176345 w 4176345"/>
              <a:gd name="connsiteY1" fmla="*/ 0 h 7772400"/>
              <a:gd name="connsiteX2" fmla="*/ 4176345 w 4176345"/>
              <a:gd name="connsiteY2" fmla="*/ 7772400 h 7772400"/>
              <a:gd name="connsiteX3" fmla="*/ 1087695 w 4176345"/>
              <a:gd name="connsiteY3" fmla="*/ 7772400 h 7772400"/>
              <a:gd name="connsiteX4" fmla="*/ 2092569 w 4176345"/>
              <a:gd name="connsiteY4" fmla="*/ 0 h 7772400"/>
              <a:gd name="connsiteX5" fmla="*/ 2316725 w 4176345"/>
              <a:gd name="connsiteY5" fmla="*/ 0 h 7772400"/>
              <a:gd name="connsiteX6" fmla="*/ 378072 w 4176345"/>
              <a:gd name="connsiteY6" fmla="*/ 7772400 h 7772400"/>
              <a:gd name="connsiteX7" fmla="*/ 0 w 4176345"/>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6345" h="7772400">
                <a:moveTo>
                  <a:pt x="2395837" y="0"/>
                </a:moveTo>
                <a:lnTo>
                  <a:pt x="4176345" y="0"/>
                </a:lnTo>
                <a:lnTo>
                  <a:pt x="4176345" y="7772400"/>
                </a:lnTo>
                <a:lnTo>
                  <a:pt x="1087695" y="7772400"/>
                </a:lnTo>
                <a:close/>
                <a:moveTo>
                  <a:pt x="2092569" y="0"/>
                </a:moveTo>
                <a:lnTo>
                  <a:pt x="2316725" y="0"/>
                </a:lnTo>
                <a:lnTo>
                  <a:pt x="378072" y="7772400"/>
                </a:lnTo>
                <a:lnTo>
                  <a:pt x="0" y="7772400"/>
                </a:lnTo>
                <a:close/>
              </a:path>
            </a:pathLst>
          </a:cu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26" name="Picture 2" descr="Mercado de Banco de Varejo no Brasil | 2022 - 27 ...">
            <a:extLst>
              <a:ext uri="{FF2B5EF4-FFF2-40B4-BE49-F238E27FC236}">
                <a16:creationId xmlns:a16="http://schemas.microsoft.com/office/drawing/2014/main" id="{F501A2A1-2513-CAC6-5479-A7032A95A5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252" t="6679" b="62319"/>
          <a:stretch/>
        </p:blipFill>
        <p:spPr bwMode="auto">
          <a:xfrm>
            <a:off x="1451131" y="2440810"/>
            <a:ext cx="1549868" cy="5662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Mercado de Banco de Varejo no Brasil | 2022 - 27 ...">
            <a:extLst>
              <a:ext uri="{FF2B5EF4-FFF2-40B4-BE49-F238E27FC236}">
                <a16:creationId xmlns:a16="http://schemas.microsoft.com/office/drawing/2014/main" id="{BE138843-3E23-8B78-BF92-50F3DA3BE66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60787" b="33287"/>
          <a:stretch/>
        </p:blipFill>
        <p:spPr bwMode="auto">
          <a:xfrm>
            <a:off x="223725" y="2174852"/>
            <a:ext cx="1104351" cy="8136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taú Personnalité apresenta nova identidade visual - GKPB - Geek  Publicitário">
            <a:extLst>
              <a:ext uri="{FF2B5EF4-FFF2-40B4-BE49-F238E27FC236}">
                <a16:creationId xmlns:a16="http://schemas.microsoft.com/office/drawing/2014/main" id="{5328F976-53D6-6DBD-21BB-AFD8A5E25E7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200" t="25847" r="58398" b="25602"/>
          <a:stretch/>
        </p:blipFill>
        <p:spPr bwMode="auto">
          <a:xfrm>
            <a:off x="5333133" y="2054403"/>
            <a:ext cx="1292223" cy="12878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rtão Safra Mastercard Black - Análise - Pontos pra Voar">
            <a:extLst>
              <a:ext uri="{FF2B5EF4-FFF2-40B4-BE49-F238E27FC236}">
                <a16:creationId xmlns:a16="http://schemas.microsoft.com/office/drawing/2014/main" id="{CF846CCC-5A93-7458-2090-66F95E1FC42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49536" y="2054403"/>
            <a:ext cx="2177989" cy="137101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ucci – Wikipédia, a enciclopédia livre">
            <a:extLst>
              <a:ext uri="{FF2B5EF4-FFF2-40B4-BE49-F238E27FC236}">
                <a16:creationId xmlns:a16="http://schemas.microsoft.com/office/drawing/2014/main" id="{33C962A0-9A83-E00E-751F-FC9D7B3AD1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28699" y="4227927"/>
            <a:ext cx="1127666" cy="115585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inel Redondo Louis Vuitton | Elo7 Produtos Especiais">
            <a:extLst>
              <a:ext uri="{FF2B5EF4-FFF2-40B4-BE49-F238E27FC236}">
                <a16:creationId xmlns:a16="http://schemas.microsoft.com/office/drawing/2014/main" id="{6BEDFFC6-A599-E47D-2060-BF64D4282B8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42952" y="4343356"/>
            <a:ext cx="1245951" cy="124595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Renner Logo – PNG e Vetor – Download de Logo">
            <a:extLst>
              <a:ext uri="{FF2B5EF4-FFF2-40B4-BE49-F238E27FC236}">
                <a16:creationId xmlns:a16="http://schemas.microsoft.com/office/drawing/2014/main" id="{59848F86-B7A6-EE67-B9FA-CB4C333B35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725" y="4187817"/>
            <a:ext cx="1909491" cy="49361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Pernambucanas Logo – PNG e Vetor – Download de Logo">
            <a:extLst>
              <a:ext uri="{FF2B5EF4-FFF2-40B4-BE49-F238E27FC236}">
                <a16:creationId xmlns:a16="http://schemas.microsoft.com/office/drawing/2014/main" id="{189EB343-8F79-C7B9-E8B1-0EF2F374087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2754" y="4841010"/>
            <a:ext cx="2115601" cy="644557"/>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McDonald's – Wikipédia, a enciclopédia livre">
            <a:extLst>
              <a:ext uri="{FF2B5EF4-FFF2-40B4-BE49-F238E27FC236}">
                <a16:creationId xmlns:a16="http://schemas.microsoft.com/office/drawing/2014/main" id="{100925F7-FFAE-05B9-96E8-CD08DE1AD9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025" y="6396285"/>
            <a:ext cx="1005051" cy="76292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EB8B7A19-ACD4-7738-0C6F-F35A40F92AD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732754" y="6403441"/>
            <a:ext cx="800924" cy="811699"/>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Coco Bambu amplia presença em Minas - Diário do Comércio">
            <a:extLst>
              <a:ext uri="{FF2B5EF4-FFF2-40B4-BE49-F238E27FC236}">
                <a16:creationId xmlns:a16="http://schemas.microsoft.com/office/drawing/2014/main" id="{A2EDAEBD-2501-6A53-BE00-DCFB07B5FBED}"/>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22357" t="3260" r="21092" b="64470"/>
          <a:stretch/>
        </p:blipFill>
        <p:spPr bwMode="auto">
          <a:xfrm>
            <a:off x="5242952" y="6624710"/>
            <a:ext cx="1492081" cy="595989"/>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Madero Steak House |">
            <a:extLst>
              <a:ext uri="{FF2B5EF4-FFF2-40B4-BE49-F238E27FC236}">
                <a16:creationId xmlns:a16="http://schemas.microsoft.com/office/drawing/2014/main" id="{FB84AA07-0701-E97B-C48E-2FC3D299528F}"/>
              </a:ext>
            </a:extLst>
          </p:cNvPr>
          <p:cNvPicPr>
            <a:picLocks noChangeAspect="1" noChangeArrowheads="1"/>
          </p:cNvPicPr>
          <p:nvPr/>
        </p:nvPicPr>
        <p:blipFill rotWithShape="1">
          <a:blip r:embed="rId14" cstate="print">
            <a:extLst>
              <a:ext uri="{BEBA8EAE-BF5A-486C-A8C5-ECC9F3942E4B}">
                <a14:imgProps xmlns:a14="http://schemas.microsoft.com/office/drawing/2010/main">
                  <a14:imgLayer r:embed="rId15">
                    <a14:imgEffect>
                      <a14:backgroundRemoval t="3000" b="29750" l="4833" r="92167">
                        <a14:foregroundMark x1="3333" y1="20250" x2="78667" y2="6750"/>
                        <a14:foregroundMark x1="78667" y1="6750" x2="4333" y2="17000"/>
                        <a14:foregroundMark x1="4333" y1="17000" x2="54000" y2="23750"/>
                        <a14:foregroundMark x1="54000" y1="23750" x2="8833" y2="23000"/>
                        <a14:foregroundMark x1="8833" y1="23000" x2="50333" y2="20750"/>
                        <a14:foregroundMark x1="50333" y1="20750" x2="17833" y2="23750"/>
                        <a14:foregroundMark x1="17833" y1="23750" x2="44667" y2="14750"/>
                        <a14:foregroundMark x1="44667" y1="14750" x2="5333" y2="21500"/>
                        <a14:foregroundMark x1="5333" y1="21500" x2="82167" y2="15250"/>
                        <a14:foregroundMark x1="82167" y1="15250" x2="68000" y2="8500"/>
                        <a14:foregroundMark x1="68000" y1="8500" x2="92167" y2="9250"/>
                        <a14:foregroundMark x1="92167" y1="9250" x2="80000" y2="6500"/>
                        <a14:foregroundMark x1="80000" y1="6500" x2="79333" y2="15500"/>
                        <a14:foregroundMark x1="4833" y1="19250" x2="27000" y2="29750"/>
                        <a14:foregroundMark x1="37000" y1="29250" x2="37000" y2="29250"/>
                      </a14:backgroundRemoval>
                    </a14:imgEffect>
                  </a14:imgLayer>
                </a14:imgProps>
              </a:ext>
              <a:ext uri="{28A0092B-C50C-407E-A947-70E740481C1C}">
                <a14:useLocalDpi xmlns:a14="http://schemas.microsoft.com/office/drawing/2010/main" val="0"/>
              </a:ext>
            </a:extLst>
          </a:blip>
          <a:srcRect b="68414"/>
          <a:stretch/>
        </p:blipFill>
        <p:spPr bwMode="auto">
          <a:xfrm>
            <a:off x="7149536" y="6624710"/>
            <a:ext cx="2143326" cy="45133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8FA40AFB-5AE3-9C33-1965-F86B71EDED3A}"/>
              </a:ext>
            </a:extLst>
          </p:cNvPr>
          <p:cNvSpPr txBox="1"/>
          <p:nvPr/>
        </p:nvSpPr>
        <p:spPr>
          <a:xfrm>
            <a:off x="36829" y="1602692"/>
            <a:ext cx="8519448" cy="523220"/>
          </a:xfrm>
          <a:prstGeom prst="rect">
            <a:avLst/>
          </a:prstGeom>
          <a:noFill/>
        </p:spPr>
        <p:txBody>
          <a:bodyPr wrap="none" rtlCol="0">
            <a:spAutoFit/>
          </a:bodyPr>
          <a:lstStyle/>
          <a:p>
            <a:r>
              <a:rPr lang="pt-BR" sz="2800" b="1" dirty="0" err="1">
                <a:solidFill>
                  <a:srgbClr val="5B2A28"/>
                </a:solidFill>
                <a:latin typeface="Cooper Black" panose="0208090404030B020404" pitchFamily="18" charset="0"/>
              </a:rPr>
              <a:t>Retail</a:t>
            </a:r>
            <a:r>
              <a:rPr lang="pt-BR" sz="2800" b="1" dirty="0">
                <a:solidFill>
                  <a:srgbClr val="5B2A28"/>
                </a:solidFill>
                <a:latin typeface="Cooper Black" panose="0208090404030B020404" pitchFamily="18" charset="0"/>
              </a:rPr>
              <a:t> Banks                     x         High-</a:t>
            </a:r>
            <a:r>
              <a:rPr lang="pt-BR" sz="2800" b="1" dirty="0" err="1">
                <a:solidFill>
                  <a:srgbClr val="5B2A28"/>
                </a:solidFill>
                <a:latin typeface="Cooper Black" panose="0208090404030B020404" pitchFamily="18" charset="0"/>
              </a:rPr>
              <a:t>end</a:t>
            </a:r>
            <a:r>
              <a:rPr lang="pt-BR" sz="2800" b="1" dirty="0">
                <a:solidFill>
                  <a:srgbClr val="5B2A28"/>
                </a:solidFill>
                <a:latin typeface="Cooper Black" panose="0208090404030B020404" pitchFamily="18" charset="0"/>
              </a:rPr>
              <a:t> banks</a:t>
            </a:r>
          </a:p>
        </p:txBody>
      </p:sp>
      <p:sp>
        <p:nvSpPr>
          <p:cNvPr id="5" name="CaixaDeTexto 4">
            <a:extLst>
              <a:ext uri="{FF2B5EF4-FFF2-40B4-BE49-F238E27FC236}">
                <a16:creationId xmlns:a16="http://schemas.microsoft.com/office/drawing/2014/main" id="{8FFF5F03-A32F-FD1C-1B09-F3DFBEDFD762}"/>
              </a:ext>
            </a:extLst>
          </p:cNvPr>
          <p:cNvSpPr txBox="1"/>
          <p:nvPr/>
        </p:nvSpPr>
        <p:spPr>
          <a:xfrm>
            <a:off x="126169" y="3573376"/>
            <a:ext cx="9275553" cy="523220"/>
          </a:xfrm>
          <a:prstGeom prst="rect">
            <a:avLst/>
          </a:prstGeom>
          <a:noFill/>
        </p:spPr>
        <p:txBody>
          <a:bodyPr wrap="none" rtlCol="0">
            <a:spAutoFit/>
          </a:bodyPr>
          <a:lstStyle/>
          <a:p>
            <a:r>
              <a:rPr lang="pt-BR" sz="2800" b="1" dirty="0" err="1">
                <a:solidFill>
                  <a:srgbClr val="5B2A28"/>
                </a:solidFill>
                <a:latin typeface="Cooper Black" panose="0208090404030B020404" pitchFamily="18" charset="0"/>
              </a:rPr>
              <a:t>Cheap</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Cloting</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brands</a:t>
            </a:r>
            <a:r>
              <a:rPr lang="pt-BR" sz="2800" b="1" dirty="0">
                <a:solidFill>
                  <a:srgbClr val="5B2A28"/>
                </a:solidFill>
                <a:latin typeface="Cooper Black" panose="0208090404030B020404" pitchFamily="18" charset="0"/>
              </a:rPr>
              <a:t>   x       Luxury </a:t>
            </a:r>
            <a:r>
              <a:rPr lang="pt-BR" sz="2800" b="1" dirty="0" err="1">
                <a:solidFill>
                  <a:srgbClr val="5B2A28"/>
                </a:solidFill>
                <a:latin typeface="Cooper Black" panose="0208090404030B020404" pitchFamily="18" charset="0"/>
              </a:rPr>
              <a:t>clothing</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brand</a:t>
            </a:r>
            <a:endParaRPr lang="pt-BR" sz="2800" b="1" dirty="0">
              <a:solidFill>
                <a:srgbClr val="5B2A28"/>
              </a:solidFill>
              <a:latin typeface="Cooper Black" panose="0208090404030B020404" pitchFamily="18" charset="0"/>
            </a:endParaRPr>
          </a:p>
        </p:txBody>
      </p:sp>
      <p:sp>
        <p:nvSpPr>
          <p:cNvPr id="6" name="CaixaDeTexto 5">
            <a:extLst>
              <a:ext uri="{FF2B5EF4-FFF2-40B4-BE49-F238E27FC236}">
                <a16:creationId xmlns:a16="http://schemas.microsoft.com/office/drawing/2014/main" id="{60D56AE8-2B14-4A4B-54EE-FA6C6376A8DA}"/>
              </a:ext>
            </a:extLst>
          </p:cNvPr>
          <p:cNvSpPr txBox="1"/>
          <p:nvPr/>
        </p:nvSpPr>
        <p:spPr>
          <a:xfrm>
            <a:off x="119069" y="5720638"/>
            <a:ext cx="8003345" cy="523220"/>
          </a:xfrm>
          <a:prstGeom prst="rect">
            <a:avLst/>
          </a:prstGeom>
          <a:noFill/>
        </p:spPr>
        <p:txBody>
          <a:bodyPr wrap="none" rtlCol="0">
            <a:spAutoFit/>
          </a:bodyPr>
          <a:lstStyle/>
          <a:p>
            <a:r>
              <a:rPr lang="pt-BR" sz="2800" b="1" dirty="0" err="1">
                <a:solidFill>
                  <a:srgbClr val="5B2A28"/>
                </a:solidFill>
                <a:latin typeface="Cooper Black" panose="0208090404030B020404" pitchFamily="18" charset="0"/>
              </a:rPr>
              <a:t>Affordable</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foods</a:t>
            </a:r>
            <a:r>
              <a:rPr lang="pt-BR" sz="2800" b="1" dirty="0">
                <a:solidFill>
                  <a:srgbClr val="5B2A28"/>
                </a:solidFill>
                <a:latin typeface="Cooper Black" panose="0208090404030B020404" pitchFamily="18" charset="0"/>
              </a:rPr>
              <a:t>             x       </a:t>
            </a:r>
            <a:r>
              <a:rPr lang="pt-BR" sz="2800" b="1" dirty="0" err="1">
                <a:solidFill>
                  <a:srgbClr val="5B2A28"/>
                </a:solidFill>
                <a:latin typeface="Cooper Black" panose="0208090404030B020404" pitchFamily="18" charset="0"/>
              </a:rPr>
              <a:t>Expensive</a:t>
            </a:r>
            <a:r>
              <a:rPr lang="pt-BR" sz="2800" b="1" dirty="0">
                <a:solidFill>
                  <a:srgbClr val="5B2A28"/>
                </a:solidFill>
                <a:latin typeface="Cooper Black" panose="0208090404030B020404" pitchFamily="18" charset="0"/>
              </a:rPr>
              <a:t> food</a:t>
            </a:r>
          </a:p>
        </p:txBody>
      </p:sp>
    </p:spTree>
    <p:extLst>
      <p:ext uri="{BB962C8B-B14F-4D97-AF65-F5344CB8AC3E}">
        <p14:creationId xmlns:p14="http://schemas.microsoft.com/office/powerpoint/2010/main" val="462860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5"/>
          <p:cNvSpPr>
            <a:spLocks/>
          </p:cNvSpPr>
          <p:nvPr/>
        </p:nvSpPr>
        <p:spPr bwMode="auto">
          <a:xfrm flipV="1">
            <a:off x="13546137" y="0"/>
            <a:ext cx="271463" cy="3471862"/>
          </a:xfrm>
          <a:custGeom>
            <a:avLst/>
            <a:gdLst>
              <a:gd name="T0" fmla="*/ 171 w 171"/>
              <a:gd name="T1" fmla="*/ 2187 h 2187"/>
              <a:gd name="T2" fmla="*/ 0 w 171"/>
              <a:gd name="T3" fmla="*/ 2187 h 2187"/>
              <a:gd name="T4" fmla="*/ 0 w 171"/>
              <a:gd name="T5" fmla="*/ 139 h 2187"/>
              <a:gd name="T6" fmla="*/ 171 w 171"/>
              <a:gd name="T7" fmla="*/ 0 h 2187"/>
              <a:gd name="T8" fmla="*/ 171 w 171"/>
              <a:gd name="T9" fmla="*/ 2187 h 2187"/>
            </a:gdLst>
            <a:ahLst/>
            <a:cxnLst>
              <a:cxn ang="0">
                <a:pos x="T0" y="T1"/>
              </a:cxn>
              <a:cxn ang="0">
                <a:pos x="T2" y="T3"/>
              </a:cxn>
              <a:cxn ang="0">
                <a:pos x="T4" y="T5"/>
              </a:cxn>
              <a:cxn ang="0">
                <a:pos x="T6" y="T7"/>
              </a:cxn>
              <a:cxn ang="0">
                <a:pos x="T8" y="T9"/>
              </a:cxn>
            </a:cxnLst>
            <a:rect l="0" t="0" r="r" b="b"/>
            <a:pathLst>
              <a:path w="171" h="2187">
                <a:moveTo>
                  <a:pt x="171" y="2187"/>
                </a:moveTo>
                <a:lnTo>
                  <a:pt x="0" y="2187"/>
                </a:lnTo>
                <a:lnTo>
                  <a:pt x="0" y="139"/>
                </a:lnTo>
                <a:lnTo>
                  <a:pt x="171" y="0"/>
                </a:lnTo>
                <a:lnTo>
                  <a:pt x="171" y="2187"/>
                </a:lnTo>
                <a:close/>
              </a:path>
            </a:pathLst>
          </a:custGeom>
          <a:solidFill>
            <a:schemeClr val="accent2"/>
          </a:solidFill>
          <a:ln w="3175">
            <a:noFill/>
          </a:ln>
        </p:spPr>
        <p:txBody>
          <a:bodyPr vert="horz" wrap="square" lIns="91440" tIns="45720" rIns="91440" bIns="45720" numCol="1" anchor="t" anchorCtr="0" compatLnSpc="1">
            <a:prstTxWarp prst="textNoShape">
              <a:avLst/>
            </a:prstTxWarp>
          </a:bodyPr>
          <a:lstStyle/>
          <a:p>
            <a:endParaRPr lang="en-GB" dirty="0"/>
          </a:p>
        </p:txBody>
      </p:sp>
      <p:sp>
        <p:nvSpPr>
          <p:cNvPr id="8" name="Rectangle 7"/>
          <p:cNvSpPr/>
          <p:nvPr/>
        </p:nvSpPr>
        <p:spPr>
          <a:xfrm>
            <a:off x="1468995" y="-12700"/>
            <a:ext cx="2578100" cy="7772400"/>
          </a:xfrm>
          <a:prstGeom prst="rect">
            <a:avLst/>
          </a:prstGeom>
          <a:blipFill dpi="0" rotWithShape="1">
            <a:blip r:embed="rId2">
              <a:alphaModFix amt="6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Chevron 8"/>
          <p:cNvSpPr/>
          <p:nvPr/>
        </p:nvSpPr>
        <p:spPr>
          <a:xfrm rot="5400000">
            <a:off x="1689101" y="4159250"/>
            <a:ext cx="2152650" cy="2749550"/>
          </a:xfrm>
          <a:prstGeom prst="chevron">
            <a:avLst>
              <a:gd name="adj" fmla="val 22842"/>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lIns="182880" tIns="0" bIns="0" rtlCol="0" anchor="ctr"/>
          <a:lstStyle/>
          <a:p>
            <a:pPr algn="ctr"/>
            <a:r>
              <a:rPr lang="en-US" sz="14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Section 2 - </a:t>
            </a:r>
          </a:p>
          <a:p>
            <a:pPr algn="ctr"/>
            <a:r>
              <a:rPr lang="en-US" sz="14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Department Year over Year</a:t>
            </a:r>
            <a:endParaRPr lang="en-GB" sz="1400" cap="all"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 name="CaixaDeTexto 1">
            <a:extLst>
              <a:ext uri="{FF2B5EF4-FFF2-40B4-BE49-F238E27FC236}">
                <a16:creationId xmlns:a16="http://schemas.microsoft.com/office/drawing/2014/main" id="{248ED62B-AB2A-50B3-E4CA-19F031A0B455}"/>
              </a:ext>
            </a:extLst>
          </p:cNvPr>
          <p:cNvSpPr txBox="1"/>
          <p:nvPr/>
        </p:nvSpPr>
        <p:spPr>
          <a:xfrm>
            <a:off x="6153553" y="2080680"/>
            <a:ext cx="6908800" cy="523220"/>
          </a:xfrm>
          <a:prstGeom prst="rect">
            <a:avLst/>
          </a:prstGeom>
          <a:noFill/>
        </p:spPr>
        <p:txBody>
          <a:bodyPr wrap="square">
            <a:spAutoFit/>
          </a:bodyPr>
          <a:lstStyle/>
          <a:p>
            <a:r>
              <a:rPr lang="pt-BR" sz="2800" b="1" dirty="0">
                <a:solidFill>
                  <a:srgbClr val="5B2A28"/>
                </a:solidFill>
                <a:latin typeface="Cooper Black" panose="0208090404030B020404" pitchFamily="18" charset="0"/>
              </a:rPr>
              <a:t>Year-over-year performance</a:t>
            </a:r>
          </a:p>
        </p:txBody>
      </p:sp>
      <p:pic>
        <p:nvPicPr>
          <p:cNvPr id="8194" name="Picture 2" descr="Dicas de sucesso para aumentar suas vendas no fim de ano - Sebrae">
            <a:extLst>
              <a:ext uri="{FF2B5EF4-FFF2-40B4-BE49-F238E27FC236}">
                <a16:creationId xmlns:a16="http://schemas.microsoft.com/office/drawing/2014/main" id="{372AA197-0E98-DC29-EB36-F261DACDA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3553" y="2766659"/>
            <a:ext cx="5201212" cy="2737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395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538271"/>
            <a:ext cx="10004739" cy="461400"/>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Overall, which Department is showing the most growth from year to year?</a:t>
            </a:r>
            <a:endParaRPr lang="en-GB" sz="2000" dirty="0"/>
          </a:p>
        </p:txBody>
      </p:sp>
      <p:sp>
        <p:nvSpPr>
          <p:cNvPr id="34" name="CaixaDeTexto 33">
            <a:extLst>
              <a:ext uri="{FF2B5EF4-FFF2-40B4-BE49-F238E27FC236}">
                <a16:creationId xmlns:a16="http://schemas.microsoft.com/office/drawing/2014/main" id="{B24F375F-BB85-8A4E-EAC6-949D42DB7E79}"/>
              </a:ext>
            </a:extLst>
          </p:cNvPr>
          <p:cNvSpPr txBox="1"/>
          <p:nvPr/>
        </p:nvSpPr>
        <p:spPr>
          <a:xfrm>
            <a:off x="540227" y="5224175"/>
            <a:ext cx="11404845" cy="646331"/>
          </a:xfrm>
          <a:prstGeom prst="rect">
            <a:avLst/>
          </a:prstGeom>
          <a:noFill/>
        </p:spPr>
        <p:txBody>
          <a:bodyPr wrap="square">
            <a:spAutoFit/>
          </a:bodyPr>
          <a:lstStyle/>
          <a:p>
            <a:r>
              <a:rPr lang="en-US" b="1" i="0" dirty="0">
                <a:solidFill>
                  <a:srgbClr val="374151"/>
                </a:solidFill>
                <a:effectLst/>
                <a:latin typeface="Söhne"/>
              </a:rPr>
              <a:t>Boots</a:t>
            </a:r>
            <a:r>
              <a:rPr lang="en-US" b="0" i="0" dirty="0">
                <a:solidFill>
                  <a:srgbClr val="374151"/>
                </a:solidFill>
                <a:effectLst/>
                <a:latin typeface="Söhne"/>
              </a:rPr>
              <a:t> is the new department that grew significantly in 2000 compared to 1999.</a:t>
            </a:r>
          </a:p>
          <a:p>
            <a:r>
              <a:rPr lang="en-US" dirty="0">
                <a:solidFill>
                  <a:srgbClr val="374151"/>
                </a:solidFill>
                <a:latin typeface="Söhne"/>
              </a:rPr>
              <a:t>B</a:t>
            </a:r>
            <a:r>
              <a:rPr lang="en-US" b="0" i="0" dirty="0">
                <a:solidFill>
                  <a:srgbClr val="374151"/>
                </a:solidFill>
                <a:effectLst/>
                <a:latin typeface="Söhne"/>
              </a:rPr>
              <a:t>ut the </a:t>
            </a:r>
            <a:r>
              <a:rPr lang="en-US" b="1" i="0" dirty="0">
                <a:solidFill>
                  <a:srgbClr val="374151"/>
                </a:solidFill>
                <a:effectLst/>
                <a:latin typeface="Söhne"/>
              </a:rPr>
              <a:t>KnickKnacks</a:t>
            </a:r>
            <a:r>
              <a:rPr lang="en-US" b="0" i="0" dirty="0">
                <a:solidFill>
                  <a:srgbClr val="374151"/>
                </a:solidFill>
                <a:effectLst/>
                <a:latin typeface="Söhne"/>
              </a:rPr>
              <a:t> Department ceased its operations, and this exit greatly affected the company. </a:t>
            </a:r>
            <a:endParaRPr lang="pt-BR" dirty="0"/>
          </a:p>
        </p:txBody>
      </p:sp>
      <p:graphicFrame>
        <p:nvGraphicFramePr>
          <p:cNvPr id="3" name="Tabela 2">
            <a:extLst>
              <a:ext uri="{FF2B5EF4-FFF2-40B4-BE49-F238E27FC236}">
                <a16:creationId xmlns:a16="http://schemas.microsoft.com/office/drawing/2014/main" id="{F5F2427A-0676-6F4F-8890-68BB5D80F680}"/>
              </a:ext>
            </a:extLst>
          </p:cNvPr>
          <p:cNvGraphicFramePr>
            <a:graphicFrameLocks noGrp="1"/>
          </p:cNvGraphicFramePr>
          <p:nvPr/>
        </p:nvGraphicFramePr>
        <p:xfrm>
          <a:off x="556897" y="1916083"/>
          <a:ext cx="11277525" cy="2954496"/>
        </p:xfrm>
        <a:graphic>
          <a:graphicData uri="http://schemas.openxmlformats.org/drawingml/2006/table">
            <a:tbl>
              <a:tblPr/>
              <a:tblGrid>
                <a:gridCol w="1519561">
                  <a:extLst>
                    <a:ext uri="{9D8B030D-6E8A-4147-A177-3AD203B41FA5}">
                      <a16:colId xmlns:a16="http://schemas.microsoft.com/office/drawing/2014/main" val="3586732625"/>
                    </a:ext>
                  </a:extLst>
                </a:gridCol>
                <a:gridCol w="581009">
                  <a:extLst>
                    <a:ext uri="{9D8B030D-6E8A-4147-A177-3AD203B41FA5}">
                      <a16:colId xmlns:a16="http://schemas.microsoft.com/office/drawing/2014/main" val="3779292288"/>
                    </a:ext>
                  </a:extLst>
                </a:gridCol>
                <a:gridCol w="581009">
                  <a:extLst>
                    <a:ext uri="{9D8B030D-6E8A-4147-A177-3AD203B41FA5}">
                      <a16:colId xmlns:a16="http://schemas.microsoft.com/office/drawing/2014/main" val="1047298860"/>
                    </a:ext>
                  </a:extLst>
                </a:gridCol>
                <a:gridCol w="864064">
                  <a:extLst>
                    <a:ext uri="{9D8B030D-6E8A-4147-A177-3AD203B41FA5}">
                      <a16:colId xmlns:a16="http://schemas.microsoft.com/office/drawing/2014/main" val="2390795190"/>
                    </a:ext>
                  </a:extLst>
                </a:gridCol>
                <a:gridCol w="804473">
                  <a:extLst>
                    <a:ext uri="{9D8B030D-6E8A-4147-A177-3AD203B41FA5}">
                      <a16:colId xmlns:a16="http://schemas.microsoft.com/office/drawing/2014/main" val="2708231380"/>
                    </a:ext>
                  </a:extLst>
                </a:gridCol>
                <a:gridCol w="372441">
                  <a:extLst>
                    <a:ext uri="{9D8B030D-6E8A-4147-A177-3AD203B41FA5}">
                      <a16:colId xmlns:a16="http://schemas.microsoft.com/office/drawing/2014/main" val="4003690673"/>
                    </a:ext>
                  </a:extLst>
                </a:gridCol>
                <a:gridCol w="1519561">
                  <a:extLst>
                    <a:ext uri="{9D8B030D-6E8A-4147-A177-3AD203B41FA5}">
                      <a16:colId xmlns:a16="http://schemas.microsoft.com/office/drawing/2014/main" val="1828463715"/>
                    </a:ext>
                  </a:extLst>
                </a:gridCol>
                <a:gridCol w="1296096">
                  <a:extLst>
                    <a:ext uri="{9D8B030D-6E8A-4147-A177-3AD203B41FA5}">
                      <a16:colId xmlns:a16="http://schemas.microsoft.com/office/drawing/2014/main" val="397384143"/>
                    </a:ext>
                  </a:extLst>
                </a:gridCol>
                <a:gridCol w="1296096">
                  <a:extLst>
                    <a:ext uri="{9D8B030D-6E8A-4147-A177-3AD203B41FA5}">
                      <a16:colId xmlns:a16="http://schemas.microsoft.com/office/drawing/2014/main" val="3177590175"/>
                    </a:ext>
                  </a:extLst>
                </a:gridCol>
                <a:gridCol w="1370584">
                  <a:extLst>
                    <a:ext uri="{9D8B030D-6E8A-4147-A177-3AD203B41FA5}">
                      <a16:colId xmlns:a16="http://schemas.microsoft.com/office/drawing/2014/main" val="774307615"/>
                    </a:ext>
                  </a:extLst>
                </a:gridCol>
                <a:gridCol w="1072631">
                  <a:extLst>
                    <a:ext uri="{9D8B030D-6E8A-4147-A177-3AD203B41FA5}">
                      <a16:colId xmlns:a16="http://schemas.microsoft.com/office/drawing/2014/main" val="2041111380"/>
                    </a:ext>
                  </a:extLst>
                </a:gridCol>
              </a:tblGrid>
              <a:tr h="246208">
                <a:tc>
                  <a:txBody>
                    <a:bodyPr/>
                    <a:lstStyle/>
                    <a:p>
                      <a:pPr algn="ctr" fontAlgn="b"/>
                      <a:r>
                        <a:rPr lang="pt-BR" sz="1100" b="1" i="0" u="none" strike="noStrike" dirty="0">
                          <a:solidFill>
                            <a:srgbClr val="000000"/>
                          </a:solidFill>
                          <a:effectLst/>
                          <a:latin typeface="Calibri" panose="020F0502020204030204" pitchFamily="34" charset="0"/>
                        </a:rPr>
                        <a:t>DEPARTMENT</a:t>
                      </a:r>
                    </a:p>
                  </a:txBody>
                  <a:tcPr marL="7620" marR="7620" marT="7620" marB="0" anchor="b">
                    <a:lnL>
                      <a:noFill/>
                    </a:lnL>
                    <a:lnR>
                      <a:noFill/>
                    </a:lnR>
                    <a:lnT>
                      <a:noFill/>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DEPARTMENT</a:t>
                      </a:r>
                    </a:p>
                  </a:txBody>
                  <a:tcPr marL="7620" marR="7620" marT="7620" marB="0" anchor="b">
                    <a:lnL>
                      <a:noFill/>
                    </a:lnL>
                    <a:lnR>
                      <a:noFill/>
                    </a:lnR>
                    <a:lnT>
                      <a:noFill/>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676022059"/>
                  </a:ext>
                </a:extLst>
              </a:tr>
              <a:tr h="246208">
                <a:tc>
                  <a:txBody>
                    <a:bodyPr/>
                    <a:lstStyle/>
                    <a:p>
                      <a:pPr algn="ctr" fontAlgn="b"/>
                      <a:r>
                        <a:rPr lang="pt-BR" sz="1100" b="1" i="0" u="none" strike="noStrike" dirty="0">
                          <a:solidFill>
                            <a:srgbClr val="000000"/>
                          </a:solidFill>
                          <a:effectLst/>
                          <a:latin typeface="Calibri" panose="020F0502020204030204" pitchFamily="34" charset="0"/>
                        </a:rPr>
                        <a:t>Beachwear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51046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48052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99098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94,13%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Beachwear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356.220,97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339.984,00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696.204,97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extLst>
                  <a:ext uri="{0D108BD9-81ED-4DB2-BD59-A6C34878D82A}">
                    <a16:rowId xmlns:a16="http://schemas.microsoft.com/office/drawing/2014/main" val="3508067087"/>
                  </a:ext>
                </a:extLst>
              </a:tr>
              <a:tr h="246208">
                <a:tc>
                  <a:txBody>
                    <a:bodyPr/>
                    <a:lstStyle/>
                    <a:p>
                      <a:pPr algn="ctr" fontAlgn="b"/>
                      <a:r>
                        <a:rPr lang="pt-BR" sz="1100" b="1" i="0" u="none" strike="noStrike" dirty="0">
                          <a:solidFill>
                            <a:srgbClr val="000000"/>
                          </a:solidFill>
                          <a:effectLst/>
                          <a:latin typeface="Calibri" panose="020F0502020204030204" pitchFamily="34" charset="0"/>
                        </a:rPr>
                        <a:t>BootAccessories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18979</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19201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38180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101,17%</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BootAccessories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70.552,21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77.917,26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148.469,47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110,4%</a:t>
                      </a:r>
                    </a:p>
                  </a:txBody>
                  <a:tcPr marL="7620" marR="7620" marT="7620" marB="0" anchor="b">
                    <a:lnL>
                      <a:noFill/>
                    </a:lnL>
                    <a:lnR>
                      <a:noFill/>
                    </a:lnR>
                    <a:lnT>
                      <a:noFill/>
                    </a:lnT>
                    <a:lnB>
                      <a:noFill/>
                    </a:lnB>
                    <a:solidFill>
                      <a:srgbClr val="FFEB84"/>
                    </a:solidFill>
                  </a:tcPr>
                </a:tc>
                <a:extLst>
                  <a:ext uri="{0D108BD9-81ED-4DB2-BD59-A6C34878D82A}">
                    <a16:rowId xmlns:a16="http://schemas.microsoft.com/office/drawing/2014/main" val="3093003226"/>
                  </a:ext>
                </a:extLst>
              </a:tr>
              <a:tr h="246208">
                <a:tc>
                  <a:txBody>
                    <a:bodyPr/>
                    <a:lstStyle/>
                    <a:p>
                      <a:pPr algn="ctr" fontAlgn="b"/>
                      <a:r>
                        <a:rPr lang="pt-BR" sz="1100" b="1" i="0" u="none" strike="noStrike" dirty="0">
                          <a:solidFill>
                            <a:srgbClr val="000000"/>
                          </a:solidFill>
                          <a:effectLst/>
                          <a:latin typeface="Calibri" panose="020F0502020204030204" pitchFamily="34" charset="0"/>
                        </a:rPr>
                        <a:t>Boots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87598</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87695</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90307,22%</a:t>
                      </a:r>
                    </a:p>
                  </a:txBody>
                  <a:tcPr marL="7620" marR="7620" marT="7620" marB="0" anchor="b">
                    <a:lnL>
                      <a:noFill/>
                    </a:lnL>
                    <a:lnR>
                      <a:noFill/>
                    </a:lnR>
                    <a:lnT>
                      <a:noFill/>
                    </a:lnT>
                    <a:lnB>
                      <a:noFill/>
                    </a:lnB>
                    <a:solidFill>
                      <a:srgbClr val="63BE7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Boots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0,20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221.195,93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221.196,13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110597965,0%</a:t>
                      </a:r>
                    </a:p>
                  </a:txBody>
                  <a:tcPr marL="7620" marR="7620" marT="7620" marB="0" anchor="b">
                    <a:lnL>
                      <a:noFill/>
                    </a:lnL>
                    <a:lnR>
                      <a:noFill/>
                    </a:lnR>
                    <a:lnT>
                      <a:noFill/>
                    </a:lnT>
                    <a:lnB>
                      <a:noFill/>
                    </a:lnB>
                    <a:solidFill>
                      <a:srgbClr val="63BE7B"/>
                    </a:solidFill>
                  </a:tcPr>
                </a:tc>
                <a:extLst>
                  <a:ext uri="{0D108BD9-81ED-4DB2-BD59-A6C34878D82A}">
                    <a16:rowId xmlns:a16="http://schemas.microsoft.com/office/drawing/2014/main" val="2540202671"/>
                  </a:ext>
                </a:extLst>
              </a:tr>
              <a:tr h="246208">
                <a:tc>
                  <a:txBody>
                    <a:bodyPr/>
                    <a:lstStyle/>
                    <a:p>
                      <a:pPr algn="ctr" fontAlgn="b"/>
                      <a:r>
                        <a:rPr lang="pt-BR" sz="1100" b="1" i="0" u="none" strike="noStrike" dirty="0">
                          <a:solidFill>
                            <a:srgbClr val="000000"/>
                          </a:solidFill>
                          <a:effectLst/>
                          <a:latin typeface="Calibri" panose="020F0502020204030204" pitchFamily="34" charset="0"/>
                        </a:rPr>
                        <a:t>CowboyHats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81032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78811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159843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97,26%</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CowboyHats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976.847,52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981.209,97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1.958.057,49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100,4%</a:t>
                      </a:r>
                    </a:p>
                  </a:txBody>
                  <a:tcPr marL="7620" marR="7620" marT="7620" marB="0" anchor="b">
                    <a:lnL>
                      <a:noFill/>
                    </a:lnL>
                    <a:lnR>
                      <a:noFill/>
                    </a:lnR>
                    <a:lnT>
                      <a:noFill/>
                    </a:lnT>
                    <a:lnB>
                      <a:noFill/>
                    </a:lnB>
                    <a:solidFill>
                      <a:srgbClr val="FFEB84"/>
                    </a:solidFill>
                  </a:tcPr>
                </a:tc>
                <a:extLst>
                  <a:ext uri="{0D108BD9-81ED-4DB2-BD59-A6C34878D82A}">
                    <a16:rowId xmlns:a16="http://schemas.microsoft.com/office/drawing/2014/main" val="694275412"/>
                  </a:ext>
                </a:extLst>
              </a:tr>
              <a:tr h="246208">
                <a:tc>
                  <a:txBody>
                    <a:bodyPr/>
                    <a:lstStyle/>
                    <a:p>
                      <a:pPr algn="ctr" fontAlgn="b"/>
                      <a:r>
                        <a:rPr lang="pt-BR" sz="1100" b="1" i="0" u="none" strike="noStrike" dirty="0">
                          <a:solidFill>
                            <a:srgbClr val="000000"/>
                          </a:solidFill>
                          <a:effectLst/>
                          <a:latin typeface="Calibri" panose="020F0502020204030204" pitchFamily="34" charset="0"/>
                        </a:rPr>
                        <a:t>Formalwear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86295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81335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167630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94,25%</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Formalwear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152.392,20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143.196,63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295.588,83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94,0%</a:t>
                      </a:r>
                    </a:p>
                  </a:txBody>
                  <a:tcPr marL="7620" marR="7620" marT="7620" marB="0" anchor="b">
                    <a:lnL>
                      <a:noFill/>
                    </a:lnL>
                    <a:lnR>
                      <a:noFill/>
                    </a:lnR>
                    <a:lnT>
                      <a:noFill/>
                    </a:lnT>
                    <a:lnB>
                      <a:noFill/>
                    </a:lnB>
                    <a:solidFill>
                      <a:srgbClr val="FEE883"/>
                    </a:solidFill>
                  </a:tcPr>
                </a:tc>
                <a:extLst>
                  <a:ext uri="{0D108BD9-81ED-4DB2-BD59-A6C34878D82A}">
                    <a16:rowId xmlns:a16="http://schemas.microsoft.com/office/drawing/2014/main" val="3315825567"/>
                  </a:ext>
                </a:extLst>
              </a:tr>
              <a:tr h="246208">
                <a:tc>
                  <a:txBody>
                    <a:bodyPr/>
                    <a:lstStyle/>
                    <a:p>
                      <a:pPr algn="ctr" fontAlgn="b"/>
                      <a:r>
                        <a:rPr lang="pt-BR" sz="1100" b="1" i="0" u="none" strike="noStrike" dirty="0">
                          <a:solidFill>
                            <a:srgbClr val="000000"/>
                          </a:solidFill>
                          <a:effectLst/>
                          <a:latin typeface="Calibri" panose="020F0502020204030204" pitchFamily="34" charset="0"/>
                        </a:rPr>
                        <a:t>KnickKnacks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100833</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89</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100922</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0,09%</a:t>
                      </a:r>
                    </a:p>
                  </a:txBody>
                  <a:tcPr marL="7620" marR="7620" marT="7620" marB="0" anchor="b">
                    <a:lnL>
                      <a:noFill/>
                    </a:lnL>
                    <a:lnR>
                      <a:noFill/>
                    </a:lnR>
                    <a:lnT>
                      <a:noFill/>
                    </a:lnT>
                    <a:lnB>
                      <a:noFill/>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KnickKnacks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4.839.808,64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4,10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4.839.812,74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a:t>
                      </a:r>
                    </a:p>
                  </a:txBody>
                  <a:tcPr marL="7620" marR="7620" marT="7620" marB="0" anchor="b">
                    <a:lnL>
                      <a:noFill/>
                    </a:lnL>
                    <a:lnR>
                      <a:noFill/>
                    </a:lnR>
                    <a:lnT>
                      <a:noFill/>
                    </a:lnT>
                    <a:lnB>
                      <a:noFill/>
                    </a:lnB>
                    <a:solidFill>
                      <a:srgbClr val="F8696B"/>
                    </a:solidFill>
                  </a:tcPr>
                </a:tc>
                <a:extLst>
                  <a:ext uri="{0D108BD9-81ED-4DB2-BD59-A6C34878D82A}">
                    <a16:rowId xmlns:a16="http://schemas.microsoft.com/office/drawing/2014/main" val="410931072"/>
                  </a:ext>
                </a:extLst>
              </a:tr>
              <a:tr h="246208">
                <a:tc>
                  <a:txBody>
                    <a:bodyPr/>
                    <a:lstStyle/>
                    <a:p>
                      <a:pPr algn="ctr" fontAlgn="b"/>
                      <a:r>
                        <a:rPr lang="pt-BR" sz="1100" b="1" i="0" u="none" strike="noStrike" dirty="0">
                          <a:solidFill>
                            <a:srgbClr val="000000"/>
                          </a:solidFill>
                          <a:effectLst/>
                          <a:latin typeface="Calibri" panose="020F0502020204030204" pitchFamily="34" charset="0"/>
                        </a:rPr>
                        <a:t>Misc</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80777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72243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153020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89,44%</a:t>
                      </a:r>
                    </a:p>
                  </a:txBody>
                  <a:tcPr marL="7620" marR="7620" marT="7620" marB="0" anchor="b">
                    <a:lnL>
                      <a:noFill/>
                    </a:lnL>
                    <a:lnR>
                      <a:noFill/>
                    </a:lnR>
                    <a:lnT>
                      <a:noFill/>
                    </a:lnT>
                    <a:lnB>
                      <a:noFill/>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Misc</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451.348,19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385.467,78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836.815,97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extLst>
                  <a:ext uri="{0D108BD9-81ED-4DB2-BD59-A6C34878D82A}">
                    <a16:rowId xmlns:a16="http://schemas.microsoft.com/office/drawing/2014/main" val="2919637220"/>
                  </a:ext>
                </a:extLst>
              </a:tr>
              <a:tr h="246208">
                <a:tc>
                  <a:txBody>
                    <a:bodyPr/>
                    <a:lstStyle/>
                    <a:p>
                      <a:pPr algn="ctr" fontAlgn="b"/>
                      <a:r>
                        <a:rPr lang="pt-BR" sz="1100" b="1" i="0" u="none" strike="noStrike" dirty="0">
                          <a:solidFill>
                            <a:srgbClr val="000000"/>
                          </a:solidFill>
                          <a:effectLst/>
                          <a:latin typeface="Calibri" panose="020F0502020204030204" pitchFamily="34" charset="0"/>
                        </a:rPr>
                        <a:t>Shirts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14998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29965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99,79%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Shirts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159.296,30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167.968,24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327.264,54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105,4%</a:t>
                      </a:r>
                    </a:p>
                  </a:txBody>
                  <a:tcPr marL="7620" marR="7620" marT="7620" marB="0" anchor="b">
                    <a:lnL>
                      <a:noFill/>
                    </a:lnL>
                    <a:lnR>
                      <a:noFill/>
                    </a:lnR>
                    <a:lnT>
                      <a:noFill/>
                    </a:lnT>
                    <a:lnB>
                      <a:noFill/>
                    </a:lnB>
                    <a:solidFill>
                      <a:srgbClr val="FFEB84"/>
                    </a:solidFill>
                  </a:tcPr>
                </a:tc>
                <a:extLst>
                  <a:ext uri="{0D108BD9-81ED-4DB2-BD59-A6C34878D82A}">
                    <a16:rowId xmlns:a16="http://schemas.microsoft.com/office/drawing/2014/main" val="2565264881"/>
                  </a:ext>
                </a:extLst>
              </a:tr>
              <a:tr h="246208">
                <a:tc>
                  <a:txBody>
                    <a:bodyPr/>
                    <a:lstStyle/>
                    <a:p>
                      <a:pPr algn="ctr" fontAlgn="b"/>
                      <a:r>
                        <a:rPr lang="pt-BR" sz="1100" b="1" i="0" u="none" strike="noStrike" dirty="0">
                          <a:solidFill>
                            <a:srgbClr val="000000"/>
                          </a:solidFill>
                          <a:effectLst/>
                          <a:latin typeface="Calibri" panose="020F0502020204030204" pitchFamily="34" charset="0"/>
                        </a:rPr>
                        <a:t>StoreUse</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28767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28245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57012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98,19%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StoreUse</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35.231,94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36.025,56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71.257,50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102,3%</a:t>
                      </a:r>
                    </a:p>
                  </a:txBody>
                  <a:tcPr marL="7620" marR="7620" marT="7620" marB="0" anchor="b">
                    <a:lnL>
                      <a:noFill/>
                    </a:lnL>
                    <a:lnR>
                      <a:noFill/>
                    </a:lnR>
                    <a:lnT>
                      <a:noFill/>
                    </a:lnT>
                    <a:lnB>
                      <a:noFill/>
                    </a:lnB>
                    <a:solidFill>
                      <a:srgbClr val="FFEB84"/>
                    </a:solidFill>
                  </a:tcPr>
                </a:tc>
                <a:extLst>
                  <a:ext uri="{0D108BD9-81ED-4DB2-BD59-A6C34878D82A}">
                    <a16:rowId xmlns:a16="http://schemas.microsoft.com/office/drawing/2014/main" val="3253672179"/>
                  </a:ext>
                </a:extLst>
              </a:tr>
              <a:tr h="246208">
                <a:tc>
                  <a:txBody>
                    <a:bodyPr/>
                    <a:lstStyle/>
                    <a:p>
                      <a:pPr algn="ctr" fontAlgn="b"/>
                      <a:r>
                        <a:rPr lang="pt-BR" sz="1100" b="1" i="0" u="none" strike="noStrike" dirty="0">
                          <a:solidFill>
                            <a:srgbClr val="000000"/>
                          </a:solidFill>
                          <a:effectLst/>
                          <a:latin typeface="Calibri" panose="020F0502020204030204" pitchFamily="34" charset="0"/>
                        </a:rPr>
                        <a:t>WomensJeans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23453</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20931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44384</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89,25%</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WomensJeans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422.703,67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361.140,74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783.844,41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extLst>
                  <a:ext uri="{0D108BD9-81ED-4DB2-BD59-A6C34878D82A}">
                    <a16:rowId xmlns:a16="http://schemas.microsoft.com/office/drawing/2014/main" val="2612798833"/>
                  </a:ext>
                </a:extLst>
              </a:tr>
              <a:tr h="246208">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486277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451472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937749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92,84%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36%</a:t>
                      </a:r>
                    </a:p>
                  </a:txBody>
                  <a:tcPr marL="7620" marR="7620" marT="7620" marB="0" anchor="b">
                    <a:lnL>
                      <a:noFill/>
                    </a:lnL>
                    <a:lnR>
                      <a:noFill/>
                    </a:lnR>
                    <a:lnT>
                      <a:noFill/>
                    </a:lnT>
                    <a:lnB>
                      <a:noFill/>
                    </a:lnB>
                    <a:solidFill>
                      <a:srgbClr val="FA9A74"/>
                    </a:solidFill>
                  </a:tcPr>
                </a:tc>
                <a:extLst>
                  <a:ext uri="{0D108BD9-81ED-4DB2-BD59-A6C34878D82A}">
                    <a16:rowId xmlns:a16="http://schemas.microsoft.com/office/drawing/2014/main" val="3616337242"/>
                  </a:ext>
                </a:extLst>
              </a:tr>
            </a:tbl>
          </a:graphicData>
        </a:graphic>
      </p:graphicFrame>
    </p:spTree>
    <p:extLst>
      <p:ext uri="{BB962C8B-B14F-4D97-AF65-F5344CB8AC3E}">
        <p14:creationId xmlns:p14="http://schemas.microsoft.com/office/powerpoint/2010/main" val="2576186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Are there any particular groups of customers that are showing notable shifts in their purchasing habits from year to year?  If so, what are the marketing implications of these shifts?</a:t>
            </a:r>
            <a:endParaRPr lang="en-GB" sz="2000" dirty="0"/>
          </a:p>
        </p:txBody>
      </p:sp>
      <p:sp>
        <p:nvSpPr>
          <p:cNvPr id="34" name="CaixaDeTexto 33">
            <a:extLst>
              <a:ext uri="{FF2B5EF4-FFF2-40B4-BE49-F238E27FC236}">
                <a16:creationId xmlns:a16="http://schemas.microsoft.com/office/drawing/2014/main" id="{B24F375F-BB85-8A4E-EAC6-949D42DB7E79}"/>
              </a:ext>
            </a:extLst>
          </p:cNvPr>
          <p:cNvSpPr txBox="1"/>
          <p:nvPr/>
        </p:nvSpPr>
        <p:spPr>
          <a:xfrm>
            <a:off x="423521" y="5268430"/>
            <a:ext cx="11404845" cy="646331"/>
          </a:xfrm>
          <a:prstGeom prst="rect">
            <a:avLst/>
          </a:prstGeom>
          <a:noFill/>
        </p:spPr>
        <p:txBody>
          <a:bodyPr wrap="square">
            <a:spAutoFit/>
          </a:bodyPr>
          <a:lstStyle/>
          <a:p>
            <a:r>
              <a:rPr lang="en-US" b="0" i="0" dirty="0">
                <a:solidFill>
                  <a:srgbClr val="374151"/>
                </a:solidFill>
                <a:effectLst/>
                <a:latin typeface="Söhne"/>
              </a:rPr>
              <a:t>The new </a:t>
            </a:r>
            <a:r>
              <a:rPr lang="en-US" b="1" i="0" dirty="0">
                <a:solidFill>
                  <a:srgbClr val="374151"/>
                </a:solidFill>
                <a:effectLst/>
                <a:latin typeface="Söhne"/>
              </a:rPr>
              <a:t>Boots</a:t>
            </a:r>
            <a:r>
              <a:rPr lang="en-US" b="0" i="0" dirty="0">
                <a:solidFill>
                  <a:srgbClr val="374151"/>
                </a:solidFill>
                <a:effectLst/>
                <a:latin typeface="Söhne"/>
              </a:rPr>
              <a:t> department and the closed </a:t>
            </a:r>
            <a:r>
              <a:rPr lang="en-US" b="1" i="0" dirty="0">
                <a:solidFill>
                  <a:srgbClr val="374151"/>
                </a:solidFill>
                <a:effectLst/>
                <a:latin typeface="Söhne"/>
              </a:rPr>
              <a:t>KnickKnacks</a:t>
            </a:r>
            <a:r>
              <a:rPr lang="en-US" b="0" i="0" dirty="0">
                <a:solidFill>
                  <a:srgbClr val="374151"/>
                </a:solidFill>
                <a:effectLst/>
                <a:latin typeface="Söhne"/>
              </a:rPr>
              <a:t> department had a homogeneous distribution across all profiles, indicating that neither had a relatively more pronounced variation than the other.. </a:t>
            </a:r>
            <a:endParaRPr lang="pt-BR" dirty="0"/>
          </a:p>
        </p:txBody>
      </p:sp>
      <p:graphicFrame>
        <p:nvGraphicFramePr>
          <p:cNvPr id="5" name="Tabela 4">
            <a:extLst>
              <a:ext uri="{FF2B5EF4-FFF2-40B4-BE49-F238E27FC236}">
                <a16:creationId xmlns:a16="http://schemas.microsoft.com/office/drawing/2014/main" id="{76D6A960-F874-F988-9C7E-B1978B277682}"/>
              </a:ext>
            </a:extLst>
          </p:cNvPr>
          <p:cNvGraphicFramePr>
            <a:graphicFrameLocks noGrp="1"/>
          </p:cNvGraphicFramePr>
          <p:nvPr/>
        </p:nvGraphicFramePr>
        <p:xfrm>
          <a:off x="423521" y="1999103"/>
          <a:ext cx="12737142" cy="3024306"/>
        </p:xfrm>
        <a:graphic>
          <a:graphicData uri="http://schemas.openxmlformats.org/drawingml/2006/table">
            <a:tbl>
              <a:tblPr/>
              <a:tblGrid>
                <a:gridCol w="1716233">
                  <a:extLst>
                    <a:ext uri="{9D8B030D-6E8A-4147-A177-3AD203B41FA5}">
                      <a16:colId xmlns:a16="http://schemas.microsoft.com/office/drawing/2014/main" val="269614560"/>
                    </a:ext>
                  </a:extLst>
                </a:gridCol>
                <a:gridCol w="656207">
                  <a:extLst>
                    <a:ext uri="{9D8B030D-6E8A-4147-A177-3AD203B41FA5}">
                      <a16:colId xmlns:a16="http://schemas.microsoft.com/office/drawing/2014/main" val="3781346311"/>
                    </a:ext>
                  </a:extLst>
                </a:gridCol>
                <a:gridCol w="656207">
                  <a:extLst>
                    <a:ext uri="{9D8B030D-6E8A-4147-A177-3AD203B41FA5}">
                      <a16:colId xmlns:a16="http://schemas.microsoft.com/office/drawing/2014/main" val="4037802603"/>
                    </a:ext>
                  </a:extLst>
                </a:gridCol>
                <a:gridCol w="975897">
                  <a:extLst>
                    <a:ext uri="{9D8B030D-6E8A-4147-A177-3AD203B41FA5}">
                      <a16:colId xmlns:a16="http://schemas.microsoft.com/office/drawing/2014/main" val="893530953"/>
                    </a:ext>
                  </a:extLst>
                </a:gridCol>
                <a:gridCol w="908594">
                  <a:extLst>
                    <a:ext uri="{9D8B030D-6E8A-4147-A177-3AD203B41FA5}">
                      <a16:colId xmlns:a16="http://schemas.microsoft.com/office/drawing/2014/main" val="286425637"/>
                    </a:ext>
                  </a:extLst>
                </a:gridCol>
                <a:gridCol w="420645">
                  <a:extLst>
                    <a:ext uri="{9D8B030D-6E8A-4147-A177-3AD203B41FA5}">
                      <a16:colId xmlns:a16="http://schemas.microsoft.com/office/drawing/2014/main" val="3708923524"/>
                    </a:ext>
                  </a:extLst>
                </a:gridCol>
                <a:gridCol w="1716233">
                  <a:extLst>
                    <a:ext uri="{9D8B030D-6E8A-4147-A177-3AD203B41FA5}">
                      <a16:colId xmlns:a16="http://schemas.microsoft.com/office/drawing/2014/main" val="4032049311"/>
                    </a:ext>
                  </a:extLst>
                </a:gridCol>
                <a:gridCol w="1463846">
                  <a:extLst>
                    <a:ext uri="{9D8B030D-6E8A-4147-A177-3AD203B41FA5}">
                      <a16:colId xmlns:a16="http://schemas.microsoft.com/office/drawing/2014/main" val="830740479"/>
                    </a:ext>
                  </a:extLst>
                </a:gridCol>
                <a:gridCol w="1463846">
                  <a:extLst>
                    <a:ext uri="{9D8B030D-6E8A-4147-A177-3AD203B41FA5}">
                      <a16:colId xmlns:a16="http://schemas.microsoft.com/office/drawing/2014/main" val="3895461830"/>
                    </a:ext>
                  </a:extLst>
                </a:gridCol>
                <a:gridCol w="1547975">
                  <a:extLst>
                    <a:ext uri="{9D8B030D-6E8A-4147-A177-3AD203B41FA5}">
                      <a16:colId xmlns:a16="http://schemas.microsoft.com/office/drawing/2014/main" val="1437668175"/>
                    </a:ext>
                  </a:extLst>
                </a:gridCol>
                <a:gridCol w="1211459">
                  <a:extLst>
                    <a:ext uri="{9D8B030D-6E8A-4147-A177-3AD203B41FA5}">
                      <a16:colId xmlns:a16="http://schemas.microsoft.com/office/drawing/2014/main" val="1228491600"/>
                    </a:ext>
                  </a:extLst>
                </a:gridCol>
              </a:tblGrid>
              <a:tr h="336034">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416043549"/>
                  </a:ext>
                </a:extLst>
              </a:tr>
              <a:tr h="336034">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56206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52228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108434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92,9%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EE683"/>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888.311,64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314.778,90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1.203.090,54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DCD7E"/>
                    </a:solidFill>
                  </a:tcPr>
                </a:tc>
                <a:extLst>
                  <a:ext uri="{0D108BD9-81ED-4DB2-BD59-A6C34878D82A}">
                    <a16:rowId xmlns:a16="http://schemas.microsoft.com/office/drawing/2014/main" val="1666379372"/>
                  </a:ext>
                </a:extLst>
              </a:tr>
              <a:tr h="336034">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98364</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91731</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190095</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93,3%</a:t>
                      </a:r>
                    </a:p>
                  </a:txBody>
                  <a:tcPr marL="7620" marR="7620" marT="7620" marB="0" anchor="b">
                    <a:lnL>
                      <a:noFill/>
                    </a:lnL>
                    <a:lnR>
                      <a:noFill/>
                    </a:lnR>
                    <a:lnT>
                      <a:noFill/>
                    </a:lnT>
                    <a:lnB>
                      <a:noFill/>
                    </a:lnB>
                    <a:solidFill>
                      <a:srgbClr val="E2E383"/>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1.670.574,66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592.707,48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2.263.282,14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35,5%</a:t>
                      </a:r>
                    </a:p>
                  </a:txBody>
                  <a:tcPr marL="7620" marR="7620" marT="7620" marB="0" anchor="b">
                    <a:lnL>
                      <a:noFill/>
                    </a:lnL>
                    <a:lnR>
                      <a:noFill/>
                    </a:lnR>
                    <a:lnT>
                      <a:noFill/>
                    </a:lnT>
                    <a:lnB>
                      <a:noFill/>
                    </a:lnB>
                    <a:solidFill>
                      <a:srgbClr val="FDD07E"/>
                    </a:solidFill>
                  </a:tcPr>
                </a:tc>
                <a:extLst>
                  <a:ext uri="{0D108BD9-81ED-4DB2-BD59-A6C34878D82A}">
                    <a16:rowId xmlns:a16="http://schemas.microsoft.com/office/drawing/2014/main" val="712856447"/>
                  </a:ext>
                </a:extLst>
              </a:tr>
              <a:tr h="336034">
                <a:tc>
                  <a:txBody>
                    <a:bodyPr/>
                    <a:lstStyle/>
                    <a:p>
                      <a:pPr algn="ctr" fontAlgn="b"/>
                      <a:r>
                        <a:rPr lang="pt-BR" sz="14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88728</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83005</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171733</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93,5%</a:t>
                      </a:r>
                    </a:p>
                  </a:txBody>
                  <a:tcPr marL="7620" marR="7620" marT="7620" marB="0" anchor="b">
                    <a:lnL>
                      <a:noFill/>
                    </a:lnL>
                    <a:lnR>
                      <a:noFill/>
                    </a:lnR>
                    <a:lnT>
                      <a:noFill/>
                    </a:lnT>
                    <a:lnB>
                      <a:noFill/>
                    </a:lnB>
                    <a:solidFill>
                      <a:srgbClr val="B5D680"/>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 R$   1.524.126,97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 R$       579.201,62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 R$      2.103.328,59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38,0%</a:t>
                      </a:r>
                    </a:p>
                  </a:txBody>
                  <a:tcPr marL="7620" marR="7620" marT="7620" marB="0" anchor="b">
                    <a:lnL>
                      <a:noFill/>
                    </a:lnL>
                    <a:lnR>
                      <a:noFill/>
                    </a:lnR>
                    <a:lnT>
                      <a:noFill/>
                    </a:lnT>
                    <a:lnB>
                      <a:noFill/>
                    </a:lnB>
                    <a:solidFill>
                      <a:srgbClr val="7EC67D"/>
                    </a:solidFill>
                  </a:tcPr>
                </a:tc>
                <a:extLst>
                  <a:ext uri="{0D108BD9-81ED-4DB2-BD59-A6C34878D82A}">
                    <a16:rowId xmlns:a16="http://schemas.microsoft.com/office/drawing/2014/main" val="4022369927"/>
                  </a:ext>
                </a:extLst>
              </a:tr>
              <a:tr h="336034">
                <a:tc>
                  <a:txBody>
                    <a:bodyPr/>
                    <a:lstStyle/>
                    <a:p>
                      <a:pPr algn="ctr" fontAlgn="b"/>
                      <a:r>
                        <a:rPr lang="pt-BR" sz="14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31051</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28288</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59339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91,1%</a:t>
                      </a:r>
                    </a:p>
                  </a:txBody>
                  <a:tcPr marL="7620" marR="7620" marT="7620" marB="0" anchor="b">
                    <a:lnL>
                      <a:noFill/>
                    </a:lnL>
                    <a:lnR>
                      <a:noFill/>
                    </a:lnR>
                    <a:lnT>
                      <a:noFill/>
                    </a:lnT>
                    <a:lnB>
                      <a:noFill/>
                    </a:lnB>
                    <a:solidFill>
                      <a:srgbClr val="FBAB77"/>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200.379,05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68.016,36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268.395,41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33,9%</a:t>
                      </a:r>
                    </a:p>
                  </a:txBody>
                  <a:tcPr marL="7620" marR="7620" marT="7620" marB="0" anchor="b">
                    <a:lnL>
                      <a:noFill/>
                    </a:lnL>
                    <a:lnR>
                      <a:noFill/>
                    </a:lnR>
                    <a:lnT>
                      <a:noFill/>
                    </a:lnT>
                    <a:lnB>
                      <a:noFill/>
                    </a:lnB>
                    <a:solidFill>
                      <a:srgbClr val="F86A6B"/>
                    </a:solidFill>
                  </a:tcPr>
                </a:tc>
                <a:extLst>
                  <a:ext uri="{0D108BD9-81ED-4DB2-BD59-A6C34878D82A}">
                    <a16:rowId xmlns:a16="http://schemas.microsoft.com/office/drawing/2014/main" val="3229576644"/>
                  </a:ext>
                </a:extLst>
              </a:tr>
              <a:tr h="336034">
                <a:tc>
                  <a:txBody>
                    <a:bodyPr/>
                    <a:lstStyle/>
                    <a:p>
                      <a:pPr algn="ctr" fontAlgn="b"/>
                      <a:r>
                        <a:rPr lang="pt-BR" sz="1400" b="1" i="0" u="none" strike="noStrike" dirty="0">
                          <a:solidFill>
                            <a:srgbClr val="00B05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88122</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82908</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171030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94,1%</a:t>
                      </a:r>
                    </a:p>
                  </a:txBody>
                  <a:tcPr marL="7620" marR="7620" marT="7620" marB="0" anchor="b">
                    <a:lnL>
                      <a:noFill/>
                    </a:lnL>
                    <a:lnR>
                      <a:noFill/>
                    </a:lnR>
                    <a:lnT>
                      <a:noFill/>
                    </a:lnT>
                    <a:lnB>
                      <a:noFill/>
                    </a:lnB>
                    <a:solidFill>
                      <a:srgbClr val="63BE7B"/>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1.422.741,35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516.249,21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1.938.990,56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36,3%</a:t>
                      </a:r>
                    </a:p>
                  </a:txBody>
                  <a:tcPr marL="7620" marR="7620" marT="7620" marB="0" anchor="b">
                    <a:lnL>
                      <a:noFill/>
                    </a:lnL>
                    <a:lnR>
                      <a:noFill/>
                    </a:lnR>
                    <a:lnT>
                      <a:noFill/>
                    </a:lnT>
                    <a:lnB>
                      <a:noFill/>
                    </a:lnB>
                    <a:solidFill>
                      <a:srgbClr val="E7E483"/>
                    </a:solidFill>
                  </a:tcPr>
                </a:tc>
                <a:extLst>
                  <a:ext uri="{0D108BD9-81ED-4DB2-BD59-A6C34878D82A}">
                    <a16:rowId xmlns:a16="http://schemas.microsoft.com/office/drawing/2014/main" val="3870279420"/>
                  </a:ext>
                </a:extLst>
              </a:tr>
              <a:tr h="336034">
                <a:tc>
                  <a:txBody>
                    <a:bodyPr/>
                    <a:lstStyle/>
                    <a:p>
                      <a:pPr algn="ctr" fontAlgn="b"/>
                      <a:r>
                        <a:rPr lang="pt-BR" sz="1400" b="1" i="0" u="none" strike="noStrike" dirty="0">
                          <a:solidFill>
                            <a:srgbClr val="FF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50210</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44712</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94922</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89,0%</a:t>
                      </a:r>
                    </a:p>
                  </a:txBody>
                  <a:tcPr marL="7620" marR="7620" marT="7620" marB="0" anchor="b">
                    <a:lnL>
                      <a:noFill/>
                    </a:lnL>
                    <a:lnR>
                      <a:noFill/>
                    </a:lnR>
                    <a:lnT>
                      <a:noFill/>
                    </a:lnT>
                    <a:lnB>
                      <a:noFill/>
                    </a:lnB>
                    <a:solidFill>
                      <a:srgbClr val="F8696B"/>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725.431,87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246.091,89 </a:t>
                      </a:r>
                    </a:p>
                  </a:txBody>
                  <a:tcPr marL="7620" marR="7620" marT="7620" marB="0" anchor="b">
                    <a:lnL>
                      <a:noFill/>
                    </a:lnL>
                    <a:lnR>
                      <a:noFill/>
                    </a:lnR>
                    <a:lnT>
                      <a:noFill/>
                    </a:lnT>
                    <a:lnB>
                      <a:noFill/>
                    </a:lnB>
                  </a:tcPr>
                </a:tc>
                <a:tc>
                  <a:txBody>
                    <a:bodyPr/>
                    <a:lstStyle/>
                    <a:p>
                      <a:pPr algn="ctr" fontAlgn="b"/>
                      <a:r>
                        <a:rPr lang="pt-BR" sz="1400" b="1" i="0" u="none" strike="noStrike" dirty="0">
                          <a:solidFill>
                            <a:srgbClr val="FF0000"/>
                          </a:solidFill>
                          <a:effectLst/>
                          <a:latin typeface="Calibri" panose="020F0502020204030204" pitchFamily="34" charset="0"/>
                        </a:rPr>
                        <a:t> R$         971.523,76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33,9%</a:t>
                      </a:r>
                    </a:p>
                  </a:txBody>
                  <a:tcPr marL="7620" marR="7620" marT="7620" marB="0" anchor="b">
                    <a:lnL>
                      <a:noFill/>
                    </a:lnL>
                    <a:lnR>
                      <a:noFill/>
                    </a:lnR>
                    <a:lnT>
                      <a:noFill/>
                    </a:lnT>
                    <a:lnB>
                      <a:noFill/>
                    </a:lnB>
                    <a:solidFill>
                      <a:srgbClr val="F8696B"/>
                    </a:solidFill>
                  </a:tcPr>
                </a:tc>
                <a:extLst>
                  <a:ext uri="{0D108BD9-81ED-4DB2-BD59-A6C34878D82A}">
                    <a16:rowId xmlns:a16="http://schemas.microsoft.com/office/drawing/2014/main" val="280839737"/>
                  </a:ext>
                </a:extLst>
              </a:tr>
              <a:tr h="336034">
                <a:tc>
                  <a:txBody>
                    <a:bodyPr/>
                    <a:lstStyle/>
                    <a:p>
                      <a:pPr algn="ctr" fontAlgn="b"/>
                      <a:r>
                        <a:rPr lang="pt-BR" sz="14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73596</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68600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142196</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93,2%</a:t>
                      </a:r>
                    </a:p>
                  </a:txBody>
                  <a:tcPr marL="7620" marR="7620" marT="7620" marB="0" anchor="b">
                    <a:lnL>
                      <a:noFill/>
                    </a:lnL>
                    <a:lnR>
                      <a:noFill/>
                    </a:lnR>
                    <a:lnT>
                      <a:noFill/>
                    </a:lnT>
                    <a:lnB>
                      <a:noFill/>
                    </a:lnB>
                    <a:solidFill>
                      <a:srgbClr val="E9E583"/>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B05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1" i="0" u="none" strike="noStrike" dirty="0">
                          <a:solidFill>
                            <a:srgbClr val="00B050"/>
                          </a:solidFill>
                          <a:effectLst/>
                          <a:latin typeface="Calibri" panose="020F0502020204030204" pitchFamily="34" charset="0"/>
                        </a:rPr>
                        <a:t> R$   1.032.836,30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1" i="0" u="none" strike="noStrike" dirty="0">
                          <a:solidFill>
                            <a:srgbClr val="00B050"/>
                          </a:solidFill>
                          <a:effectLst/>
                          <a:latin typeface="Calibri" panose="020F0502020204030204" pitchFamily="34" charset="0"/>
                        </a:rPr>
                        <a:t> R$       397.064,75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1" i="0" u="none" strike="noStrike" dirty="0">
                          <a:solidFill>
                            <a:srgbClr val="00B050"/>
                          </a:solidFill>
                          <a:effectLst/>
                          <a:latin typeface="Calibri" panose="020F0502020204030204" pitchFamily="34" charset="0"/>
                        </a:rPr>
                        <a:t> R$      1.429.901,05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38,4%</a:t>
                      </a:r>
                    </a:p>
                  </a:txBody>
                  <a:tcPr marL="7620" marR="7620" marT="7620" marB="0" anchor="b">
                    <a:lnL>
                      <a:noFill/>
                    </a:lnL>
                    <a:lnR>
                      <a:noFill/>
                    </a:lnR>
                    <a:lnT>
                      <a:noFill/>
                    </a:lnT>
                    <a:lnB>
                      <a:noFill/>
                    </a:lnB>
                    <a:solidFill>
                      <a:srgbClr val="63BE7B"/>
                    </a:solidFill>
                  </a:tcPr>
                </a:tc>
                <a:extLst>
                  <a:ext uri="{0D108BD9-81ED-4DB2-BD59-A6C34878D82A}">
                    <a16:rowId xmlns:a16="http://schemas.microsoft.com/office/drawing/2014/main" val="3512287987"/>
                  </a:ext>
                </a:extLst>
              </a:tr>
              <a:tr h="336034">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486277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451472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937749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0" i="0" u="none" strike="noStrike" dirty="0">
                          <a:solidFill>
                            <a:srgbClr val="000000"/>
                          </a:solidFill>
                          <a:effectLst/>
                          <a:latin typeface="Calibri" panose="020F0502020204030204" pitchFamily="34" charset="0"/>
                        </a:rPr>
                        <a:t>92,8%</a:t>
                      </a:r>
                    </a:p>
                  </a:txBody>
                  <a:tcPr marL="7620" marR="7620" marT="7620" marB="0" anchor="b">
                    <a:lnL>
                      <a:noFill/>
                    </a:lnL>
                    <a:lnR>
                      <a:noFill/>
                    </a:lnR>
                    <a:lnT>
                      <a:noFill/>
                    </a:lnT>
                    <a:lnB>
                      <a:noFill/>
                    </a:lnB>
                    <a:solidFill>
                      <a:srgbClr val="FEE38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0" i="0" u="none" strike="noStrike" dirty="0">
                          <a:solidFill>
                            <a:srgbClr val="000000"/>
                          </a:solidFill>
                          <a:effectLst/>
                          <a:latin typeface="Calibri" panose="020F0502020204030204" pitchFamily="34" charset="0"/>
                        </a:rPr>
                        <a:t>36,4%</a:t>
                      </a:r>
                    </a:p>
                  </a:txBody>
                  <a:tcPr marL="7620" marR="7620" marT="7620" marB="0" anchor="b">
                    <a:lnL>
                      <a:noFill/>
                    </a:lnL>
                    <a:lnR>
                      <a:noFill/>
                    </a:lnR>
                    <a:lnT>
                      <a:noFill/>
                    </a:lnT>
                    <a:lnB>
                      <a:noFill/>
                    </a:lnB>
                    <a:solidFill>
                      <a:srgbClr val="E2E383"/>
                    </a:solidFill>
                  </a:tcPr>
                </a:tc>
                <a:extLst>
                  <a:ext uri="{0D108BD9-81ED-4DB2-BD59-A6C34878D82A}">
                    <a16:rowId xmlns:a16="http://schemas.microsoft.com/office/drawing/2014/main" val="3098933488"/>
                  </a:ext>
                </a:extLst>
              </a:tr>
            </a:tbl>
          </a:graphicData>
        </a:graphic>
      </p:graphicFrame>
    </p:spTree>
    <p:extLst>
      <p:ext uri="{BB962C8B-B14F-4D97-AF65-F5344CB8AC3E}">
        <p14:creationId xmlns:p14="http://schemas.microsoft.com/office/powerpoint/2010/main" val="3508237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Are there any particular groups of customers that are showing notable shifts in their purchasing habits from year to year?  If so, what are the marketing implications of these shifts?</a:t>
            </a:r>
            <a:endParaRPr lang="en-GB" sz="2000" dirty="0"/>
          </a:p>
        </p:txBody>
      </p:sp>
      <p:graphicFrame>
        <p:nvGraphicFramePr>
          <p:cNvPr id="16" name="Tabela 15">
            <a:extLst>
              <a:ext uri="{FF2B5EF4-FFF2-40B4-BE49-F238E27FC236}">
                <a16:creationId xmlns:a16="http://schemas.microsoft.com/office/drawing/2014/main" id="{DC13BD68-156D-CD1A-8BE1-B6C2F5772964}"/>
              </a:ext>
            </a:extLst>
          </p:cNvPr>
          <p:cNvGraphicFramePr>
            <a:graphicFrameLocks noGrp="1"/>
          </p:cNvGraphicFramePr>
          <p:nvPr>
            <p:extLst>
              <p:ext uri="{D42A27DB-BD31-4B8C-83A1-F6EECF244321}">
                <p14:modId xmlns:p14="http://schemas.microsoft.com/office/powerpoint/2010/main" val="823304049"/>
              </p:ext>
            </p:extLst>
          </p:nvPr>
        </p:nvGraphicFramePr>
        <p:xfrm>
          <a:off x="445880" y="2018191"/>
          <a:ext cx="12925840" cy="4503420"/>
        </p:xfrm>
        <a:graphic>
          <a:graphicData uri="http://schemas.openxmlformats.org/drawingml/2006/table">
            <a:tbl>
              <a:tblPr/>
              <a:tblGrid>
                <a:gridCol w="2082196">
                  <a:extLst>
                    <a:ext uri="{9D8B030D-6E8A-4147-A177-3AD203B41FA5}">
                      <a16:colId xmlns:a16="http://schemas.microsoft.com/office/drawing/2014/main" val="501951136"/>
                    </a:ext>
                  </a:extLst>
                </a:gridCol>
                <a:gridCol w="2136279">
                  <a:extLst>
                    <a:ext uri="{9D8B030D-6E8A-4147-A177-3AD203B41FA5}">
                      <a16:colId xmlns:a16="http://schemas.microsoft.com/office/drawing/2014/main" val="86352624"/>
                    </a:ext>
                  </a:extLst>
                </a:gridCol>
                <a:gridCol w="581392">
                  <a:extLst>
                    <a:ext uri="{9D8B030D-6E8A-4147-A177-3AD203B41FA5}">
                      <a16:colId xmlns:a16="http://schemas.microsoft.com/office/drawing/2014/main" val="441640838"/>
                    </a:ext>
                  </a:extLst>
                </a:gridCol>
                <a:gridCol w="1014057">
                  <a:extLst>
                    <a:ext uri="{9D8B030D-6E8A-4147-A177-3AD203B41FA5}">
                      <a16:colId xmlns:a16="http://schemas.microsoft.com/office/drawing/2014/main" val="2068429704"/>
                    </a:ext>
                  </a:extLst>
                </a:gridCol>
                <a:gridCol w="865328">
                  <a:extLst>
                    <a:ext uri="{9D8B030D-6E8A-4147-A177-3AD203B41FA5}">
                      <a16:colId xmlns:a16="http://schemas.microsoft.com/office/drawing/2014/main" val="3890207424"/>
                    </a:ext>
                  </a:extLst>
                </a:gridCol>
                <a:gridCol w="1811781">
                  <a:extLst>
                    <a:ext uri="{9D8B030D-6E8A-4147-A177-3AD203B41FA5}">
                      <a16:colId xmlns:a16="http://schemas.microsoft.com/office/drawing/2014/main" val="3476196486"/>
                    </a:ext>
                  </a:extLst>
                </a:gridCol>
                <a:gridCol w="1527845">
                  <a:extLst>
                    <a:ext uri="{9D8B030D-6E8A-4147-A177-3AD203B41FA5}">
                      <a16:colId xmlns:a16="http://schemas.microsoft.com/office/drawing/2014/main" val="3111850429"/>
                    </a:ext>
                  </a:extLst>
                </a:gridCol>
                <a:gridCol w="1379117">
                  <a:extLst>
                    <a:ext uri="{9D8B030D-6E8A-4147-A177-3AD203B41FA5}">
                      <a16:colId xmlns:a16="http://schemas.microsoft.com/office/drawing/2014/main" val="2949578152"/>
                    </a:ext>
                  </a:extLst>
                </a:gridCol>
                <a:gridCol w="1527845">
                  <a:extLst>
                    <a:ext uri="{9D8B030D-6E8A-4147-A177-3AD203B41FA5}">
                      <a16:colId xmlns:a16="http://schemas.microsoft.com/office/drawing/2014/main" val="2022048714"/>
                    </a:ext>
                  </a:extLst>
                </a:gridCol>
              </a:tblGrid>
              <a:tr h="340629">
                <a:tc gridSpan="9">
                  <a:txBody>
                    <a:bodyPr/>
                    <a:lstStyle/>
                    <a:p>
                      <a:pPr algn="ctr" fontAlgn="ctr"/>
                      <a:r>
                        <a:rPr lang="pt-BR" sz="2400" b="1" i="0" u="none" strike="noStrike" dirty="0">
                          <a:solidFill>
                            <a:srgbClr val="000000"/>
                          </a:solidFill>
                          <a:effectLst/>
                          <a:latin typeface="Calibri" panose="020F0502020204030204" pitchFamily="34" charset="0"/>
                        </a:rPr>
                        <a:t>KnickKnacks</a:t>
                      </a:r>
                    </a:p>
                  </a:txBody>
                  <a:tcPr marL="7620" marR="7620" marT="7620" marB="0" anchor="ctr">
                    <a:lnL>
                      <a:noFill/>
                    </a:lnL>
                    <a:lnR>
                      <a:noFill/>
                    </a:lnR>
                    <a:lnT>
                      <a:noFill/>
                    </a:lnT>
                    <a:lnB>
                      <a:noFill/>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302431783"/>
                  </a:ext>
                </a:extLst>
              </a:tr>
              <a:tr h="220948">
                <a:tc>
                  <a:txBody>
                    <a:bodyPr/>
                    <a:lstStyle/>
                    <a:p>
                      <a:pPr algn="ctr" fontAlgn="b"/>
                      <a:r>
                        <a:rPr lang="pt-BR" sz="1400" b="1" i="0" u="none" strike="noStrike" dirty="0">
                          <a:solidFill>
                            <a:srgbClr val="000000"/>
                          </a:solidFill>
                          <a:effectLst/>
                          <a:latin typeface="Calibri" panose="020F0502020204030204" pitchFamily="34" charset="0"/>
                        </a:rPr>
                        <a:t>SEGMENT</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SEGMENT</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944292407"/>
                  </a:ext>
                </a:extLst>
              </a:tr>
              <a:tr h="220948">
                <a:tc>
                  <a:txBody>
                    <a:bodyPr/>
                    <a:lstStyle/>
                    <a:p>
                      <a:pPr algn="ctr" fontAlgn="b"/>
                      <a:r>
                        <a:rPr lang="pt-BR" sz="1400" b="0" i="0" u="none" strike="noStrike" dirty="0">
                          <a:solidFill>
                            <a:srgbClr val="000000"/>
                          </a:solidFill>
                          <a:effectLst/>
                          <a:latin typeface="Calibri" panose="020F0502020204030204" pitchFamily="34" charset="0"/>
                        </a:rPr>
                        <a:t>CoreCustomers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22958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22978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CoreCustomers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1.198.962,96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0,91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1.198.963,87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1893996639"/>
                  </a:ext>
                </a:extLst>
              </a:tr>
              <a:tr h="220948">
                <a:tc>
                  <a:txBody>
                    <a:bodyPr/>
                    <a:lstStyle/>
                    <a:p>
                      <a:pPr algn="ctr" fontAlgn="b"/>
                      <a:r>
                        <a:rPr lang="pt-BR" sz="1400" b="0" i="0" u="none" strike="noStrike" dirty="0">
                          <a:solidFill>
                            <a:srgbClr val="000000"/>
                          </a:solidFill>
                          <a:effectLst/>
                          <a:latin typeface="Calibri" panose="020F0502020204030204" pitchFamily="34" charset="0"/>
                        </a:rPr>
                        <a:t>EliteCustomers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26456</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23</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26479</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EliteCustomers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1.243.867,85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1,13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1.243.868,98 </a:t>
                      </a:r>
                    </a:p>
                  </a:txBody>
                  <a:tcPr marL="7620" marR="7620" marT="7620" marB="0" anchor="b">
                    <a:lnL>
                      <a:noFill/>
                    </a:lnL>
                    <a:lnR>
                      <a:noFill/>
                    </a:lnR>
                    <a:lnT>
                      <a:noFill/>
                    </a:lnT>
                    <a:lnB>
                      <a:noFill/>
                    </a:lnB>
                  </a:tcPr>
                </a:tc>
                <a:extLst>
                  <a:ext uri="{0D108BD9-81ED-4DB2-BD59-A6C34878D82A}">
                    <a16:rowId xmlns:a16="http://schemas.microsoft.com/office/drawing/2014/main" val="3818747091"/>
                  </a:ext>
                </a:extLst>
              </a:tr>
              <a:tr h="220948">
                <a:tc>
                  <a:txBody>
                    <a:bodyPr/>
                    <a:lstStyle/>
                    <a:p>
                      <a:pPr algn="ctr" fontAlgn="b"/>
                      <a:r>
                        <a:rPr lang="pt-BR" sz="1400" b="0" i="0" u="none" strike="noStrike" dirty="0">
                          <a:solidFill>
                            <a:srgbClr val="000000"/>
                          </a:solidFill>
                          <a:effectLst/>
                          <a:latin typeface="Calibri" panose="020F0502020204030204" pitchFamily="34" charset="0"/>
                        </a:rPr>
                        <a:t>InfrequentCustomers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17027</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14</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17041</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InfrequentCustomers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761.115,77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0,63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761.116,40 </a:t>
                      </a:r>
                    </a:p>
                  </a:txBody>
                  <a:tcPr marL="7620" marR="7620" marT="7620" marB="0" anchor="b">
                    <a:lnL>
                      <a:noFill/>
                    </a:lnL>
                    <a:lnR>
                      <a:noFill/>
                    </a:lnR>
                    <a:lnT>
                      <a:noFill/>
                    </a:lnT>
                    <a:lnB>
                      <a:noFill/>
                    </a:lnB>
                  </a:tcPr>
                </a:tc>
                <a:extLst>
                  <a:ext uri="{0D108BD9-81ED-4DB2-BD59-A6C34878D82A}">
                    <a16:rowId xmlns:a16="http://schemas.microsoft.com/office/drawing/2014/main" val="3633442467"/>
                  </a:ext>
                </a:extLst>
              </a:tr>
              <a:tr h="220948">
                <a:tc>
                  <a:txBody>
                    <a:bodyPr/>
                    <a:lstStyle/>
                    <a:p>
                      <a:pPr algn="ctr" fontAlgn="b"/>
                      <a:r>
                        <a:rPr lang="pt-BR" sz="1400" b="0" i="0" u="none" strike="noStrike" dirty="0">
                          <a:solidFill>
                            <a:srgbClr val="000000"/>
                          </a:solidFill>
                          <a:effectLst/>
                          <a:latin typeface="Calibri" panose="020F0502020204030204" pitchFamily="34" charset="0"/>
                        </a:rPr>
                        <a:t>NewCustomers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16400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16</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16416</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NewCustomers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827.291,13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0,80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827.291,93 </a:t>
                      </a:r>
                    </a:p>
                  </a:txBody>
                  <a:tcPr marL="7620" marR="7620" marT="7620" marB="0" anchor="b">
                    <a:lnL>
                      <a:noFill/>
                    </a:lnL>
                    <a:lnR>
                      <a:noFill/>
                    </a:lnR>
                    <a:lnT>
                      <a:noFill/>
                    </a:lnT>
                    <a:lnB>
                      <a:noFill/>
                    </a:lnB>
                  </a:tcPr>
                </a:tc>
                <a:extLst>
                  <a:ext uri="{0D108BD9-81ED-4DB2-BD59-A6C34878D82A}">
                    <a16:rowId xmlns:a16="http://schemas.microsoft.com/office/drawing/2014/main" val="2569824165"/>
                  </a:ext>
                </a:extLst>
              </a:tr>
              <a:tr h="220948">
                <a:tc>
                  <a:txBody>
                    <a:bodyPr/>
                    <a:lstStyle/>
                    <a:p>
                      <a:pPr algn="ctr" fontAlgn="b"/>
                      <a:r>
                        <a:rPr lang="pt-BR" sz="1400" b="0" i="0" u="none" strike="noStrike" dirty="0">
                          <a:solidFill>
                            <a:srgbClr val="000000"/>
                          </a:solidFill>
                          <a:effectLst/>
                          <a:latin typeface="Calibri" panose="020F0502020204030204" pitchFamily="34" charset="0"/>
                        </a:rPr>
                        <a:t>PowerShoppers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17992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16</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18008</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PowerShoppers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808.570,93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0,63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808.571,56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3499921637"/>
                  </a:ext>
                </a:extLst>
              </a:tr>
              <a:tr h="220948">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100833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100922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4.839.808,64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4,10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4.839.812,74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4141436425"/>
                  </a:ext>
                </a:extLst>
              </a:tr>
              <a:tr h="220948">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061526026"/>
                  </a:ext>
                </a:extLst>
              </a:tr>
              <a:tr h="220948">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363955"/>
                  </a:ext>
                </a:extLst>
              </a:tr>
              <a:tr h="220948">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661648891"/>
                  </a:ext>
                </a:extLst>
              </a:tr>
              <a:tr h="340629">
                <a:tc gridSpan="9">
                  <a:txBody>
                    <a:bodyPr/>
                    <a:lstStyle/>
                    <a:p>
                      <a:pPr algn="ctr" fontAlgn="ctr"/>
                      <a:r>
                        <a:rPr lang="pt-BR" sz="2400" b="1" i="0" u="none" strike="noStrike" dirty="0">
                          <a:solidFill>
                            <a:srgbClr val="000000"/>
                          </a:solidFill>
                          <a:effectLst/>
                          <a:latin typeface="Calibri" panose="020F0502020204030204" pitchFamily="34" charset="0"/>
                        </a:rPr>
                        <a:t>BOOTS</a:t>
                      </a:r>
                    </a:p>
                  </a:txBody>
                  <a:tcPr marL="7620" marR="7620" marT="7620" marB="0" anchor="ctr">
                    <a:lnL>
                      <a:noFill/>
                    </a:lnL>
                    <a:lnR>
                      <a:noFill/>
                    </a:lnR>
                    <a:lnT>
                      <a:noFill/>
                    </a:lnT>
                    <a:lnB>
                      <a:noFill/>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3340416"/>
                  </a:ext>
                </a:extLst>
              </a:tr>
              <a:tr h="220948">
                <a:tc>
                  <a:txBody>
                    <a:bodyPr/>
                    <a:lstStyle/>
                    <a:p>
                      <a:pPr algn="ctr" fontAlgn="b"/>
                      <a:r>
                        <a:rPr lang="pt-BR" sz="1400" b="1" i="0" u="none" strike="noStrike" dirty="0">
                          <a:solidFill>
                            <a:srgbClr val="000000"/>
                          </a:solidFill>
                          <a:effectLst/>
                          <a:latin typeface="Calibri" panose="020F0502020204030204" pitchFamily="34" charset="0"/>
                        </a:rPr>
                        <a:t>SEGMENT</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SEGMENT</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52264313"/>
                  </a:ext>
                </a:extLst>
              </a:tr>
              <a:tr h="220948">
                <a:tc>
                  <a:txBody>
                    <a:bodyPr/>
                    <a:lstStyle/>
                    <a:p>
                      <a:pPr algn="ctr" fontAlgn="b"/>
                      <a:r>
                        <a:rPr lang="pt-BR" sz="1400" b="0" i="0" u="none" strike="noStrike" dirty="0">
                          <a:solidFill>
                            <a:srgbClr val="000000"/>
                          </a:solidFill>
                          <a:effectLst/>
                          <a:latin typeface="Calibri" panose="020F0502020204030204" pitchFamily="34" charset="0"/>
                        </a:rPr>
                        <a:t>CoreCustomers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17214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17233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CoreCustomers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37.001,55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37.001,59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243427026"/>
                  </a:ext>
                </a:extLst>
              </a:tr>
              <a:tr h="220948">
                <a:tc>
                  <a:txBody>
                    <a:bodyPr/>
                    <a:lstStyle/>
                    <a:p>
                      <a:pPr algn="ctr" fontAlgn="b"/>
                      <a:r>
                        <a:rPr lang="pt-BR" sz="1400" b="0" i="0" u="none" strike="noStrike" dirty="0">
                          <a:solidFill>
                            <a:srgbClr val="000000"/>
                          </a:solidFill>
                          <a:effectLst/>
                          <a:latin typeface="Calibri" panose="020F0502020204030204" pitchFamily="34" charset="0"/>
                        </a:rPr>
                        <a:t>EliteCustomers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22749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22778</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EliteCustomers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68.673,47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68.673,52 </a:t>
                      </a:r>
                    </a:p>
                  </a:txBody>
                  <a:tcPr marL="7620" marR="7620" marT="7620" marB="0" anchor="b">
                    <a:lnL>
                      <a:noFill/>
                    </a:lnL>
                    <a:lnR>
                      <a:noFill/>
                    </a:lnR>
                    <a:lnT>
                      <a:noFill/>
                    </a:lnT>
                    <a:lnB>
                      <a:noFill/>
                    </a:lnB>
                  </a:tcPr>
                </a:tc>
                <a:extLst>
                  <a:ext uri="{0D108BD9-81ED-4DB2-BD59-A6C34878D82A}">
                    <a16:rowId xmlns:a16="http://schemas.microsoft.com/office/drawing/2014/main" val="3904862707"/>
                  </a:ext>
                </a:extLst>
              </a:tr>
              <a:tr h="220948">
                <a:tc>
                  <a:txBody>
                    <a:bodyPr/>
                    <a:lstStyle/>
                    <a:p>
                      <a:pPr algn="ctr" fontAlgn="b"/>
                      <a:r>
                        <a:rPr lang="pt-BR" sz="1400" b="0" i="0" u="none" strike="noStrike" dirty="0">
                          <a:solidFill>
                            <a:srgbClr val="000000"/>
                          </a:solidFill>
                          <a:effectLst/>
                          <a:latin typeface="Calibri" panose="020F0502020204030204" pitchFamily="34" charset="0"/>
                        </a:rPr>
                        <a:t>InfrequentCustomers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17240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17259</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InfrequentCustomers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45.260,48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45.260,53 </a:t>
                      </a:r>
                    </a:p>
                  </a:txBody>
                  <a:tcPr marL="7620" marR="7620" marT="7620" marB="0" anchor="b">
                    <a:lnL>
                      <a:noFill/>
                    </a:lnL>
                    <a:lnR>
                      <a:noFill/>
                    </a:lnR>
                    <a:lnT>
                      <a:noFill/>
                    </a:lnT>
                    <a:lnB>
                      <a:noFill/>
                    </a:lnB>
                  </a:tcPr>
                </a:tc>
                <a:extLst>
                  <a:ext uri="{0D108BD9-81ED-4DB2-BD59-A6C34878D82A}">
                    <a16:rowId xmlns:a16="http://schemas.microsoft.com/office/drawing/2014/main" val="2278097473"/>
                  </a:ext>
                </a:extLst>
              </a:tr>
              <a:tr h="220948">
                <a:tc>
                  <a:txBody>
                    <a:bodyPr/>
                    <a:lstStyle/>
                    <a:p>
                      <a:pPr algn="ctr" fontAlgn="b"/>
                      <a:r>
                        <a:rPr lang="pt-BR" sz="1400" b="0" i="0" u="none" strike="noStrike" dirty="0">
                          <a:solidFill>
                            <a:srgbClr val="000000"/>
                          </a:solidFill>
                          <a:effectLst/>
                          <a:latin typeface="Calibri" panose="020F0502020204030204" pitchFamily="34" charset="0"/>
                        </a:rPr>
                        <a:t>NewCustomers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14</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15439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15453</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NewCustomers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40.536,53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40.536,56 </a:t>
                      </a:r>
                    </a:p>
                  </a:txBody>
                  <a:tcPr marL="7620" marR="7620" marT="7620" marB="0" anchor="b">
                    <a:lnL>
                      <a:noFill/>
                    </a:lnL>
                    <a:lnR>
                      <a:noFill/>
                    </a:lnR>
                    <a:lnT>
                      <a:noFill/>
                    </a:lnT>
                    <a:lnB>
                      <a:noFill/>
                    </a:lnB>
                  </a:tcPr>
                </a:tc>
                <a:extLst>
                  <a:ext uri="{0D108BD9-81ED-4DB2-BD59-A6C34878D82A}">
                    <a16:rowId xmlns:a16="http://schemas.microsoft.com/office/drawing/2014/main" val="2995671151"/>
                  </a:ext>
                </a:extLst>
              </a:tr>
              <a:tr h="220948">
                <a:tc>
                  <a:txBody>
                    <a:bodyPr/>
                    <a:lstStyle/>
                    <a:p>
                      <a:pPr algn="ctr" fontAlgn="b"/>
                      <a:r>
                        <a:rPr lang="pt-BR" sz="1400" b="0" i="0" u="none" strike="noStrike" dirty="0">
                          <a:solidFill>
                            <a:srgbClr val="000000"/>
                          </a:solidFill>
                          <a:effectLst/>
                          <a:latin typeface="Calibri" panose="020F0502020204030204" pitchFamily="34" charset="0"/>
                        </a:rPr>
                        <a:t>PowerShoppers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16</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14956</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14972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PowerShoppers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0,03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29.723,90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29.723,93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536967791"/>
                  </a:ext>
                </a:extLst>
              </a:tr>
              <a:tr h="220948">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97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87598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87695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0,20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221.195,93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221.196,13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607962964"/>
                  </a:ext>
                </a:extLst>
              </a:tr>
            </a:tbl>
          </a:graphicData>
        </a:graphic>
      </p:graphicFrame>
    </p:spTree>
    <p:extLst>
      <p:ext uri="{BB962C8B-B14F-4D97-AF65-F5344CB8AC3E}">
        <p14:creationId xmlns:p14="http://schemas.microsoft.com/office/powerpoint/2010/main" val="802717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Are there any particular groups of customers that are showing notable shifts in their purchasing habits from year to year?  If so, what are the marketing implications of these shifts?</a:t>
            </a:r>
            <a:endParaRPr lang="en-GB" sz="2000" dirty="0"/>
          </a:p>
        </p:txBody>
      </p:sp>
      <p:graphicFrame>
        <p:nvGraphicFramePr>
          <p:cNvPr id="3" name="Tabela 2">
            <a:extLst>
              <a:ext uri="{FF2B5EF4-FFF2-40B4-BE49-F238E27FC236}">
                <a16:creationId xmlns:a16="http://schemas.microsoft.com/office/drawing/2014/main" id="{AED64FD3-1860-2139-99F0-CC909E57DB46}"/>
              </a:ext>
            </a:extLst>
          </p:cNvPr>
          <p:cNvGraphicFramePr>
            <a:graphicFrameLocks noGrp="1"/>
          </p:cNvGraphicFramePr>
          <p:nvPr>
            <p:extLst>
              <p:ext uri="{D42A27DB-BD31-4B8C-83A1-F6EECF244321}">
                <p14:modId xmlns:p14="http://schemas.microsoft.com/office/powerpoint/2010/main" val="1512241111"/>
              </p:ext>
            </p:extLst>
          </p:nvPr>
        </p:nvGraphicFramePr>
        <p:xfrm>
          <a:off x="421190" y="1950807"/>
          <a:ext cx="12975220" cy="4945380"/>
        </p:xfrm>
        <a:graphic>
          <a:graphicData uri="http://schemas.openxmlformats.org/drawingml/2006/table">
            <a:tbl>
              <a:tblPr/>
              <a:tblGrid>
                <a:gridCol w="1865394">
                  <a:extLst>
                    <a:ext uri="{9D8B030D-6E8A-4147-A177-3AD203B41FA5}">
                      <a16:colId xmlns:a16="http://schemas.microsoft.com/office/drawing/2014/main" val="3953344031"/>
                    </a:ext>
                  </a:extLst>
                </a:gridCol>
                <a:gridCol w="825396">
                  <a:extLst>
                    <a:ext uri="{9D8B030D-6E8A-4147-A177-3AD203B41FA5}">
                      <a16:colId xmlns:a16="http://schemas.microsoft.com/office/drawing/2014/main" val="1716755729"/>
                    </a:ext>
                  </a:extLst>
                </a:gridCol>
                <a:gridCol w="709840">
                  <a:extLst>
                    <a:ext uri="{9D8B030D-6E8A-4147-A177-3AD203B41FA5}">
                      <a16:colId xmlns:a16="http://schemas.microsoft.com/office/drawing/2014/main" val="2364907614"/>
                    </a:ext>
                  </a:extLst>
                </a:gridCol>
                <a:gridCol w="1238094">
                  <a:extLst>
                    <a:ext uri="{9D8B030D-6E8A-4147-A177-3AD203B41FA5}">
                      <a16:colId xmlns:a16="http://schemas.microsoft.com/office/drawing/2014/main" val="635615491"/>
                    </a:ext>
                  </a:extLst>
                </a:gridCol>
                <a:gridCol w="1056506">
                  <a:extLst>
                    <a:ext uri="{9D8B030D-6E8A-4147-A177-3AD203B41FA5}">
                      <a16:colId xmlns:a16="http://schemas.microsoft.com/office/drawing/2014/main" val="2457926224"/>
                    </a:ext>
                  </a:extLst>
                </a:gridCol>
                <a:gridCol w="1865394">
                  <a:extLst>
                    <a:ext uri="{9D8B030D-6E8A-4147-A177-3AD203B41FA5}">
                      <a16:colId xmlns:a16="http://schemas.microsoft.com/office/drawing/2014/main" val="885079574"/>
                    </a:ext>
                  </a:extLst>
                </a:gridCol>
                <a:gridCol w="1865394">
                  <a:extLst>
                    <a:ext uri="{9D8B030D-6E8A-4147-A177-3AD203B41FA5}">
                      <a16:colId xmlns:a16="http://schemas.microsoft.com/office/drawing/2014/main" val="1109857289"/>
                    </a:ext>
                  </a:extLst>
                </a:gridCol>
                <a:gridCol w="1683808">
                  <a:extLst>
                    <a:ext uri="{9D8B030D-6E8A-4147-A177-3AD203B41FA5}">
                      <a16:colId xmlns:a16="http://schemas.microsoft.com/office/drawing/2014/main" val="3803187758"/>
                    </a:ext>
                  </a:extLst>
                </a:gridCol>
                <a:gridCol w="1865394">
                  <a:extLst>
                    <a:ext uri="{9D8B030D-6E8A-4147-A177-3AD203B41FA5}">
                      <a16:colId xmlns:a16="http://schemas.microsoft.com/office/drawing/2014/main" val="3059434851"/>
                    </a:ext>
                  </a:extLst>
                </a:gridCol>
              </a:tblGrid>
              <a:tr h="327808">
                <a:tc gridSpan="9">
                  <a:txBody>
                    <a:bodyPr/>
                    <a:lstStyle/>
                    <a:p>
                      <a:pPr algn="ctr" fontAlgn="ctr"/>
                      <a:r>
                        <a:rPr lang="pt-BR" sz="2400" b="1" i="0" u="none" strike="noStrike" dirty="0">
                          <a:solidFill>
                            <a:srgbClr val="000000"/>
                          </a:solidFill>
                          <a:effectLst/>
                          <a:latin typeface="Calibri" panose="020F0502020204030204" pitchFamily="34" charset="0"/>
                        </a:rPr>
                        <a:t>KnickKnacks</a:t>
                      </a:r>
                    </a:p>
                  </a:txBody>
                  <a:tcPr marL="7620" marR="7620" marT="7620" marB="0" anchor="ctr">
                    <a:lnL>
                      <a:noFill/>
                    </a:lnL>
                    <a:lnR>
                      <a:noFill/>
                    </a:lnR>
                    <a:lnT>
                      <a:noFill/>
                    </a:lnT>
                    <a:lnB>
                      <a:noFill/>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168560970"/>
                  </a:ext>
                </a:extLst>
              </a:tr>
              <a:tr h="211608">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99663576"/>
                  </a:ext>
                </a:extLst>
              </a:tr>
              <a:tr h="211608">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11820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11830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572.283,41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0,46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572.283,87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35821853"/>
                  </a:ext>
                </a:extLst>
              </a:tr>
              <a:tr h="211608">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20449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20468</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1.086.229,44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0,91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1.086.230,35 </a:t>
                      </a:r>
                    </a:p>
                  </a:txBody>
                  <a:tcPr marL="7620" marR="7620" marT="7620" marB="0" anchor="b">
                    <a:lnL>
                      <a:noFill/>
                    </a:lnL>
                    <a:lnR>
                      <a:noFill/>
                    </a:lnR>
                    <a:lnT>
                      <a:noFill/>
                    </a:lnT>
                    <a:lnB>
                      <a:noFill/>
                    </a:lnB>
                  </a:tcPr>
                </a:tc>
                <a:extLst>
                  <a:ext uri="{0D108BD9-81ED-4DB2-BD59-A6C34878D82A}">
                    <a16:rowId xmlns:a16="http://schemas.microsoft.com/office/drawing/2014/main" val="1399738433"/>
                  </a:ext>
                </a:extLst>
              </a:tr>
              <a:tr h="211608">
                <a:tc>
                  <a:txBody>
                    <a:bodyPr/>
                    <a:lstStyle/>
                    <a:p>
                      <a:pPr algn="ctr" fontAlgn="b"/>
                      <a:r>
                        <a:rPr lang="pt-BR" sz="14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18000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18017</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975.041,83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0,85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975.042,68 </a:t>
                      </a:r>
                    </a:p>
                  </a:txBody>
                  <a:tcPr marL="7620" marR="7620" marT="7620" marB="0" anchor="b">
                    <a:lnL>
                      <a:noFill/>
                    </a:lnL>
                    <a:lnR>
                      <a:noFill/>
                    </a:lnR>
                    <a:lnT>
                      <a:noFill/>
                    </a:lnT>
                    <a:lnB>
                      <a:noFill/>
                    </a:lnB>
                  </a:tcPr>
                </a:tc>
                <a:extLst>
                  <a:ext uri="{0D108BD9-81ED-4DB2-BD59-A6C34878D82A}">
                    <a16:rowId xmlns:a16="http://schemas.microsoft.com/office/drawing/2014/main" val="3041346952"/>
                  </a:ext>
                </a:extLst>
              </a:tr>
              <a:tr h="211608">
                <a:tc>
                  <a:txBody>
                    <a:bodyPr/>
                    <a:lstStyle/>
                    <a:p>
                      <a:pPr algn="ctr" fontAlgn="b"/>
                      <a:r>
                        <a:rPr lang="pt-BR" sz="14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6547</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6552</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133.447,65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0,11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133.447,76 </a:t>
                      </a:r>
                    </a:p>
                  </a:txBody>
                  <a:tcPr marL="7620" marR="7620" marT="7620" marB="0" anchor="b">
                    <a:lnL>
                      <a:noFill/>
                    </a:lnL>
                    <a:lnR>
                      <a:noFill/>
                    </a:lnR>
                    <a:lnT>
                      <a:noFill/>
                    </a:lnT>
                    <a:lnB>
                      <a:noFill/>
                    </a:lnB>
                  </a:tcPr>
                </a:tc>
                <a:extLst>
                  <a:ext uri="{0D108BD9-81ED-4DB2-BD59-A6C34878D82A}">
                    <a16:rowId xmlns:a16="http://schemas.microsoft.com/office/drawing/2014/main" val="957746857"/>
                  </a:ext>
                </a:extLst>
              </a:tr>
              <a:tr h="211608">
                <a:tc>
                  <a:txBody>
                    <a:bodyPr/>
                    <a:lstStyle/>
                    <a:p>
                      <a:pPr algn="ctr" fontAlgn="b"/>
                      <a:r>
                        <a:rPr lang="pt-BR" sz="14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18023</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18038</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920.206,77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0,76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920.207,53 </a:t>
                      </a:r>
                    </a:p>
                  </a:txBody>
                  <a:tcPr marL="7620" marR="7620" marT="7620" marB="0" anchor="b">
                    <a:lnL>
                      <a:noFill/>
                    </a:lnL>
                    <a:lnR>
                      <a:noFill/>
                    </a:lnR>
                    <a:lnT>
                      <a:noFill/>
                    </a:lnT>
                    <a:lnB>
                      <a:noFill/>
                    </a:lnB>
                  </a:tcPr>
                </a:tc>
                <a:extLst>
                  <a:ext uri="{0D108BD9-81ED-4DB2-BD59-A6C34878D82A}">
                    <a16:rowId xmlns:a16="http://schemas.microsoft.com/office/drawing/2014/main" val="710608582"/>
                  </a:ext>
                </a:extLst>
              </a:tr>
              <a:tr h="211608">
                <a:tc>
                  <a:txBody>
                    <a:bodyPr/>
                    <a:lstStyle/>
                    <a:p>
                      <a:pPr algn="ctr" fontAlgn="b"/>
                      <a:r>
                        <a:rPr lang="pt-BR" sz="1400" b="0" i="0" u="none" strike="noStrike" dirty="0">
                          <a:solidFill>
                            <a:srgbClr val="00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10936</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10945</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491.395,07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0,42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491.395,49 </a:t>
                      </a:r>
                    </a:p>
                  </a:txBody>
                  <a:tcPr marL="7620" marR="7620" marT="7620" marB="0" anchor="b">
                    <a:lnL>
                      <a:noFill/>
                    </a:lnL>
                    <a:lnR>
                      <a:noFill/>
                    </a:lnR>
                    <a:lnT>
                      <a:noFill/>
                    </a:lnT>
                    <a:lnB>
                      <a:noFill/>
                    </a:lnB>
                  </a:tcPr>
                </a:tc>
                <a:extLst>
                  <a:ext uri="{0D108BD9-81ED-4DB2-BD59-A6C34878D82A}">
                    <a16:rowId xmlns:a16="http://schemas.microsoft.com/office/drawing/2014/main" val="2036961424"/>
                  </a:ext>
                </a:extLst>
              </a:tr>
              <a:tr h="211608">
                <a:tc>
                  <a:txBody>
                    <a:bodyPr/>
                    <a:lstStyle/>
                    <a:p>
                      <a:pPr algn="ctr" fontAlgn="b"/>
                      <a:r>
                        <a:rPr lang="pt-BR" sz="14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15058</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14</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15072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661.204,47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0,59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661.205,06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4269740112"/>
                  </a:ext>
                </a:extLst>
              </a:tr>
              <a:tr h="211608">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100833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100922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4.839.808,64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4,10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4.839.812,74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140185571"/>
                  </a:ext>
                </a:extLst>
              </a:tr>
              <a:tr h="211608">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3322722607"/>
                  </a:ext>
                </a:extLst>
              </a:tr>
              <a:tr h="327808">
                <a:tc gridSpan="9">
                  <a:txBody>
                    <a:bodyPr/>
                    <a:lstStyle/>
                    <a:p>
                      <a:pPr algn="ctr" fontAlgn="ctr"/>
                      <a:r>
                        <a:rPr lang="pt-BR" sz="2400" b="1" i="0" u="none" strike="noStrike" dirty="0">
                          <a:solidFill>
                            <a:srgbClr val="000000"/>
                          </a:solidFill>
                          <a:effectLst/>
                          <a:latin typeface="Calibri" panose="020F0502020204030204" pitchFamily="34" charset="0"/>
                        </a:rPr>
                        <a:t>BOOTS</a:t>
                      </a:r>
                    </a:p>
                  </a:txBody>
                  <a:tcPr marL="7620" marR="7620" marT="7620" marB="0" anchor="ctr">
                    <a:lnL>
                      <a:noFill/>
                    </a:lnL>
                    <a:lnR>
                      <a:noFill/>
                    </a:lnR>
                    <a:lnT>
                      <a:noFill/>
                    </a:lnT>
                    <a:lnB>
                      <a:noFill/>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731983448"/>
                  </a:ext>
                </a:extLst>
              </a:tr>
              <a:tr h="211608">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a:noFill/>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171061349"/>
                  </a:ext>
                </a:extLst>
              </a:tr>
              <a:tr h="211608">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10774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10786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28.753,20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28.753,23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3918177005"/>
                  </a:ext>
                </a:extLst>
              </a:tr>
              <a:tr h="211608">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20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18072</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18092</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0,05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51.299,62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51.299,67 </a:t>
                      </a:r>
                    </a:p>
                  </a:txBody>
                  <a:tcPr marL="7620" marR="7620" marT="7620" marB="0" anchor="b">
                    <a:lnL>
                      <a:noFill/>
                    </a:lnL>
                    <a:lnR>
                      <a:noFill/>
                    </a:lnR>
                    <a:lnT>
                      <a:noFill/>
                    </a:lnT>
                    <a:lnB>
                      <a:noFill/>
                    </a:lnB>
                  </a:tcPr>
                </a:tc>
                <a:extLst>
                  <a:ext uri="{0D108BD9-81ED-4DB2-BD59-A6C34878D82A}">
                    <a16:rowId xmlns:a16="http://schemas.microsoft.com/office/drawing/2014/main" val="380821678"/>
                  </a:ext>
                </a:extLst>
              </a:tr>
              <a:tr h="211608">
                <a:tc>
                  <a:txBody>
                    <a:bodyPr/>
                    <a:lstStyle/>
                    <a:p>
                      <a:pPr algn="ctr" fontAlgn="b"/>
                      <a:r>
                        <a:rPr lang="pt-BR" sz="14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15569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15586</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43.236,66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43.236,69 </a:t>
                      </a:r>
                    </a:p>
                  </a:txBody>
                  <a:tcPr marL="7620" marR="7620" marT="7620" marB="0" anchor="b">
                    <a:lnL>
                      <a:noFill/>
                    </a:lnL>
                    <a:lnR>
                      <a:noFill/>
                    </a:lnR>
                    <a:lnT>
                      <a:noFill/>
                    </a:lnT>
                    <a:lnB>
                      <a:noFill/>
                    </a:lnB>
                  </a:tcPr>
                </a:tc>
                <a:extLst>
                  <a:ext uri="{0D108BD9-81ED-4DB2-BD59-A6C34878D82A}">
                    <a16:rowId xmlns:a16="http://schemas.microsoft.com/office/drawing/2014/main" val="2096675581"/>
                  </a:ext>
                </a:extLst>
              </a:tr>
              <a:tr h="211608">
                <a:tc>
                  <a:txBody>
                    <a:bodyPr/>
                    <a:lstStyle/>
                    <a:p>
                      <a:pPr algn="ctr" fontAlgn="b"/>
                      <a:r>
                        <a:rPr lang="pt-BR" sz="14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5676</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5682</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6.325,54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6.325,54 </a:t>
                      </a:r>
                    </a:p>
                  </a:txBody>
                  <a:tcPr marL="7620" marR="7620" marT="7620" marB="0" anchor="b">
                    <a:lnL>
                      <a:noFill/>
                    </a:lnL>
                    <a:lnR>
                      <a:noFill/>
                    </a:lnR>
                    <a:lnT>
                      <a:noFill/>
                    </a:lnT>
                    <a:lnB>
                      <a:noFill/>
                    </a:lnB>
                  </a:tcPr>
                </a:tc>
                <a:extLst>
                  <a:ext uri="{0D108BD9-81ED-4DB2-BD59-A6C34878D82A}">
                    <a16:rowId xmlns:a16="http://schemas.microsoft.com/office/drawing/2014/main" val="4290783209"/>
                  </a:ext>
                </a:extLst>
              </a:tr>
              <a:tr h="211608">
                <a:tc>
                  <a:txBody>
                    <a:bodyPr/>
                    <a:lstStyle/>
                    <a:p>
                      <a:pPr algn="ctr" fontAlgn="b"/>
                      <a:r>
                        <a:rPr lang="pt-BR" sz="14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15504</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15521</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0,04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37.414,88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37.414,92 </a:t>
                      </a:r>
                    </a:p>
                  </a:txBody>
                  <a:tcPr marL="7620" marR="7620" marT="7620" marB="0" anchor="b">
                    <a:lnL>
                      <a:noFill/>
                    </a:lnL>
                    <a:lnR>
                      <a:noFill/>
                    </a:lnR>
                    <a:lnT>
                      <a:noFill/>
                    </a:lnT>
                    <a:lnB>
                      <a:noFill/>
                    </a:lnB>
                  </a:tcPr>
                </a:tc>
                <a:extLst>
                  <a:ext uri="{0D108BD9-81ED-4DB2-BD59-A6C34878D82A}">
                    <a16:rowId xmlns:a16="http://schemas.microsoft.com/office/drawing/2014/main" val="2326688468"/>
                  </a:ext>
                </a:extLst>
              </a:tr>
              <a:tr h="211608">
                <a:tc>
                  <a:txBody>
                    <a:bodyPr/>
                    <a:lstStyle/>
                    <a:p>
                      <a:pPr algn="ctr" fontAlgn="b"/>
                      <a:r>
                        <a:rPr lang="pt-BR" sz="1400" b="0" i="0" u="none" strike="noStrike" dirty="0">
                          <a:solidFill>
                            <a:srgbClr val="00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9099</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9109</a:t>
                      </a:r>
                    </a:p>
                  </a:txBody>
                  <a:tcPr marL="7620" marR="7620" marT="7620"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0,02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23.817,83 </a:t>
                      </a: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 R$        23.817,85 </a:t>
                      </a:r>
                    </a:p>
                  </a:txBody>
                  <a:tcPr marL="7620" marR="7620" marT="7620" marB="0" anchor="b">
                    <a:lnL>
                      <a:noFill/>
                    </a:lnL>
                    <a:lnR>
                      <a:noFill/>
                    </a:lnR>
                    <a:lnT>
                      <a:noFill/>
                    </a:lnT>
                    <a:lnB>
                      <a:noFill/>
                    </a:lnB>
                  </a:tcPr>
                </a:tc>
                <a:extLst>
                  <a:ext uri="{0D108BD9-81ED-4DB2-BD59-A6C34878D82A}">
                    <a16:rowId xmlns:a16="http://schemas.microsoft.com/office/drawing/2014/main" val="2262197307"/>
                  </a:ext>
                </a:extLst>
              </a:tr>
              <a:tr h="211608">
                <a:tc>
                  <a:txBody>
                    <a:bodyPr/>
                    <a:lstStyle/>
                    <a:p>
                      <a:pPr algn="ctr" fontAlgn="b"/>
                      <a:r>
                        <a:rPr lang="pt-BR" sz="14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15</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12904</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12919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0,03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30.348,20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panose="020F0502020204030204" pitchFamily="34" charset="0"/>
                        </a:rPr>
                        <a:t> R$        30.348,23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3663453726"/>
                  </a:ext>
                </a:extLst>
              </a:tr>
              <a:tr h="211608">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97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87598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87695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4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0,20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221.195,93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400" b="1" i="0" u="none" strike="noStrike" dirty="0">
                          <a:solidFill>
                            <a:srgbClr val="000000"/>
                          </a:solidFill>
                          <a:effectLst/>
                          <a:latin typeface="Calibri" panose="020F0502020204030204" pitchFamily="34" charset="0"/>
                        </a:rPr>
                        <a:t> R$      221.196,13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977556853"/>
                  </a:ext>
                </a:extLst>
              </a:tr>
            </a:tbl>
          </a:graphicData>
        </a:graphic>
      </p:graphicFrame>
    </p:spTree>
    <p:extLst>
      <p:ext uri="{BB962C8B-B14F-4D97-AF65-F5344CB8AC3E}">
        <p14:creationId xmlns:p14="http://schemas.microsoft.com/office/powerpoint/2010/main" val="1510364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graphicFrame>
        <p:nvGraphicFramePr>
          <p:cNvPr id="5" name="Tabela 4">
            <a:extLst>
              <a:ext uri="{FF2B5EF4-FFF2-40B4-BE49-F238E27FC236}">
                <a16:creationId xmlns:a16="http://schemas.microsoft.com/office/drawing/2014/main" id="{4D217BF2-C13F-04D8-C55E-9808502979A3}"/>
              </a:ext>
            </a:extLst>
          </p:cNvPr>
          <p:cNvGraphicFramePr>
            <a:graphicFrameLocks noGrp="1"/>
          </p:cNvGraphicFramePr>
          <p:nvPr>
            <p:extLst>
              <p:ext uri="{D42A27DB-BD31-4B8C-83A1-F6EECF244321}">
                <p14:modId xmlns:p14="http://schemas.microsoft.com/office/powerpoint/2010/main" val="2138905284"/>
              </p:ext>
            </p:extLst>
          </p:nvPr>
        </p:nvGraphicFramePr>
        <p:xfrm>
          <a:off x="540227" y="1871116"/>
          <a:ext cx="13083174" cy="1828800"/>
        </p:xfrm>
        <a:graphic>
          <a:graphicData uri="http://schemas.openxmlformats.org/drawingml/2006/table">
            <a:tbl>
              <a:tblPr/>
              <a:tblGrid>
                <a:gridCol w="1375643">
                  <a:extLst>
                    <a:ext uri="{9D8B030D-6E8A-4147-A177-3AD203B41FA5}">
                      <a16:colId xmlns:a16="http://schemas.microsoft.com/office/drawing/2014/main" val="3382113137"/>
                    </a:ext>
                  </a:extLst>
                </a:gridCol>
                <a:gridCol w="1229987">
                  <a:extLst>
                    <a:ext uri="{9D8B030D-6E8A-4147-A177-3AD203B41FA5}">
                      <a16:colId xmlns:a16="http://schemas.microsoft.com/office/drawing/2014/main" val="593688501"/>
                    </a:ext>
                  </a:extLst>
                </a:gridCol>
                <a:gridCol w="1229987">
                  <a:extLst>
                    <a:ext uri="{9D8B030D-6E8A-4147-A177-3AD203B41FA5}">
                      <a16:colId xmlns:a16="http://schemas.microsoft.com/office/drawing/2014/main" val="844532117"/>
                    </a:ext>
                  </a:extLst>
                </a:gridCol>
                <a:gridCol w="1229987">
                  <a:extLst>
                    <a:ext uri="{9D8B030D-6E8A-4147-A177-3AD203B41FA5}">
                      <a16:colId xmlns:a16="http://schemas.microsoft.com/office/drawing/2014/main" val="230024408"/>
                    </a:ext>
                  </a:extLst>
                </a:gridCol>
                <a:gridCol w="776833">
                  <a:extLst>
                    <a:ext uri="{9D8B030D-6E8A-4147-A177-3AD203B41FA5}">
                      <a16:colId xmlns:a16="http://schemas.microsoft.com/office/drawing/2014/main" val="3680232176"/>
                    </a:ext>
                  </a:extLst>
                </a:gridCol>
                <a:gridCol w="1375643">
                  <a:extLst>
                    <a:ext uri="{9D8B030D-6E8A-4147-A177-3AD203B41FA5}">
                      <a16:colId xmlns:a16="http://schemas.microsoft.com/office/drawing/2014/main" val="3502947546"/>
                    </a:ext>
                  </a:extLst>
                </a:gridCol>
                <a:gridCol w="1375643">
                  <a:extLst>
                    <a:ext uri="{9D8B030D-6E8A-4147-A177-3AD203B41FA5}">
                      <a16:colId xmlns:a16="http://schemas.microsoft.com/office/drawing/2014/main" val="1139467732"/>
                    </a:ext>
                  </a:extLst>
                </a:gridCol>
                <a:gridCol w="1456563">
                  <a:extLst>
                    <a:ext uri="{9D8B030D-6E8A-4147-A177-3AD203B41FA5}">
                      <a16:colId xmlns:a16="http://schemas.microsoft.com/office/drawing/2014/main" val="1329555725"/>
                    </a:ext>
                  </a:extLst>
                </a:gridCol>
                <a:gridCol w="712098">
                  <a:extLst>
                    <a:ext uri="{9D8B030D-6E8A-4147-A177-3AD203B41FA5}">
                      <a16:colId xmlns:a16="http://schemas.microsoft.com/office/drawing/2014/main" val="3664860705"/>
                    </a:ext>
                  </a:extLst>
                </a:gridCol>
                <a:gridCol w="932200">
                  <a:extLst>
                    <a:ext uri="{9D8B030D-6E8A-4147-A177-3AD203B41FA5}">
                      <a16:colId xmlns:a16="http://schemas.microsoft.com/office/drawing/2014/main" val="3899258498"/>
                    </a:ext>
                  </a:extLst>
                </a:gridCol>
                <a:gridCol w="660309">
                  <a:extLst>
                    <a:ext uri="{9D8B030D-6E8A-4147-A177-3AD203B41FA5}">
                      <a16:colId xmlns:a16="http://schemas.microsoft.com/office/drawing/2014/main" val="981971959"/>
                    </a:ext>
                  </a:extLst>
                </a:gridCol>
                <a:gridCol w="728281">
                  <a:extLst>
                    <a:ext uri="{9D8B030D-6E8A-4147-A177-3AD203B41FA5}">
                      <a16:colId xmlns:a16="http://schemas.microsoft.com/office/drawing/2014/main" val="2565568915"/>
                    </a:ext>
                  </a:extLst>
                </a:gridCol>
              </a:tblGrid>
              <a:tr h="182880">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gridSpan="3">
                  <a:txBody>
                    <a:bodyPr/>
                    <a:lstStyle/>
                    <a:p>
                      <a:pPr algn="ctr" fontAlgn="b"/>
                      <a:r>
                        <a:rPr lang="pt-BR" sz="1100" b="1" i="0" u="none" strike="noStrike" dirty="0">
                          <a:solidFill>
                            <a:srgbClr val="000000"/>
                          </a:solidFill>
                          <a:effectLst/>
                          <a:latin typeface="Calibri" panose="020F0502020204030204" pitchFamily="34" charset="0"/>
                        </a:rPr>
                        <a:t>Average Ticket</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995838778"/>
                  </a:ext>
                </a:extLst>
              </a:tr>
              <a:tr h="182880">
                <a:tc>
                  <a:txBody>
                    <a:bodyPr/>
                    <a:lstStyle/>
                    <a:p>
                      <a:pPr algn="ctr" fontAlgn="b"/>
                      <a:r>
                        <a:rPr lang="pt-BR" sz="1100" b="1" i="0" u="none" strike="noStrike" dirty="0">
                          <a:solidFill>
                            <a:srgbClr val="000000"/>
                          </a:solidFill>
                          <a:effectLst/>
                          <a:latin typeface="Calibri" panose="020F0502020204030204" pitchFamily="34" charset="0"/>
                        </a:rPr>
                        <a:t>Profile</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409966273"/>
                  </a:ext>
                </a:extLst>
              </a:tr>
              <a:tr h="182880">
                <a:tc>
                  <a:txBody>
                    <a:bodyPr/>
                    <a:lstStyle/>
                    <a:p>
                      <a:pPr algn="ctr" fontAlgn="b"/>
                      <a:r>
                        <a:rPr lang="pt-BR" sz="1100" b="0" i="0" u="none" strike="noStrike" dirty="0">
                          <a:solidFill>
                            <a:srgbClr val="000000"/>
                          </a:solidFill>
                          <a:effectLst/>
                          <a:latin typeface="Calibri" panose="020F0502020204030204" pitchFamily="34" charset="0"/>
                        </a:rPr>
                        <a:t>Rich&amp;Richer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73596</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68600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142196</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1.032.836,30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397.064,75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1.429.901,05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14,03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5,79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10,06 </a:t>
                      </a:r>
                    </a:p>
                  </a:txBody>
                  <a:tcPr marL="7620" marR="7620" marT="7620" marB="0" anchor="b">
                    <a:lnL>
                      <a:noFill/>
                    </a:lnL>
                    <a:lnR>
                      <a:noFill/>
                    </a:lnR>
                    <a:lnT>
                      <a:noFill/>
                    </a:lnT>
                    <a:lnB>
                      <a:noFill/>
                    </a:lnB>
                  </a:tcPr>
                </a:tc>
                <a:extLst>
                  <a:ext uri="{0D108BD9-81ED-4DB2-BD59-A6C34878D82A}">
                    <a16:rowId xmlns:a16="http://schemas.microsoft.com/office/drawing/2014/main" val="2402181897"/>
                  </a:ext>
                </a:extLst>
              </a:tr>
              <a:tr h="182880">
                <a:tc>
                  <a:txBody>
                    <a:bodyPr/>
                    <a:lstStyle/>
                    <a:p>
                      <a:pPr algn="ctr" fontAlgn="b"/>
                      <a:r>
                        <a:rPr lang="pt-BR" sz="1100" b="0" i="0" u="none" strike="noStrike" dirty="0">
                          <a:solidFill>
                            <a:srgbClr val="000000"/>
                          </a:solidFill>
                          <a:effectLst/>
                          <a:latin typeface="Calibri" panose="020F0502020204030204" pitchFamily="34" charset="0"/>
                        </a:rPr>
                        <a:t>BlueCollarRoyalty</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56206</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52228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108434</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888.311,64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314.778,90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1.203.090,54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15,80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6,03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11,10 </a:t>
                      </a:r>
                    </a:p>
                  </a:txBody>
                  <a:tcPr marL="7620" marR="7620" marT="7620" marB="0" anchor="b">
                    <a:lnL>
                      <a:noFill/>
                    </a:lnL>
                    <a:lnR>
                      <a:noFill/>
                    </a:lnR>
                    <a:lnT>
                      <a:noFill/>
                    </a:lnT>
                    <a:lnB>
                      <a:noFill/>
                    </a:lnB>
                  </a:tcPr>
                </a:tc>
                <a:extLst>
                  <a:ext uri="{0D108BD9-81ED-4DB2-BD59-A6C34878D82A}">
                    <a16:rowId xmlns:a16="http://schemas.microsoft.com/office/drawing/2014/main" val="3214565753"/>
                  </a:ext>
                </a:extLst>
              </a:tr>
              <a:tr h="182880">
                <a:tc>
                  <a:txBody>
                    <a:bodyPr/>
                    <a:lstStyle/>
                    <a:p>
                      <a:pPr algn="ctr" fontAlgn="b"/>
                      <a:r>
                        <a:rPr lang="pt-BR" sz="1100" b="0" i="0" u="none" strike="noStrike" dirty="0">
                          <a:solidFill>
                            <a:srgbClr val="000000"/>
                          </a:solidFill>
                          <a:effectLst/>
                          <a:latin typeface="Calibri" panose="020F0502020204030204" pitchFamily="34" charset="0"/>
                        </a:rPr>
                        <a:t>CitySlickers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98364</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91731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190095</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1.670.574,66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592.707,48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2.263.282,14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16,98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6,46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11,91 </a:t>
                      </a:r>
                    </a:p>
                  </a:txBody>
                  <a:tcPr marL="7620" marR="7620" marT="7620" marB="0" anchor="b">
                    <a:lnL>
                      <a:noFill/>
                    </a:lnL>
                    <a:lnR>
                      <a:noFill/>
                    </a:lnR>
                    <a:lnT>
                      <a:noFill/>
                    </a:lnT>
                    <a:lnB>
                      <a:noFill/>
                    </a:lnB>
                  </a:tcPr>
                </a:tc>
                <a:extLst>
                  <a:ext uri="{0D108BD9-81ED-4DB2-BD59-A6C34878D82A}">
                    <a16:rowId xmlns:a16="http://schemas.microsoft.com/office/drawing/2014/main" val="1958583607"/>
                  </a:ext>
                </a:extLst>
              </a:tr>
              <a:tr h="182880">
                <a:tc>
                  <a:txBody>
                    <a:bodyPr/>
                    <a:lstStyle/>
                    <a:p>
                      <a:pPr algn="ctr" fontAlgn="b"/>
                      <a:r>
                        <a:rPr lang="pt-BR" sz="1100" b="0" i="0" u="none" strike="noStrike" dirty="0">
                          <a:solidFill>
                            <a:srgbClr val="000000"/>
                          </a:solidFill>
                          <a:effectLst/>
                          <a:latin typeface="Calibri" panose="020F0502020204030204" pitchFamily="34" charset="0"/>
                        </a:rPr>
                        <a:t>Mr.&amp;Mrs.Smiths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88728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83005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171733</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1.524.126,97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579.201,62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2.103.328,59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17,18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6,98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12,25 </a:t>
                      </a:r>
                    </a:p>
                  </a:txBody>
                  <a:tcPr marL="7620" marR="7620" marT="7620" marB="0" anchor="b">
                    <a:lnL>
                      <a:noFill/>
                    </a:lnL>
                    <a:lnR>
                      <a:noFill/>
                    </a:lnR>
                    <a:lnT>
                      <a:noFill/>
                    </a:lnT>
                    <a:lnB>
                      <a:noFill/>
                    </a:lnB>
                  </a:tcPr>
                </a:tc>
                <a:extLst>
                  <a:ext uri="{0D108BD9-81ED-4DB2-BD59-A6C34878D82A}">
                    <a16:rowId xmlns:a16="http://schemas.microsoft.com/office/drawing/2014/main" val="2131547420"/>
                  </a:ext>
                </a:extLst>
              </a:tr>
              <a:tr h="182880">
                <a:tc>
                  <a:txBody>
                    <a:bodyPr/>
                    <a:lstStyle/>
                    <a:p>
                      <a:pPr algn="ctr" fontAlgn="b"/>
                      <a:r>
                        <a:rPr lang="pt-BR" sz="1100" b="0" i="0" u="none" strike="noStrike" dirty="0">
                          <a:solidFill>
                            <a:srgbClr val="000000"/>
                          </a:solidFill>
                          <a:effectLst/>
                          <a:latin typeface="Calibri" panose="020F0502020204030204" pitchFamily="34" charset="0"/>
                        </a:rPr>
                        <a:t>NormalFamilies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31051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28288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59339</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200.379,05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68.016,36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268.395,41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6,45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2,40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4,52 </a:t>
                      </a:r>
                    </a:p>
                  </a:txBody>
                  <a:tcPr marL="7620" marR="7620" marT="7620" marB="0" anchor="b">
                    <a:lnL>
                      <a:noFill/>
                    </a:lnL>
                    <a:lnR>
                      <a:noFill/>
                    </a:lnR>
                    <a:lnT>
                      <a:noFill/>
                    </a:lnT>
                    <a:lnB>
                      <a:noFill/>
                    </a:lnB>
                  </a:tcPr>
                </a:tc>
                <a:extLst>
                  <a:ext uri="{0D108BD9-81ED-4DB2-BD59-A6C34878D82A}">
                    <a16:rowId xmlns:a16="http://schemas.microsoft.com/office/drawing/2014/main" val="3838400807"/>
                  </a:ext>
                </a:extLst>
              </a:tr>
              <a:tr h="182880">
                <a:tc>
                  <a:txBody>
                    <a:bodyPr/>
                    <a:lstStyle/>
                    <a:p>
                      <a:pPr algn="ctr" fontAlgn="b"/>
                      <a:r>
                        <a:rPr lang="pt-BR" sz="1100" b="0" i="0" u="none" strike="noStrike" dirty="0">
                          <a:solidFill>
                            <a:srgbClr val="000000"/>
                          </a:solidFill>
                          <a:effectLst/>
                          <a:latin typeface="Calibri" panose="020F0502020204030204" pitchFamily="34" charset="0"/>
                        </a:rPr>
                        <a:t>PinchedPockets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50210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44712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94922</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725.431,87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246.091,89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971.523,76 </a:t>
                      </a: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14,45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5,50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10,23 </a:t>
                      </a:r>
                    </a:p>
                  </a:txBody>
                  <a:tcPr marL="7620" marR="7620" marT="7620" marB="0" anchor="b">
                    <a:lnL>
                      <a:noFill/>
                    </a:lnL>
                    <a:lnR>
                      <a:noFill/>
                    </a:lnR>
                    <a:lnT>
                      <a:noFill/>
                    </a:lnT>
                    <a:lnB>
                      <a:noFill/>
                    </a:lnB>
                  </a:tcPr>
                </a:tc>
                <a:extLst>
                  <a:ext uri="{0D108BD9-81ED-4DB2-BD59-A6C34878D82A}">
                    <a16:rowId xmlns:a16="http://schemas.microsoft.com/office/drawing/2014/main" val="1164579359"/>
                  </a:ext>
                </a:extLst>
              </a:tr>
              <a:tr h="182880">
                <a:tc>
                  <a:txBody>
                    <a:bodyPr/>
                    <a:lstStyle/>
                    <a:p>
                      <a:pPr algn="ctr" fontAlgn="b"/>
                      <a:r>
                        <a:rPr lang="pt-BR" sz="1100" b="0" i="0" u="none" strike="noStrike" dirty="0">
                          <a:solidFill>
                            <a:srgbClr val="000000"/>
                          </a:solidFill>
                          <a:effectLst/>
                          <a:latin typeface="Calibri" panose="020F0502020204030204" pitchFamily="34" charset="0"/>
                        </a:rPr>
                        <a:t>NULL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88122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82908</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171030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1.422.741,35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516.249,21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1.938.990,56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16,15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6,23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11,34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323669592"/>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486.277,00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451.472,00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937.749,00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15,35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6,01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10,85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18057838"/>
                  </a:ext>
                </a:extLst>
              </a:tr>
            </a:tbl>
          </a:graphicData>
        </a:graphic>
      </p:graphicFrame>
      <p:graphicFrame>
        <p:nvGraphicFramePr>
          <p:cNvPr id="6" name="Gráfico 5">
            <a:extLst>
              <a:ext uri="{FF2B5EF4-FFF2-40B4-BE49-F238E27FC236}">
                <a16:creationId xmlns:a16="http://schemas.microsoft.com/office/drawing/2014/main" id="{9DE82B05-3D8D-4353-AC04-4BB0FD4A5B09}"/>
              </a:ext>
            </a:extLst>
          </p:cNvPr>
          <p:cNvGraphicFramePr>
            <a:graphicFrameLocks/>
          </p:cNvGraphicFramePr>
          <p:nvPr>
            <p:extLst>
              <p:ext uri="{D42A27DB-BD31-4B8C-83A1-F6EECF244321}">
                <p14:modId xmlns:p14="http://schemas.microsoft.com/office/powerpoint/2010/main" val="3878316803"/>
              </p:ext>
            </p:extLst>
          </p:nvPr>
        </p:nvGraphicFramePr>
        <p:xfrm>
          <a:off x="2266731" y="4907741"/>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Gráfico 8">
            <a:extLst>
              <a:ext uri="{FF2B5EF4-FFF2-40B4-BE49-F238E27FC236}">
                <a16:creationId xmlns:a16="http://schemas.microsoft.com/office/drawing/2014/main" id="{3604DFD4-7CAD-9367-2DFB-4886C1220145}"/>
              </a:ext>
            </a:extLst>
          </p:cNvPr>
          <p:cNvGraphicFramePr>
            <a:graphicFrameLocks/>
          </p:cNvGraphicFramePr>
          <p:nvPr>
            <p:extLst>
              <p:ext uri="{D42A27DB-BD31-4B8C-83A1-F6EECF244321}">
                <p14:modId xmlns:p14="http://schemas.microsoft.com/office/powerpoint/2010/main" val="3743740736"/>
              </p:ext>
            </p:extLst>
          </p:nvPr>
        </p:nvGraphicFramePr>
        <p:xfrm>
          <a:off x="6978869" y="4890224"/>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3" name="CaixaDeTexto 12">
            <a:extLst>
              <a:ext uri="{FF2B5EF4-FFF2-40B4-BE49-F238E27FC236}">
                <a16:creationId xmlns:a16="http://schemas.microsoft.com/office/drawing/2014/main" id="{8689D0AE-C3D6-E816-F1B3-C7869B9B2216}"/>
              </a:ext>
            </a:extLst>
          </p:cNvPr>
          <p:cNvSpPr txBox="1"/>
          <p:nvPr/>
        </p:nvSpPr>
        <p:spPr>
          <a:xfrm>
            <a:off x="2266731" y="3925030"/>
            <a:ext cx="8987742" cy="646331"/>
          </a:xfrm>
          <a:prstGeom prst="rect">
            <a:avLst/>
          </a:prstGeom>
          <a:noFill/>
        </p:spPr>
        <p:txBody>
          <a:bodyPr wrap="square">
            <a:spAutoFit/>
          </a:bodyPr>
          <a:lstStyle/>
          <a:p>
            <a:r>
              <a:rPr lang="en-US" b="0" i="0" dirty="0">
                <a:solidFill>
                  <a:srgbClr val="374151"/>
                </a:solidFill>
                <a:effectLst/>
                <a:latin typeface="Söhne"/>
              </a:rPr>
              <a:t>The sales volume didn't decrease much from 1999 to 2000, the problem with the 64% revenue loss lies in the drastic decrease of the average ticket from $15.35 to $6.01.</a:t>
            </a:r>
            <a:endParaRPr lang="pt-BR" dirty="0"/>
          </a:p>
        </p:txBody>
      </p:sp>
    </p:spTree>
    <p:extLst>
      <p:ext uri="{BB962C8B-B14F-4D97-AF65-F5344CB8AC3E}">
        <p14:creationId xmlns:p14="http://schemas.microsoft.com/office/powerpoint/2010/main" val="3524925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graphicFrame>
        <p:nvGraphicFramePr>
          <p:cNvPr id="12" name="Tabela 11">
            <a:extLst>
              <a:ext uri="{FF2B5EF4-FFF2-40B4-BE49-F238E27FC236}">
                <a16:creationId xmlns:a16="http://schemas.microsoft.com/office/drawing/2014/main" id="{16BA4FCD-34EE-997B-A6E8-C0EFF2053387}"/>
              </a:ext>
            </a:extLst>
          </p:cNvPr>
          <p:cNvGraphicFramePr>
            <a:graphicFrameLocks noGrp="1"/>
          </p:cNvGraphicFramePr>
          <p:nvPr>
            <p:extLst>
              <p:ext uri="{D42A27DB-BD31-4B8C-83A1-F6EECF244321}">
                <p14:modId xmlns:p14="http://schemas.microsoft.com/office/powerpoint/2010/main" val="2529047117"/>
              </p:ext>
            </p:extLst>
          </p:nvPr>
        </p:nvGraphicFramePr>
        <p:xfrm>
          <a:off x="1070096" y="2219341"/>
          <a:ext cx="11677408" cy="2194560"/>
        </p:xfrm>
        <a:graphic>
          <a:graphicData uri="http://schemas.openxmlformats.org/drawingml/2006/table">
            <a:tbl>
              <a:tblPr/>
              <a:tblGrid>
                <a:gridCol w="1156320">
                  <a:extLst>
                    <a:ext uri="{9D8B030D-6E8A-4147-A177-3AD203B41FA5}">
                      <a16:colId xmlns:a16="http://schemas.microsoft.com/office/drawing/2014/main" val="3601785084"/>
                    </a:ext>
                  </a:extLst>
                </a:gridCol>
                <a:gridCol w="542471">
                  <a:extLst>
                    <a:ext uri="{9D8B030D-6E8A-4147-A177-3AD203B41FA5}">
                      <a16:colId xmlns:a16="http://schemas.microsoft.com/office/drawing/2014/main" val="3763300692"/>
                    </a:ext>
                  </a:extLst>
                </a:gridCol>
                <a:gridCol w="542471">
                  <a:extLst>
                    <a:ext uri="{9D8B030D-6E8A-4147-A177-3AD203B41FA5}">
                      <a16:colId xmlns:a16="http://schemas.microsoft.com/office/drawing/2014/main" val="2764029511"/>
                    </a:ext>
                  </a:extLst>
                </a:gridCol>
                <a:gridCol w="799431">
                  <a:extLst>
                    <a:ext uri="{9D8B030D-6E8A-4147-A177-3AD203B41FA5}">
                      <a16:colId xmlns:a16="http://schemas.microsoft.com/office/drawing/2014/main" val="1993168994"/>
                    </a:ext>
                  </a:extLst>
                </a:gridCol>
                <a:gridCol w="770880">
                  <a:extLst>
                    <a:ext uri="{9D8B030D-6E8A-4147-A177-3AD203B41FA5}">
                      <a16:colId xmlns:a16="http://schemas.microsoft.com/office/drawing/2014/main" val="4049915255"/>
                    </a:ext>
                  </a:extLst>
                </a:gridCol>
                <a:gridCol w="228409">
                  <a:extLst>
                    <a:ext uri="{9D8B030D-6E8A-4147-A177-3AD203B41FA5}">
                      <a16:colId xmlns:a16="http://schemas.microsoft.com/office/drawing/2014/main" val="1184058015"/>
                    </a:ext>
                  </a:extLst>
                </a:gridCol>
                <a:gridCol w="1213423">
                  <a:extLst>
                    <a:ext uri="{9D8B030D-6E8A-4147-A177-3AD203B41FA5}">
                      <a16:colId xmlns:a16="http://schemas.microsoft.com/office/drawing/2014/main" val="342446078"/>
                    </a:ext>
                  </a:extLst>
                </a:gridCol>
                <a:gridCol w="1213423">
                  <a:extLst>
                    <a:ext uri="{9D8B030D-6E8A-4147-A177-3AD203B41FA5}">
                      <a16:colId xmlns:a16="http://schemas.microsoft.com/office/drawing/2014/main" val="4099638762"/>
                    </a:ext>
                  </a:extLst>
                </a:gridCol>
                <a:gridCol w="1284801">
                  <a:extLst>
                    <a:ext uri="{9D8B030D-6E8A-4147-A177-3AD203B41FA5}">
                      <a16:colId xmlns:a16="http://schemas.microsoft.com/office/drawing/2014/main" val="3664146229"/>
                    </a:ext>
                  </a:extLst>
                </a:gridCol>
                <a:gridCol w="999289">
                  <a:extLst>
                    <a:ext uri="{9D8B030D-6E8A-4147-A177-3AD203B41FA5}">
                      <a16:colId xmlns:a16="http://schemas.microsoft.com/office/drawing/2014/main" val="1272016720"/>
                    </a:ext>
                  </a:extLst>
                </a:gridCol>
                <a:gridCol w="328338">
                  <a:extLst>
                    <a:ext uri="{9D8B030D-6E8A-4147-A177-3AD203B41FA5}">
                      <a16:colId xmlns:a16="http://schemas.microsoft.com/office/drawing/2014/main" val="1765469807"/>
                    </a:ext>
                  </a:extLst>
                </a:gridCol>
                <a:gridCol w="1070667">
                  <a:extLst>
                    <a:ext uri="{9D8B030D-6E8A-4147-A177-3AD203B41FA5}">
                      <a16:colId xmlns:a16="http://schemas.microsoft.com/office/drawing/2014/main" val="2762537552"/>
                    </a:ext>
                  </a:extLst>
                </a:gridCol>
                <a:gridCol w="728054">
                  <a:extLst>
                    <a:ext uri="{9D8B030D-6E8A-4147-A177-3AD203B41FA5}">
                      <a16:colId xmlns:a16="http://schemas.microsoft.com/office/drawing/2014/main" val="3068437859"/>
                    </a:ext>
                  </a:extLst>
                </a:gridCol>
                <a:gridCol w="799431">
                  <a:extLst>
                    <a:ext uri="{9D8B030D-6E8A-4147-A177-3AD203B41FA5}">
                      <a16:colId xmlns:a16="http://schemas.microsoft.com/office/drawing/2014/main" val="2643557679"/>
                    </a:ext>
                  </a:extLst>
                </a:gridCol>
              </a:tblGrid>
              <a:tr h="182880">
                <a:tc>
                  <a:txBody>
                    <a:bodyPr/>
                    <a:lstStyle/>
                    <a:p>
                      <a:pPr algn="ctr" fontAlgn="b"/>
                      <a:r>
                        <a:rPr lang="pt-BR" sz="1100" b="1" i="0" u="none" strike="noStrike" dirty="0">
                          <a:solidFill>
                            <a:srgbClr val="000000"/>
                          </a:solidFill>
                          <a:effectLst/>
                          <a:latin typeface="Calibri" panose="020F0502020204030204" pitchFamily="34" charset="0"/>
                        </a:rPr>
                        <a:t>DEPARTMENT</a:t>
                      </a:r>
                    </a:p>
                  </a:txBody>
                  <a:tcPr marL="7620" marR="7620" marT="7620" marB="0" anchor="b">
                    <a:lnL>
                      <a:noFill/>
                    </a:lnL>
                    <a:lnR>
                      <a:noFill/>
                    </a:lnR>
                    <a:lnT>
                      <a:noFill/>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593865360"/>
                  </a:ext>
                </a:extLst>
              </a:tr>
              <a:tr h="182880">
                <a:tc>
                  <a:txBody>
                    <a:bodyPr/>
                    <a:lstStyle/>
                    <a:p>
                      <a:pPr algn="ctr" fontAlgn="b"/>
                      <a:r>
                        <a:rPr lang="pt-BR" sz="1100" b="1" i="0" u="none" strike="noStrike" dirty="0">
                          <a:solidFill>
                            <a:srgbClr val="000000"/>
                          </a:solidFill>
                          <a:effectLst/>
                          <a:latin typeface="Calibri" panose="020F0502020204030204" pitchFamily="34" charset="0"/>
                        </a:rPr>
                        <a:t>Beachwear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51046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48052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99098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94,13%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356.220,97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339.984,00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696.204,97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6,98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7,08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7,03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72492258"/>
                  </a:ext>
                </a:extLst>
              </a:tr>
              <a:tr h="182880">
                <a:tc>
                  <a:txBody>
                    <a:bodyPr/>
                    <a:lstStyle/>
                    <a:p>
                      <a:pPr algn="ctr" fontAlgn="b"/>
                      <a:r>
                        <a:rPr lang="pt-BR" sz="1100" b="1" i="0" u="none" strike="noStrike" dirty="0">
                          <a:solidFill>
                            <a:srgbClr val="000000"/>
                          </a:solidFill>
                          <a:effectLst/>
                          <a:latin typeface="Calibri" panose="020F0502020204030204" pitchFamily="34" charset="0"/>
                        </a:rPr>
                        <a:t>BootAccessories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18979</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19201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38180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101,17%</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70.552,21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77.917,26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148.469,47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110,4%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3,72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4,06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3,89 </a:t>
                      </a:r>
                    </a:p>
                  </a:txBody>
                  <a:tcPr marL="7620" marR="7620" marT="7620" marB="0" anchor="b">
                    <a:lnL>
                      <a:noFill/>
                    </a:lnL>
                    <a:lnR>
                      <a:noFill/>
                    </a:lnR>
                    <a:lnT>
                      <a:noFill/>
                    </a:lnT>
                    <a:lnB>
                      <a:noFill/>
                    </a:lnB>
                  </a:tcPr>
                </a:tc>
                <a:extLst>
                  <a:ext uri="{0D108BD9-81ED-4DB2-BD59-A6C34878D82A}">
                    <a16:rowId xmlns:a16="http://schemas.microsoft.com/office/drawing/2014/main" val="3821071791"/>
                  </a:ext>
                </a:extLst>
              </a:tr>
              <a:tr h="182880">
                <a:tc>
                  <a:txBody>
                    <a:bodyPr/>
                    <a:lstStyle/>
                    <a:p>
                      <a:pPr algn="ctr" fontAlgn="b"/>
                      <a:r>
                        <a:rPr lang="pt-BR" sz="1100" b="1" i="0" u="none" strike="noStrike" dirty="0">
                          <a:solidFill>
                            <a:srgbClr val="000000"/>
                          </a:solidFill>
                          <a:effectLst/>
                          <a:latin typeface="Calibri" panose="020F0502020204030204" pitchFamily="34" charset="0"/>
                        </a:rPr>
                        <a:t>Boots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87598</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87695</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90307,22%</a:t>
                      </a:r>
                    </a:p>
                  </a:txBody>
                  <a:tcPr marL="7620" marR="7620" marT="7620" marB="0" anchor="b">
                    <a:lnL>
                      <a:noFill/>
                    </a:lnL>
                    <a:lnR>
                      <a:noFill/>
                    </a:lnR>
                    <a:lnT>
                      <a:noFill/>
                    </a:lnT>
                    <a:lnB>
                      <a:noFill/>
                    </a:lnB>
                    <a:solidFill>
                      <a:srgbClr val="63BE7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0,20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221.195,93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221.196,13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110597965,0%</a:t>
                      </a:r>
                    </a:p>
                  </a:txBody>
                  <a:tcPr marL="7620" marR="7620" marT="7620" marB="0" anchor="b">
                    <a:lnL>
                      <a:noFill/>
                    </a:lnL>
                    <a:lnR>
                      <a:noFill/>
                    </a:lnR>
                    <a:lnT>
                      <a:noFill/>
                    </a:lnT>
                    <a:lnB>
                      <a:noFill/>
                    </a:lnB>
                    <a:solidFill>
                      <a:srgbClr val="63BE7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0,00 </a:t>
                      </a:r>
                    </a:p>
                  </a:txBody>
                  <a:tcPr marL="7620" marR="7620" marT="7620" marB="0" anchor="b">
                    <a:lnL>
                      <a:noFill/>
                    </a:lnL>
                    <a:lnR>
                      <a:noFill/>
                    </a:lnR>
                    <a:lnT>
                      <a:noFill/>
                    </a:lnT>
                    <a:lnB>
                      <a:noFill/>
                    </a:lnB>
                    <a:solidFill>
                      <a:srgbClr val="A9D08E"/>
                    </a:solidFill>
                  </a:tcPr>
                </a:tc>
                <a:tc>
                  <a:txBody>
                    <a:bodyPr/>
                    <a:lstStyle/>
                    <a:p>
                      <a:pPr algn="l" fontAlgn="b"/>
                      <a:r>
                        <a:rPr lang="pt-BR" sz="1100" b="0" i="0" u="none" strike="noStrike" dirty="0">
                          <a:solidFill>
                            <a:srgbClr val="000000"/>
                          </a:solidFill>
                          <a:effectLst/>
                          <a:latin typeface="Calibri" panose="020F0502020204030204" pitchFamily="34" charset="0"/>
                        </a:rPr>
                        <a:t> R$     2,53 </a:t>
                      </a:r>
                    </a:p>
                  </a:txBody>
                  <a:tcPr marL="7620" marR="7620" marT="7620" marB="0" anchor="b">
                    <a:lnL>
                      <a:noFill/>
                    </a:lnL>
                    <a:lnR>
                      <a:noFill/>
                    </a:lnR>
                    <a:lnT>
                      <a:noFill/>
                    </a:lnT>
                    <a:lnB>
                      <a:noFill/>
                    </a:lnB>
                    <a:solidFill>
                      <a:srgbClr val="A9D08E"/>
                    </a:solidFill>
                  </a:tcPr>
                </a:tc>
                <a:tc>
                  <a:txBody>
                    <a:bodyPr/>
                    <a:lstStyle/>
                    <a:p>
                      <a:pPr algn="l" fontAlgn="b"/>
                      <a:r>
                        <a:rPr lang="pt-BR" sz="1100" b="0" i="0" u="none" strike="noStrike" dirty="0">
                          <a:solidFill>
                            <a:srgbClr val="000000"/>
                          </a:solidFill>
                          <a:effectLst/>
                          <a:latin typeface="Calibri" panose="020F0502020204030204" pitchFamily="34" charset="0"/>
                        </a:rPr>
                        <a:t> R$       2,52 </a:t>
                      </a:r>
                    </a:p>
                  </a:txBody>
                  <a:tcPr marL="7620" marR="7620" marT="7620" marB="0" anchor="b">
                    <a:lnL>
                      <a:noFill/>
                    </a:lnL>
                    <a:lnR>
                      <a:noFill/>
                    </a:lnR>
                    <a:lnT>
                      <a:noFill/>
                    </a:lnT>
                    <a:lnB>
                      <a:noFill/>
                    </a:lnB>
                    <a:solidFill>
                      <a:srgbClr val="A9D08E"/>
                    </a:solidFill>
                  </a:tcPr>
                </a:tc>
                <a:extLst>
                  <a:ext uri="{0D108BD9-81ED-4DB2-BD59-A6C34878D82A}">
                    <a16:rowId xmlns:a16="http://schemas.microsoft.com/office/drawing/2014/main" val="728121937"/>
                  </a:ext>
                </a:extLst>
              </a:tr>
              <a:tr h="182880">
                <a:tc>
                  <a:txBody>
                    <a:bodyPr/>
                    <a:lstStyle/>
                    <a:p>
                      <a:pPr algn="ctr" fontAlgn="b"/>
                      <a:r>
                        <a:rPr lang="pt-BR" sz="1100" b="1" i="0" u="none" strike="noStrike" dirty="0">
                          <a:solidFill>
                            <a:srgbClr val="000000"/>
                          </a:solidFill>
                          <a:effectLst/>
                          <a:latin typeface="Calibri" panose="020F0502020204030204" pitchFamily="34" charset="0"/>
                        </a:rPr>
                        <a:t>CowboyHats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81032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78811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159843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97,26%</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976.847,52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981.209,97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1.958.057,49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12,06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12,45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12,25 </a:t>
                      </a:r>
                    </a:p>
                  </a:txBody>
                  <a:tcPr marL="7620" marR="7620" marT="7620" marB="0" anchor="b">
                    <a:lnL>
                      <a:noFill/>
                    </a:lnL>
                    <a:lnR>
                      <a:noFill/>
                    </a:lnR>
                    <a:lnT>
                      <a:noFill/>
                    </a:lnT>
                    <a:lnB>
                      <a:noFill/>
                    </a:lnB>
                  </a:tcPr>
                </a:tc>
                <a:extLst>
                  <a:ext uri="{0D108BD9-81ED-4DB2-BD59-A6C34878D82A}">
                    <a16:rowId xmlns:a16="http://schemas.microsoft.com/office/drawing/2014/main" val="3514400437"/>
                  </a:ext>
                </a:extLst>
              </a:tr>
              <a:tr h="182880">
                <a:tc>
                  <a:txBody>
                    <a:bodyPr/>
                    <a:lstStyle/>
                    <a:p>
                      <a:pPr algn="ctr" fontAlgn="b"/>
                      <a:r>
                        <a:rPr lang="pt-BR" sz="1100" b="1" i="0" u="none" strike="noStrike" dirty="0">
                          <a:solidFill>
                            <a:srgbClr val="000000"/>
                          </a:solidFill>
                          <a:effectLst/>
                          <a:latin typeface="Calibri" panose="020F0502020204030204" pitchFamily="34" charset="0"/>
                        </a:rPr>
                        <a:t>Formalwear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86295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81335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167630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94,25%</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152.392,20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143.196,63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295.588,83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94,0%</a:t>
                      </a:r>
                    </a:p>
                  </a:txBody>
                  <a:tcPr marL="7620" marR="7620" marT="7620" marB="0" anchor="b">
                    <a:lnL>
                      <a:noFill/>
                    </a:lnL>
                    <a:lnR>
                      <a:noFill/>
                    </a:lnR>
                    <a:lnT>
                      <a:noFill/>
                    </a:lnT>
                    <a:lnB>
                      <a:noFill/>
                    </a:lnB>
                    <a:solidFill>
                      <a:srgbClr val="FEE883"/>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1,77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1,76 </a:t>
                      </a:r>
                    </a:p>
                  </a:txBody>
                  <a:tcPr marL="7620" marR="7620" marT="7620" marB="0" anchor="b">
                    <a:lnL>
                      <a:noFill/>
                    </a:lnL>
                    <a:lnR>
                      <a:noFill/>
                    </a:lnR>
                    <a:lnT>
                      <a:noFill/>
                    </a:lnT>
                    <a:lnB>
                      <a:noFill/>
                    </a:lnB>
                  </a:tcPr>
                </a:tc>
                <a:extLst>
                  <a:ext uri="{0D108BD9-81ED-4DB2-BD59-A6C34878D82A}">
                    <a16:rowId xmlns:a16="http://schemas.microsoft.com/office/drawing/2014/main" val="1048629828"/>
                  </a:ext>
                </a:extLst>
              </a:tr>
              <a:tr h="182880">
                <a:tc>
                  <a:txBody>
                    <a:bodyPr/>
                    <a:lstStyle/>
                    <a:p>
                      <a:pPr algn="ctr" fontAlgn="b"/>
                      <a:r>
                        <a:rPr lang="pt-BR" sz="1100" b="1" i="0" u="none" strike="noStrike" dirty="0">
                          <a:solidFill>
                            <a:srgbClr val="000000"/>
                          </a:solidFill>
                          <a:effectLst/>
                          <a:latin typeface="Calibri" panose="020F0502020204030204" pitchFamily="34" charset="0"/>
                        </a:rPr>
                        <a:t>KnickKnacks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100833</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89</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100922</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0,09%</a:t>
                      </a:r>
                    </a:p>
                  </a:txBody>
                  <a:tcPr marL="7620" marR="7620" marT="7620" marB="0" anchor="b">
                    <a:lnL>
                      <a:noFill/>
                    </a:lnL>
                    <a:lnR>
                      <a:noFill/>
                    </a:lnR>
                    <a:lnT>
                      <a:noFill/>
                    </a:lnT>
                    <a:lnB>
                      <a:noFill/>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4.839.808,64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4,10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4.839.812,74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a:t>
                      </a:r>
                    </a:p>
                  </a:txBody>
                  <a:tcPr marL="7620" marR="7620" marT="7620" marB="0" anchor="b">
                    <a:lnL>
                      <a:noFill/>
                    </a:lnL>
                    <a:lnR>
                      <a:noFill/>
                    </a:lnR>
                    <a:lnT>
                      <a:noFill/>
                    </a:lnT>
                    <a:lnB>
                      <a:noFill/>
                    </a:lnB>
                    <a:solidFill>
                      <a:srgbClr val="F8696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48,00 </a:t>
                      </a:r>
                    </a:p>
                  </a:txBody>
                  <a:tcPr marL="7620" marR="7620" marT="7620" marB="0" anchor="b">
                    <a:lnL>
                      <a:noFill/>
                    </a:lnL>
                    <a:lnR>
                      <a:noFill/>
                    </a:lnR>
                    <a:lnT>
                      <a:noFill/>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0,05 </a:t>
                      </a:r>
                    </a:p>
                  </a:txBody>
                  <a:tcPr marL="7620" marR="7620" marT="7620" marB="0" anchor="b">
                    <a:lnL>
                      <a:noFill/>
                    </a:lnL>
                    <a:lnR>
                      <a:noFill/>
                    </a:lnR>
                    <a:lnT>
                      <a:noFill/>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47,96 </a:t>
                      </a:r>
                    </a:p>
                  </a:txBody>
                  <a:tcPr marL="7620" marR="7620" marT="7620" marB="0" anchor="b">
                    <a:lnL>
                      <a:noFill/>
                    </a:lnL>
                    <a:lnR>
                      <a:noFill/>
                    </a:lnR>
                    <a:lnT>
                      <a:noFill/>
                    </a:lnT>
                    <a:lnB>
                      <a:noFill/>
                    </a:lnB>
                    <a:solidFill>
                      <a:srgbClr val="F4B084"/>
                    </a:solidFill>
                  </a:tcPr>
                </a:tc>
                <a:extLst>
                  <a:ext uri="{0D108BD9-81ED-4DB2-BD59-A6C34878D82A}">
                    <a16:rowId xmlns:a16="http://schemas.microsoft.com/office/drawing/2014/main" val="1997506161"/>
                  </a:ext>
                </a:extLst>
              </a:tr>
              <a:tr h="182880">
                <a:tc>
                  <a:txBody>
                    <a:bodyPr/>
                    <a:lstStyle/>
                    <a:p>
                      <a:pPr algn="ctr" fontAlgn="b"/>
                      <a:r>
                        <a:rPr lang="pt-BR" sz="1100" b="1" i="0" u="none" strike="noStrike" dirty="0">
                          <a:solidFill>
                            <a:srgbClr val="000000"/>
                          </a:solidFill>
                          <a:effectLst/>
                          <a:latin typeface="Calibri" panose="020F0502020204030204" pitchFamily="34" charset="0"/>
                        </a:rPr>
                        <a:t>Misc</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80777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72243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153020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89,44%</a:t>
                      </a:r>
                    </a:p>
                  </a:txBody>
                  <a:tcPr marL="7620" marR="7620" marT="7620" marB="0" anchor="b">
                    <a:lnL>
                      <a:noFill/>
                    </a:lnL>
                    <a:lnR>
                      <a:noFill/>
                    </a:lnR>
                    <a:lnT>
                      <a:noFill/>
                    </a:lnT>
                    <a:lnB>
                      <a:noFill/>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451.348,19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385.467,78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836.815,97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5,59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5,34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5,47 </a:t>
                      </a:r>
                    </a:p>
                  </a:txBody>
                  <a:tcPr marL="7620" marR="7620" marT="7620" marB="0" anchor="b">
                    <a:lnL>
                      <a:noFill/>
                    </a:lnL>
                    <a:lnR>
                      <a:noFill/>
                    </a:lnR>
                    <a:lnT>
                      <a:noFill/>
                    </a:lnT>
                    <a:lnB>
                      <a:noFill/>
                    </a:lnB>
                  </a:tcPr>
                </a:tc>
                <a:extLst>
                  <a:ext uri="{0D108BD9-81ED-4DB2-BD59-A6C34878D82A}">
                    <a16:rowId xmlns:a16="http://schemas.microsoft.com/office/drawing/2014/main" val="4218091716"/>
                  </a:ext>
                </a:extLst>
              </a:tr>
              <a:tr h="182880">
                <a:tc>
                  <a:txBody>
                    <a:bodyPr/>
                    <a:lstStyle/>
                    <a:p>
                      <a:pPr algn="ctr" fontAlgn="b"/>
                      <a:r>
                        <a:rPr lang="pt-BR" sz="1100" b="1" i="0" u="none" strike="noStrike" dirty="0">
                          <a:solidFill>
                            <a:srgbClr val="000000"/>
                          </a:solidFill>
                          <a:effectLst/>
                          <a:latin typeface="Calibri" panose="020F0502020204030204" pitchFamily="34" charset="0"/>
                        </a:rPr>
                        <a:t>Shirts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14998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29965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99,79%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159.296,30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167.968,24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327.264,54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105,4%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10,62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11,22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10,92 </a:t>
                      </a:r>
                    </a:p>
                  </a:txBody>
                  <a:tcPr marL="7620" marR="7620" marT="7620" marB="0" anchor="b">
                    <a:lnL>
                      <a:noFill/>
                    </a:lnL>
                    <a:lnR>
                      <a:noFill/>
                    </a:lnR>
                    <a:lnT>
                      <a:noFill/>
                    </a:lnT>
                    <a:lnB>
                      <a:noFill/>
                    </a:lnB>
                  </a:tcPr>
                </a:tc>
                <a:extLst>
                  <a:ext uri="{0D108BD9-81ED-4DB2-BD59-A6C34878D82A}">
                    <a16:rowId xmlns:a16="http://schemas.microsoft.com/office/drawing/2014/main" val="4294952899"/>
                  </a:ext>
                </a:extLst>
              </a:tr>
              <a:tr h="182880">
                <a:tc>
                  <a:txBody>
                    <a:bodyPr/>
                    <a:lstStyle/>
                    <a:p>
                      <a:pPr algn="ctr" fontAlgn="b"/>
                      <a:r>
                        <a:rPr lang="pt-BR" sz="1100" b="1" i="0" u="none" strike="noStrike" dirty="0">
                          <a:solidFill>
                            <a:srgbClr val="000000"/>
                          </a:solidFill>
                          <a:effectLst/>
                          <a:latin typeface="Calibri" panose="020F0502020204030204" pitchFamily="34" charset="0"/>
                        </a:rPr>
                        <a:t>StoreUse</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28767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28245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57012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98,19%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35.231,94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36.025,56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71.257,50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102,3%</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1,28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1,25 </a:t>
                      </a:r>
                    </a:p>
                  </a:txBody>
                  <a:tcPr marL="7620" marR="7620" marT="7620" marB="0" anchor="b">
                    <a:lnL>
                      <a:noFill/>
                    </a:lnL>
                    <a:lnR>
                      <a:noFill/>
                    </a:lnR>
                    <a:lnT>
                      <a:noFill/>
                    </a:lnT>
                    <a:lnB>
                      <a:noFill/>
                    </a:lnB>
                  </a:tcPr>
                </a:tc>
                <a:extLst>
                  <a:ext uri="{0D108BD9-81ED-4DB2-BD59-A6C34878D82A}">
                    <a16:rowId xmlns:a16="http://schemas.microsoft.com/office/drawing/2014/main" val="1157776219"/>
                  </a:ext>
                </a:extLst>
              </a:tr>
              <a:tr h="182880">
                <a:tc>
                  <a:txBody>
                    <a:bodyPr/>
                    <a:lstStyle/>
                    <a:p>
                      <a:pPr algn="ctr" fontAlgn="b"/>
                      <a:r>
                        <a:rPr lang="pt-BR" sz="1100" b="1" i="0" u="none" strike="noStrike" dirty="0">
                          <a:solidFill>
                            <a:srgbClr val="000000"/>
                          </a:solidFill>
                          <a:effectLst/>
                          <a:latin typeface="Calibri" panose="020F0502020204030204" pitchFamily="34" charset="0"/>
                        </a:rPr>
                        <a:t>WomensJeans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23453</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20931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44384</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89,25%</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422.703,67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361.140,74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783.844,41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18,02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17,25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17,66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691732122"/>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486277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451472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937749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92,84%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36%</a:t>
                      </a:r>
                    </a:p>
                  </a:txBody>
                  <a:tcPr marL="7620" marR="7620" marT="7620" marB="0" anchor="b">
                    <a:lnL>
                      <a:noFill/>
                    </a:lnL>
                    <a:lnR>
                      <a:noFill/>
                    </a:lnR>
                    <a:lnT>
                      <a:noFill/>
                    </a:lnT>
                    <a:lnB>
                      <a:noFill/>
                    </a:lnB>
                    <a:solidFill>
                      <a:srgbClr val="FA9A7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15,35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6,01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10,85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524370376"/>
                  </a:ext>
                </a:extLst>
              </a:tr>
            </a:tbl>
          </a:graphicData>
        </a:graphic>
      </p:graphicFrame>
      <p:sp>
        <p:nvSpPr>
          <p:cNvPr id="14" name="CaixaDeTexto 13">
            <a:extLst>
              <a:ext uri="{FF2B5EF4-FFF2-40B4-BE49-F238E27FC236}">
                <a16:creationId xmlns:a16="http://schemas.microsoft.com/office/drawing/2014/main" id="{95B9CB78-7A7A-1AB4-A452-B7EF8C952632}"/>
              </a:ext>
            </a:extLst>
          </p:cNvPr>
          <p:cNvSpPr txBox="1"/>
          <p:nvPr/>
        </p:nvSpPr>
        <p:spPr>
          <a:xfrm>
            <a:off x="1070095" y="4909201"/>
            <a:ext cx="11677407" cy="923330"/>
          </a:xfrm>
          <a:prstGeom prst="rect">
            <a:avLst/>
          </a:prstGeom>
          <a:noFill/>
        </p:spPr>
        <p:txBody>
          <a:bodyPr wrap="square">
            <a:spAutoFit/>
          </a:bodyPr>
          <a:lstStyle/>
          <a:p>
            <a:r>
              <a:rPr lang="en-US" b="0" i="0" dirty="0">
                <a:solidFill>
                  <a:srgbClr val="374151"/>
                </a:solidFill>
                <a:effectLst/>
                <a:latin typeface="Söhne"/>
              </a:rPr>
              <a:t>This sharp drop in the average ticket originated from the closure of the KnickKnacks department, which had the highest average ticket, being replaced by the Boots department, which has a lower average ticket. As a result, even though the sales decline was only 7%, it severely impacted the earnings.</a:t>
            </a:r>
            <a:endParaRPr lang="pt-BR" dirty="0"/>
          </a:p>
        </p:txBody>
      </p:sp>
      <p:sp>
        <p:nvSpPr>
          <p:cNvPr id="2" name="CaixaDeTexto 1">
            <a:extLst>
              <a:ext uri="{FF2B5EF4-FFF2-40B4-BE49-F238E27FC236}">
                <a16:creationId xmlns:a16="http://schemas.microsoft.com/office/drawing/2014/main" id="{846B4A94-9EC7-9315-5BDE-343FDDC8B8EE}"/>
              </a:ext>
            </a:extLst>
          </p:cNvPr>
          <p:cNvSpPr txBox="1"/>
          <p:nvPr/>
        </p:nvSpPr>
        <p:spPr>
          <a:xfrm>
            <a:off x="10752083" y="1942342"/>
            <a:ext cx="1315040" cy="276999"/>
          </a:xfrm>
          <a:prstGeom prst="rect">
            <a:avLst/>
          </a:prstGeom>
          <a:noFill/>
        </p:spPr>
        <p:txBody>
          <a:bodyPr wrap="none" rtlCol="0">
            <a:spAutoFit/>
          </a:bodyPr>
          <a:lstStyle/>
          <a:p>
            <a:r>
              <a:rPr lang="pt-BR" sz="1200" b="1" dirty="0"/>
              <a:t>Average Ticket</a:t>
            </a:r>
          </a:p>
        </p:txBody>
      </p:sp>
    </p:spTree>
    <p:extLst>
      <p:ext uri="{BB962C8B-B14F-4D97-AF65-F5344CB8AC3E}">
        <p14:creationId xmlns:p14="http://schemas.microsoft.com/office/powerpoint/2010/main" val="124774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graphicFrame>
        <p:nvGraphicFramePr>
          <p:cNvPr id="12" name="Tabela 11">
            <a:extLst>
              <a:ext uri="{FF2B5EF4-FFF2-40B4-BE49-F238E27FC236}">
                <a16:creationId xmlns:a16="http://schemas.microsoft.com/office/drawing/2014/main" id="{16BA4FCD-34EE-997B-A6E8-C0EFF2053387}"/>
              </a:ext>
            </a:extLst>
          </p:cNvPr>
          <p:cNvGraphicFramePr>
            <a:graphicFrameLocks noGrp="1"/>
          </p:cNvGraphicFramePr>
          <p:nvPr>
            <p:extLst>
              <p:ext uri="{D42A27DB-BD31-4B8C-83A1-F6EECF244321}">
                <p14:modId xmlns:p14="http://schemas.microsoft.com/office/powerpoint/2010/main" val="35126174"/>
              </p:ext>
            </p:extLst>
          </p:nvPr>
        </p:nvGraphicFramePr>
        <p:xfrm>
          <a:off x="1070096" y="2219341"/>
          <a:ext cx="11677408" cy="2194560"/>
        </p:xfrm>
        <a:graphic>
          <a:graphicData uri="http://schemas.openxmlformats.org/drawingml/2006/table">
            <a:tbl>
              <a:tblPr/>
              <a:tblGrid>
                <a:gridCol w="1156320">
                  <a:extLst>
                    <a:ext uri="{9D8B030D-6E8A-4147-A177-3AD203B41FA5}">
                      <a16:colId xmlns:a16="http://schemas.microsoft.com/office/drawing/2014/main" val="3601785084"/>
                    </a:ext>
                  </a:extLst>
                </a:gridCol>
                <a:gridCol w="542471">
                  <a:extLst>
                    <a:ext uri="{9D8B030D-6E8A-4147-A177-3AD203B41FA5}">
                      <a16:colId xmlns:a16="http://schemas.microsoft.com/office/drawing/2014/main" val="3763300692"/>
                    </a:ext>
                  </a:extLst>
                </a:gridCol>
                <a:gridCol w="542471">
                  <a:extLst>
                    <a:ext uri="{9D8B030D-6E8A-4147-A177-3AD203B41FA5}">
                      <a16:colId xmlns:a16="http://schemas.microsoft.com/office/drawing/2014/main" val="2764029511"/>
                    </a:ext>
                  </a:extLst>
                </a:gridCol>
                <a:gridCol w="799431">
                  <a:extLst>
                    <a:ext uri="{9D8B030D-6E8A-4147-A177-3AD203B41FA5}">
                      <a16:colId xmlns:a16="http://schemas.microsoft.com/office/drawing/2014/main" val="1993168994"/>
                    </a:ext>
                  </a:extLst>
                </a:gridCol>
                <a:gridCol w="770880">
                  <a:extLst>
                    <a:ext uri="{9D8B030D-6E8A-4147-A177-3AD203B41FA5}">
                      <a16:colId xmlns:a16="http://schemas.microsoft.com/office/drawing/2014/main" val="4049915255"/>
                    </a:ext>
                  </a:extLst>
                </a:gridCol>
                <a:gridCol w="228409">
                  <a:extLst>
                    <a:ext uri="{9D8B030D-6E8A-4147-A177-3AD203B41FA5}">
                      <a16:colId xmlns:a16="http://schemas.microsoft.com/office/drawing/2014/main" val="1184058015"/>
                    </a:ext>
                  </a:extLst>
                </a:gridCol>
                <a:gridCol w="1213423">
                  <a:extLst>
                    <a:ext uri="{9D8B030D-6E8A-4147-A177-3AD203B41FA5}">
                      <a16:colId xmlns:a16="http://schemas.microsoft.com/office/drawing/2014/main" val="342446078"/>
                    </a:ext>
                  </a:extLst>
                </a:gridCol>
                <a:gridCol w="1213423">
                  <a:extLst>
                    <a:ext uri="{9D8B030D-6E8A-4147-A177-3AD203B41FA5}">
                      <a16:colId xmlns:a16="http://schemas.microsoft.com/office/drawing/2014/main" val="4099638762"/>
                    </a:ext>
                  </a:extLst>
                </a:gridCol>
                <a:gridCol w="1284801">
                  <a:extLst>
                    <a:ext uri="{9D8B030D-6E8A-4147-A177-3AD203B41FA5}">
                      <a16:colId xmlns:a16="http://schemas.microsoft.com/office/drawing/2014/main" val="3664146229"/>
                    </a:ext>
                  </a:extLst>
                </a:gridCol>
                <a:gridCol w="999289">
                  <a:extLst>
                    <a:ext uri="{9D8B030D-6E8A-4147-A177-3AD203B41FA5}">
                      <a16:colId xmlns:a16="http://schemas.microsoft.com/office/drawing/2014/main" val="1272016720"/>
                    </a:ext>
                  </a:extLst>
                </a:gridCol>
                <a:gridCol w="328338">
                  <a:extLst>
                    <a:ext uri="{9D8B030D-6E8A-4147-A177-3AD203B41FA5}">
                      <a16:colId xmlns:a16="http://schemas.microsoft.com/office/drawing/2014/main" val="1765469807"/>
                    </a:ext>
                  </a:extLst>
                </a:gridCol>
                <a:gridCol w="1070667">
                  <a:extLst>
                    <a:ext uri="{9D8B030D-6E8A-4147-A177-3AD203B41FA5}">
                      <a16:colId xmlns:a16="http://schemas.microsoft.com/office/drawing/2014/main" val="2762537552"/>
                    </a:ext>
                  </a:extLst>
                </a:gridCol>
                <a:gridCol w="728054">
                  <a:extLst>
                    <a:ext uri="{9D8B030D-6E8A-4147-A177-3AD203B41FA5}">
                      <a16:colId xmlns:a16="http://schemas.microsoft.com/office/drawing/2014/main" val="3068437859"/>
                    </a:ext>
                  </a:extLst>
                </a:gridCol>
                <a:gridCol w="799431">
                  <a:extLst>
                    <a:ext uri="{9D8B030D-6E8A-4147-A177-3AD203B41FA5}">
                      <a16:colId xmlns:a16="http://schemas.microsoft.com/office/drawing/2014/main" val="2643557679"/>
                    </a:ext>
                  </a:extLst>
                </a:gridCol>
              </a:tblGrid>
              <a:tr h="182880">
                <a:tc>
                  <a:txBody>
                    <a:bodyPr/>
                    <a:lstStyle/>
                    <a:p>
                      <a:pPr algn="ctr" fontAlgn="b"/>
                      <a:r>
                        <a:rPr lang="pt-BR" sz="1100" b="1" i="0" u="none" strike="noStrike" dirty="0">
                          <a:solidFill>
                            <a:srgbClr val="000000"/>
                          </a:solidFill>
                          <a:effectLst/>
                          <a:latin typeface="Calibri" panose="020F0502020204030204" pitchFamily="34" charset="0"/>
                        </a:rPr>
                        <a:t>DEPARTMENT</a:t>
                      </a:r>
                    </a:p>
                  </a:txBody>
                  <a:tcPr marL="7620" marR="7620" marT="7620" marB="0" anchor="b">
                    <a:lnL>
                      <a:noFill/>
                    </a:lnL>
                    <a:lnR>
                      <a:noFill/>
                    </a:lnR>
                    <a:lnT>
                      <a:noFill/>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593865360"/>
                  </a:ext>
                </a:extLst>
              </a:tr>
              <a:tr h="182880">
                <a:tc>
                  <a:txBody>
                    <a:bodyPr/>
                    <a:lstStyle/>
                    <a:p>
                      <a:pPr algn="ctr" fontAlgn="b"/>
                      <a:r>
                        <a:rPr lang="pt-BR" sz="1100" b="1" i="0" u="none" strike="noStrike" dirty="0">
                          <a:solidFill>
                            <a:srgbClr val="000000"/>
                          </a:solidFill>
                          <a:effectLst/>
                          <a:latin typeface="Calibri" panose="020F0502020204030204" pitchFamily="34" charset="0"/>
                        </a:rPr>
                        <a:t>Beachwear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51046</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48052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99098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94,13%</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356.220,97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339.984,00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696.204,97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6,98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7,08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7,03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72492258"/>
                  </a:ext>
                </a:extLst>
              </a:tr>
              <a:tr h="182880">
                <a:tc>
                  <a:txBody>
                    <a:bodyPr/>
                    <a:lstStyle/>
                    <a:p>
                      <a:pPr algn="ctr" fontAlgn="b"/>
                      <a:r>
                        <a:rPr lang="pt-BR" sz="1100" b="1" i="0" u="none" strike="noStrike" dirty="0">
                          <a:solidFill>
                            <a:srgbClr val="000000"/>
                          </a:solidFill>
                          <a:effectLst/>
                          <a:latin typeface="Calibri" panose="020F0502020204030204" pitchFamily="34" charset="0"/>
                        </a:rPr>
                        <a:t>BootAccessories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18979</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19201</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38180</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101,17%</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70.552,21 </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 R$        77.917,26 </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 R$        148.469,47 </a:t>
                      </a:r>
                    </a:p>
                  </a:txBody>
                  <a:tcPr marL="7620" marR="7620" marT="7620" marB="0" anchor="b">
                    <a:lnL>
                      <a:noFill/>
                    </a:lnL>
                    <a:lnR>
                      <a:noFill/>
                    </a:lnR>
                    <a:lnT>
                      <a:noFill/>
                    </a:lnT>
                    <a:lnB>
                      <a:noFill/>
                    </a:lnB>
                    <a:solidFill>
                      <a:srgbClr val="FFFF00"/>
                    </a:solidFill>
                  </a:tcPr>
                </a:tc>
                <a:tc>
                  <a:txBody>
                    <a:bodyPr/>
                    <a:lstStyle/>
                    <a:p>
                      <a:pPr algn="ctr" fontAlgn="b"/>
                      <a:r>
                        <a:rPr lang="pt-BR" sz="1100" b="0" i="0" u="none" strike="noStrike" dirty="0">
                          <a:solidFill>
                            <a:srgbClr val="000000"/>
                          </a:solidFill>
                          <a:effectLst/>
                          <a:latin typeface="Calibri" panose="020F0502020204030204" pitchFamily="34" charset="0"/>
                        </a:rPr>
                        <a:t>110,4%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3,72 </a:t>
                      </a:r>
                    </a:p>
                  </a:txBody>
                  <a:tcPr marL="7620" marR="7620" marT="7620" marB="0" anchor="b">
                    <a:lnL>
                      <a:noFill/>
                    </a:lnL>
                    <a:lnR>
                      <a:noFill/>
                    </a:lnR>
                    <a:lnT>
                      <a:noFill/>
                    </a:lnT>
                    <a:lnB>
                      <a:noFill/>
                    </a:lnB>
                    <a:solidFill>
                      <a:srgbClr val="FFFF00"/>
                    </a:solidFill>
                  </a:tcPr>
                </a:tc>
                <a:tc>
                  <a:txBody>
                    <a:bodyPr/>
                    <a:lstStyle/>
                    <a:p>
                      <a:pPr algn="l" fontAlgn="b"/>
                      <a:r>
                        <a:rPr lang="pt-BR" sz="1100" b="0" i="0" u="none" strike="noStrike" dirty="0">
                          <a:solidFill>
                            <a:srgbClr val="000000"/>
                          </a:solidFill>
                          <a:effectLst/>
                          <a:latin typeface="Calibri" panose="020F0502020204030204" pitchFamily="34" charset="0"/>
                        </a:rPr>
                        <a:t> R$     4,06 </a:t>
                      </a:r>
                    </a:p>
                  </a:txBody>
                  <a:tcPr marL="7620" marR="7620" marT="7620" marB="0" anchor="b">
                    <a:lnL>
                      <a:noFill/>
                    </a:lnL>
                    <a:lnR>
                      <a:noFill/>
                    </a:lnR>
                    <a:lnT>
                      <a:noFill/>
                    </a:lnT>
                    <a:lnB>
                      <a:noFill/>
                    </a:lnB>
                    <a:solidFill>
                      <a:srgbClr val="FFFF00"/>
                    </a:solidFill>
                  </a:tcPr>
                </a:tc>
                <a:tc>
                  <a:txBody>
                    <a:bodyPr/>
                    <a:lstStyle/>
                    <a:p>
                      <a:pPr algn="l" fontAlgn="b"/>
                      <a:r>
                        <a:rPr lang="pt-BR" sz="1100" b="0" i="0" u="none" strike="noStrike" dirty="0">
                          <a:solidFill>
                            <a:srgbClr val="000000"/>
                          </a:solidFill>
                          <a:effectLst/>
                          <a:latin typeface="Calibri" panose="020F0502020204030204" pitchFamily="34" charset="0"/>
                        </a:rPr>
                        <a:t> R$       3,89 </a:t>
                      </a:r>
                    </a:p>
                  </a:txBody>
                  <a:tcPr marL="7620" marR="7620" marT="7620" marB="0" anchor="b">
                    <a:lnL>
                      <a:noFill/>
                    </a:lnL>
                    <a:lnR>
                      <a:noFill/>
                    </a:lnR>
                    <a:lnT>
                      <a:noFill/>
                    </a:lnT>
                    <a:lnB>
                      <a:noFill/>
                    </a:lnB>
                    <a:solidFill>
                      <a:srgbClr val="FFFF00"/>
                    </a:solidFill>
                  </a:tcPr>
                </a:tc>
                <a:extLst>
                  <a:ext uri="{0D108BD9-81ED-4DB2-BD59-A6C34878D82A}">
                    <a16:rowId xmlns:a16="http://schemas.microsoft.com/office/drawing/2014/main" val="3821071791"/>
                  </a:ext>
                </a:extLst>
              </a:tr>
              <a:tr h="182880">
                <a:tc>
                  <a:txBody>
                    <a:bodyPr/>
                    <a:lstStyle/>
                    <a:p>
                      <a:pPr algn="ctr" fontAlgn="b"/>
                      <a:r>
                        <a:rPr lang="pt-BR" sz="1100" b="1" i="0" u="none" strike="noStrike" dirty="0">
                          <a:solidFill>
                            <a:srgbClr val="000000"/>
                          </a:solidFill>
                          <a:effectLst/>
                          <a:latin typeface="Calibri" panose="020F0502020204030204" pitchFamily="34" charset="0"/>
                        </a:rPr>
                        <a:t>Boots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87598</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87695</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90307,22%</a:t>
                      </a:r>
                    </a:p>
                  </a:txBody>
                  <a:tcPr marL="7620" marR="7620" marT="7620" marB="0" anchor="b">
                    <a:lnL>
                      <a:noFill/>
                    </a:lnL>
                    <a:lnR>
                      <a:noFill/>
                    </a:lnR>
                    <a:lnT>
                      <a:noFill/>
                    </a:lnT>
                    <a:lnB>
                      <a:noFill/>
                    </a:lnB>
                    <a:solidFill>
                      <a:srgbClr val="63BE7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0,20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221.195,93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 R$        221.196,13 </a:t>
                      </a:r>
                    </a:p>
                  </a:txBody>
                  <a:tcPr marL="7620" marR="7620" marT="7620" marB="0" anchor="b">
                    <a:lnL>
                      <a:noFill/>
                    </a:lnL>
                    <a:lnR>
                      <a:noFill/>
                    </a:lnR>
                    <a:lnT>
                      <a:noFill/>
                    </a:lnT>
                    <a:lnB>
                      <a:noFill/>
                    </a:lnB>
                    <a:solidFill>
                      <a:srgbClr val="C6E0B4"/>
                    </a:solidFill>
                  </a:tcPr>
                </a:tc>
                <a:tc>
                  <a:txBody>
                    <a:bodyPr/>
                    <a:lstStyle/>
                    <a:p>
                      <a:pPr algn="ctr" fontAlgn="b"/>
                      <a:r>
                        <a:rPr lang="pt-BR" sz="1100" b="0" i="0" u="none" strike="noStrike" dirty="0">
                          <a:solidFill>
                            <a:srgbClr val="000000"/>
                          </a:solidFill>
                          <a:effectLst/>
                          <a:latin typeface="Calibri" panose="020F0502020204030204" pitchFamily="34" charset="0"/>
                        </a:rPr>
                        <a:t>110597965,0%</a:t>
                      </a:r>
                    </a:p>
                  </a:txBody>
                  <a:tcPr marL="7620" marR="7620" marT="7620" marB="0" anchor="b">
                    <a:lnL>
                      <a:noFill/>
                    </a:lnL>
                    <a:lnR>
                      <a:noFill/>
                    </a:lnR>
                    <a:lnT>
                      <a:noFill/>
                    </a:lnT>
                    <a:lnB>
                      <a:noFill/>
                    </a:lnB>
                    <a:solidFill>
                      <a:srgbClr val="63BE7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0,00 </a:t>
                      </a:r>
                    </a:p>
                  </a:txBody>
                  <a:tcPr marL="7620" marR="7620" marT="7620" marB="0" anchor="b">
                    <a:lnL>
                      <a:noFill/>
                    </a:lnL>
                    <a:lnR>
                      <a:noFill/>
                    </a:lnR>
                    <a:lnT>
                      <a:noFill/>
                    </a:lnT>
                    <a:lnB>
                      <a:noFill/>
                    </a:lnB>
                    <a:solidFill>
                      <a:srgbClr val="A9D08E"/>
                    </a:solidFill>
                  </a:tcPr>
                </a:tc>
                <a:tc>
                  <a:txBody>
                    <a:bodyPr/>
                    <a:lstStyle/>
                    <a:p>
                      <a:pPr algn="l" fontAlgn="b"/>
                      <a:r>
                        <a:rPr lang="pt-BR" sz="1100" b="0" i="0" u="none" strike="noStrike" dirty="0">
                          <a:solidFill>
                            <a:srgbClr val="000000"/>
                          </a:solidFill>
                          <a:effectLst/>
                          <a:latin typeface="Calibri" panose="020F0502020204030204" pitchFamily="34" charset="0"/>
                        </a:rPr>
                        <a:t> R$     2,53 </a:t>
                      </a:r>
                    </a:p>
                  </a:txBody>
                  <a:tcPr marL="7620" marR="7620" marT="7620" marB="0" anchor="b">
                    <a:lnL>
                      <a:noFill/>
                    </a:lnL>
                    <a:lnR>
                      <a:noFill/>
                    </a:lnR>
                    <a:lnT>
                      <a:noFill/>
                    </a:lnT>
                    <a:lnB>
                      <a:noFill/>
                    </a:lnB>
                    <a:solidFill>
                      <a:srgbClr val="A9D08E"/>
                    </a:solidFill>
                  </a:tcPr>
                </a:tc>
                <a:tc>
                  <a:txBody>
                    <a:bodyPr/>
                    <a:lstStyle/>
                    <a:p>
                      <a:pPr algn="l" fontAlgn="b"/>
                      <a:r>
                        <a:rPr lang="pt-BR" sz="1100" b="0" i="0" u="none" strike="noStrike" dirty="0">
                          <a:solidFill>
                            <a:srgbClr val="000000"/>
                          </a:solidFill>
                          <a:effectLst/>
                          <a:latin typeface="Calibri" panose="020F0502020204030204" pitchFamily="34" charset="0"/>
                        </a:rPr>
                        <a:t> R$       2,52 </a:t>
                      </a:r>
                    </a:p>
                  </a:txBody>
                  <a:tcPr marL="7620" marR="7620" marT="7620" marB="0" anchor="b">
                    <a:lnL>
                      <a:noFill/>
                    </a:lnL>
                    <a:lnR>
                      <a:noFill/>
                    </a:lnR>
                    <a:lnT>
                      <a:noFill/>
                    </a:lnT>
                    <a:lnB>
                      <a:noFill/>
                    </a:lnB>
                    <a:solidFill>
                      <a:srgbClr val="A9D08E"/>
                    </a:solidFill>
                  </a:tcPr>
                </a:tc>
                <a:extLst>
                  <a:ext uri="{0D108BD9-81ED-4DB2-BD59-A6C34878D82A}">
                    <a16:rowId xmlns:a16="http://schemas.microsoft.com/office/drawing/2014/main" val="728121937"/>
                  </a:ext>
                </a:extLst>
              </a:tr>
              <a:tr h="182880">
                <a:tc>
                  <a:txBody>
                    <a:bodyPr/>
                    <a:lstStyle/>
                    <a:p>
                      <a:pPr algn="ctr" fontAlgn="b"/>
                      <a:r>
                        <a:rPr lang="pt-BR" sz="1100" b="1" i="0" u="none" strike="noStrike" dirty="0">
                          <a:solidFill>
                            <a:srgbClr val="000000"/>
                          </a:solidFill>
                          <a:effectLst/>
                          <a:latin typeface="Calibri" panose="020F0502020204030204" pitchFamily="34" charset="0"/>
                        </a:rPr>
                        <a:t>CowboyHats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81032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78811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159843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97,26%</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976.847,52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981.209,97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1.958.057,49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12,06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12,45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12,25 </a:t>
                      </a:r>
                    </a:p>
                  </a:txBody>
                  <a:tcPr marL="7620" marR="7620" marT="7620" marB="0" anchor="b">
                    <a:lnL>
                      <a:noFill/>
                    </a:lnL>
                    <a:lnR>
                      <a:noFill/>
                    </a:lnR>
                    <a:lnT>
                      <a:noFill/>
                    </a:lnT>
                    <a:lnB>
                      <a:noFill/>
                    </a:lnB>
                  </a:tcPr>
                </a:tc>
                <a:extLst>
                  <a:ext uri="{0D108BD9-81ED-4DB2-BD59-A6C34878D82A}">
                    <a16:rowId xmlns:a16="http://schemas.microsoft.com/office/drawing/2014/main" val="3514400437"/>
                  </a:ext>
                </a:extLst>
              </a:tr>
              <a:tr h="182880">
                <a:tc>
                  <a:txBody>
                    <a:bodyPr/>
                    <a:lstStyle/>
                    <a:p>
                      <a:pPr algn="ctr" fontAlgn="b"/>
                      <a:r>
                        <a:rPr lang="pt-BR" sz="1100" b="1" i="0" u="none" strike="noStrike" dirty="0">
                          <a:solidFill>
                            <a:srgbClr val="000000"/>
                          </a:solidFill>
                          <a:effectLst/>
                          <a:latin typeface="Calibri" panose="020F0502020204030204" pitchFamily="34" charset="0"/>
                        </a:rPr>
                        <a:t>Formalwear</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86295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81335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167630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94,25%</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152.392,20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143.196,63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295.588,83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94,0%</a:t>
                      </a:r>
                    </a:p>
                  </a:txBody>
                  <a:tcPr marL="7620" marR="7620" marT="7620" marB="0" anchor="b">
                    <a:lnL>
                      <a:noFill/>
                    </a:lnL>
                    <a:lnR>
                      <a:noFill/>
                    </a:lnR>
                    <a:lnT>
                      <a:noFill/>
                    </a:lnT>
                    <a:lnB>
                      <a:noFill/>
                    </a:lnB>
                    <a:solidFill>
                      <a:srgbClr val="FEE883"/>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1,77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1,76 </a:t>
                      </a:r>
                    </a:p>
                  </a:txBody>
                  <a:tcPr marL="7620" marR="7620" marT="7620" marB="0" anchor="b">
                    <a:lnL>
                      <a:noFill/>
                    </a:lnL>
                    <a:lnR>
                      <a:noFill/>
                    </a:lnR>
                    <a:lnT>
                      <a:noFill/>
                    </a:lnT>
                    <a:lnB>
                      <a:noFill/>
                    </a:lnB>
                  </a:tcPr>
                </a:tc>
                <a:extLst>
                  <a:ext uri="{0D108BD9-81ED-4DB2-BD59-A6C34878D82A}">
                    <a16:rowId xmlns:a16="http://schemas.microsoft.com/office/drawing/2014/main" val="1048629828"/>
                  </a:ext>
                </a:extLst>
              </a:tr>
              <a:tr h="182880">
                <a:tc>
                  <a:txBody>
                    <a:bodyPr/>
                    <a:lstStyle/>
                    <a:p>
                      <a:pPr algn="ctr" fontAlgn="b"/>
                      <a:r>
                        <a:rPr lang="pt-BR" sz="1100" b="1" i="0" u="none" strike="noStrike" dirty="0">
                          <a:solidFill>
                            <a:srgbClr val="000000"/>
                          </a:solidFill>
                          <a:effectLst/>
                          <a:latin typeface="Calibri" panose="020F0502020204030204" pitchFamily="34" charset="0"/>
                        </a:rPr>
                        <a:t>KnickKnacks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100833</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89</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100922</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0,09%</a:t>
                      </a:r>
                    </a:p>
                  </a:txBody>
                  <a:tcPr marL="7620" marR="7620" marT="7620" marB="0" anchor="b">
                    <a:lnL>
                      <a:noFill/>
                    </a:lnL>
                    <a:lnR>
                      <a:noFill/>
                    </a:lnR>
                    <a:lnT>
                      <a:noFill/>
                    </a:lnT>
                    <a:lnB>
                      <a:noFill/>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4.839.808,64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4,10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 R$     4.839.812,74 </a:t>
                      </a:r>
                    </a:p>
                  </a:txBody>
                  <a:tcPr marL="7620" marR="7620" marT="7620" marB="0" anchor="b">
                    <a:lnL>
                      <a:noFill/>
                    </a:lnL>
                    <a:lnR>
                      <a:noFill/>
                    </a:lnR>
                    <a:lnT>
                      <a:noFill/>
                    </a:lnT>
                    <a:lnB>
                      <a:noFill/>
                    </a:lnB>
                    <a:solidFill>
                      <a:srgbClr val="F8CBAD"/>
                    </a:solidFill>
                  </a:tcPr>
                </a:tc>
                <a:tc>
                  <a:txBody>
                    <a:bodyPr/>
                    <a:lstStyle/>
                    <a:p>
                      <a:pPr algn="ctr" fontAlgn="b"/>
                      <a:r>
                        <a:rPr lang="pt-BR" sz="1100" b="0" i="0" u="none" strike="noStrike" dirty="0">
                          <a:solidFill>
                            <a:srgbClr val="000000"/>
                          </a:solidFill>
                          <a:effectLst/>
                          <a:latin typeface="Calibri" panose="020F0502020204030204" pitchFamily="34" charset="0"/>
                        </a:rPr>
                        <a:t>0,0%</a:t>
                      </a:r>
                    </a:p>
                  </a:txBody>
                  <a:tcPr marL="7620" marR="7620" marT="7620" marB="0" anchor="b">
                    <a:lnL>
                      <a:noFill/>
                    </a:lnL>
                    <a:lnR>
                      <a:noFill/>
                    </a:lnR>
                    <a:lnT>
                      <a:noFill/>
                    </a:lnT>
                    <a:lnB>
                      <a:noFill/>
                    </a:lnB>
                    <a:solidFill>
                      <a:srgbClr val="F8696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48,00 </a:t>
                      </a:r>
                    </a:p>
                  </a:txBody>
                  <a:tcPr marL="7620" marR="7620" marT="7620" marB="0" anchor="b">
                    <a:lnL>
                      <a:noFill/>
                    </a:lnL>
                    <a:lnR>
                      <a:noFill/>
                    </a:lnR>
                    <a:lnT>
                      <a:noFill/>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0,05 </a:t>
                      </a:r>
                    </a:p>
                  </a:txBody>
                  <a:tcPr marL="7620" marR="7620" marT="7620" marB="0" anchor="b">
                    <a:lnL>
                      <a:noFill/>
                    </a:lnL>
                    <a:lnR>
                      <a:noFill/>
                    </a:lnR>
                    <a:lnT>
                      <a:noFill/>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47,96 </a:t>
                      </a:r>
                    </a:p>
                  </a:txBody>
                  <a:tcPr marL="7620" marR="7620" marT="7620" marB="0" anchor="b">
                    <a:lnL>
                      <a:noFill/>
                    </a:lnL>
                    <a:lnR>
                      <a:noFill/>
                    </a:lnR>
                    <a:lnT>
                      <a:noFill/>
                    </a:lnT>
                    <a:lnB>
                      <a:noFill/>
                    </a:lnB>
                    <a:solidFill>
                      <a:srgbClr val="F4B084"/>
                    </a:solidFill>
                  </a:tcPr>
                </a:tc>
                <a:extLst>
                  <a:ext uri="{0D108BD9-81ED-4DB2-BD59-A6C34878D82A}">
                    <a16:rowId xmlns:a16="http://schemas.microsoft.com/office/drawing/2014/main" val="1997506161"/>
                  </a:ext>
                </a:extLst>
              </a:tr>
              <a:tr h="182880">
                <a:tc>
                  <a:txBody>
                    <a:bodyPr/>
                    <a:lstStyle/>
                    <a:p>
                      <a:pPr algn="ctr" fontAlgn="b"/>
                      <a:r>
                        <a:rPr lang="pt-BR" sz="1100" b="1" i="0" u="none" strike="noStrike" dirty="0">
                          <a:solidFill>
                            <a:srgbClr val="000000"/>
                          </a:solidFill>
                          <a:effectLst/>
                          <a:latin typeface="Calibri" panose="020F0502020204030204" pitchFamily="34" charset="0"/>
                        </a:rPr>
                        <a:t>Misc</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80777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72243</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153020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89,44%</a:t>
                      </a:r>
                    </a:p>
                  </a:txBody>
                  <a:tcPr marL="7620" marR="7620" marT="7620" marB="0" anchor="b">
                    <a:lnL>
                      <a:noFill/>
                    </a:lnL>
                    <a:lnR>
                      <a:noFill/>
                    </a:lnR>
                    <a:lnT>
                      <a:noFill/>
                    </a:lnT>
                    <a:lnB>
                      <a:noFill/>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451.348,19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385.467,78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836.815,97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5,59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5,34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5,47 </a:t>
                      </a:r>
                    </a:p>
                  </a:txBody>
                  <a:tcPr marL="7620" marR="7620" marT="7620" marB="0" anchor="b">
                    <a:lnL>
                      <a:noFill/>
                    </a:lnL>
                    <a:lnR>
                      <a:noFill/>
                    </a:lnR>
                    <a:lnT>
                      <a:noFill/>
                    </a:lnT>
                    <a:lnB>
                      <a:noFill/>
                    </a:lnB>
                  </a:tcPr>
                </a:tc>
                <a:extLst>
                  <a:ext uri="{0D108BD9-81ED-4DB2-BD59-A6C34878D82A}">
                    <a16:rowId xmlns:a16="http://schemas.microsoft.com/office/drawing/2014/main" val="4218091716"/>
                  </a:ext>
                </a:extLst>
              </a:tr>
              <a:tr h="182880">
                <a:tc>
                  <a:txBody>
                    <a:bodyPr/>
                    <a:lstStyle/>
                    <a:p>
                      <a:pPr algn="ctr" fontAlgn="b"/>
                      <a:r>
                        <a:rPr lang="pt-BR" sz="1100" b="1" i="0" u="none" strike="noStrike" dirty="0">
                          <a:solidFill>
                            <a:srgbClr val="000000"/>
                          </a:solidFill>
                          <a:effectLst/>
                          <a:latin typeface="Calibri" panose="020F0502020204030204" pitchFamily="34" charset="0"/>
                        </a:rPr>
                        <a:t>Shirts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14998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14967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29965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99,79%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159.296,30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167.968,24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327.264,54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105,4%</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10,62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11,22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10,92 </a:t>
                      </a:r>
                    </a:p>
                  </a:txBody>
                  <a:tcPr marL="7620" marR="7620" marT="7620" marB="0" anchor="b">
                    <a:lnL>
                      <a:noFill/>
                    </a:lnL>
                    <a:lnR>
                      <a:noFill/>
                    </a:lnR>
                    <a:lnT>
                      <a:noFill/>
                    </a:lnT>
                    <a:lnB>
                      <a:noFill/>
                    </a:lnB>
                  </a:tcPr>
                </a:tc>
                <a:extLst>
                  <a:ext uri="{0D108BD9-81ED-4DB2-BD59-A6C34878D82A}">
                    <a16:rowId xmlns:a16="http://schemas.microsoft.com/office/drawing/2014/main" val="4294952899"/>
                  </a:ext>
                </a:extLst>
              </a:tr>
              <a:tr h="182880">
                <a:tc>
                  <a:txBody>
                    <a:bodyPr/>
                    <a:lstStyle/>
                    <a:p>
                      <a:pPr algn="ctr" fontAlgn="b"/>
                      <a:r>
                        <a:rPr lang="pt-BR" sz="1100" b="1" i="0" u="none" strike="noStrike" dirty="0">
                          <a:solidFill>
                            <a:srgbClr val="000000"/>
                          </a:solidFill>
                          <a:effectLst/>
                          <a:latin typeface="Calibri" panose="020F0502020204030204" pitchFamily="34" charset="0"/>
                        </a:rPr>
                        <a:t>StoreUse</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28767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28245</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57012</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98,19%</a:t>
                      </a:r>
                    </a:p>
                  </a:txBody>
                  <a:tcPr marL="7620" marR="7620" marT="7620" marB="0" anchor="b">
                    <a:lnL>
                      <a:noFill/>
                    </a:lnL>
                    <a:lnR>
                      <a:noFill/>
                    </a:lnR>
                    <a:lnT>
                      <a:noFill/>
                    </a:lnT>
                    <a:lnB>
                      <a:noFill/>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35.231,94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36.025,56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71.257,50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102,3%</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1,28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1,25 </a:t>
                      </a:r>
                    </a:p>
                  </a:txBody>
                  <a:tcPr marL="7620" marR="7620" marT="7620" marB="0" anchor="b">
                    <a:lnL>
                      <a:noFill/>
                    </a:lnL>
                    <a:lnR>
                      <a:noFill/>
                    </a:lnR>
                    <a:lnT>
                      <a:noFill/>
                    </a:lnT>
                    <a:lnB>
                      <a:noFill/>
                    </a:lnB>
                  </a:tcPr>
                </a:tc>
                <a:extLst>
                  <a:ext uri="{0D108BD9-81ED-4DB2-BD59-A6C34878D82A}">
                    <a16:rowId xmlns:a16="http://schemas.microsoft.com/office/drawing/2014/main" val="1157776219"/>
                  </a:ext>
                </a:extLst>
              </a:tr>
              <a:tr h="182880">
                <a:tc>
                  <a:txBody>
                    <a:bodyPr/>
                    <a:lstStyle/>
                    <a:p>
                      <a:pPr algn="ctr" fontAlgn="b"/>
                      <a:r>
                        <a:rPr lang="pt-BR" sz="1100" b="1" i="0" u="none" strike="noStrike" dirty="0">
                          <a:solidFill>
                            <a:srgbClr val="000000"/>
                          </a:solidFill>
                          <a:effectLst/>
                          <a:latin typeface="Calibri" panose="020F0502020204030204" pitchFamily="34" charset="0"/>
                        </a:rPr>
                        <a:t>WomensJeans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23453</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20931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44384</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89,25%</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FEE5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 R$      422.703,67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361.140,74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 R$        783.844,41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85,4%</a:t>
                      </a:r>
                    </a:p>
                  </a:txBody>
                  <a:tcPr marL="7620" marR="7620" marT="7620" marB="0" anchor="b">
                    <a:lnL>
                      <a:noFill/>
                    </a:lnL>
                    <a:lnR>
                      <a:noFill/>
                    </a:lnR>
                    <a:lnT>
                      <a:noFill/>
                    </a:lnT>
                    <a:lnB>
                      <a:noFill/>
                    </a:lnB>
                    <a:solidFill>
                      <a:srgbClr val="FEDD81"/>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18,02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17,25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17,66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691732122"/>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486277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451472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937749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92,84%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0" i="0" u="none" strike="noStrike" dirty="0">
                          <a:solidFill>
                            <a:srgbClr val="000000"/>
                          </a:solidFill>
                          <a:effectLst/>
                          <a:latin typeface="Calibri" panose="020F0502020204030204" pitchFamily="34" charset="0"/>
                        </a:rPr>
                        <a:t>36%</a:t>
                      </a:r>
                    </a:p>
                  </a:txBody>
                  <a:tcPr marL="7620" marR="7620" marT="7620" marB="0" anchor="b">
                    <a:lnL>
                      <a:noFill/>
                    </a:lnL>
                    <a:lnR>
                      <a:noFill/>
                    </a:lnR>
                    <a:lnT>
                      <a:noFill/>
                    </a:lnT>
                    <a:lnB>
                      <a:noFill/>
                    </a:lnB>
                    <a:solidFill>
                      <a:srgbClr val="FA9A7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15,35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6,01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10,85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524370376"/>
                  </a:ext>
                </a:extLst>
              </a:tr>
            </a:tbl>
          </a:graphicData>
        </a:graphic>
      </p:graphicFrame>
      <p:sp>
        <p:nvSpPr>
          <p:cNvPr id="2" name="CaixaDeTexto 1">
            <a:extLst>
              <a:ext uri="{FF2B5EF4-FFF2-40B4-BE49-F238E27FC236}">
                <a16:creationId xmlns:a16="http://schemas.microsoft.com/office/drawing/2014/main" id="{846B4A94-9EC7-9315-5BDE-343FDDC8B8EE}"/>
              </a:ext>
            </a:extLst>
          </p:cNvPr>
          <p:cNvSpPr txBox="1"/>
          <p:nvPr/>
        </p:nvSpPr>
        <p:spPr>
          <a:xfrm>
            <a:off x="10752083" y="1942342"/>
            <a:ext cx="1315040" cy="276999"/>
          </a:xfrm>
          <a:prstGeom prst="rect">
            <a:avLst/>
          </a:prstGeom>
          <a:noFill/>
        </p:spPr>
        <p:txBody>
          <a:bodyPr wrap="none" rtlCol="0">
            <a:spAutoFit/>
          </a:bodyPr>
          <a:lstStyle/>
          <a:p>
            <a:r>
              <a:rPr lang="pt-BR" sz="1200" b="1" dirty="0"/>
              <a:t>Average Ticket</a:t>
            </a:r>
          </a:p>
        </p:txBody>
      </p:sp>
      <p:sp>
        <p:nvSpPr>
          <p:cNvPr id="3" name="Retângulo 2">
            <a:extLst>
              <a:ext uri="{FF2B5EF4-FFF2-40B4-BE49-F238E27FC236}">
                <a16:creationId xmlns:a16="http://schemas.microsoft.com/office/drawing/2014/main" id="{4DDF7AF9-5B03-7477-50A8-3ADEC5E18BA9}"/>
              </a:ext>
            </a:extLst>
          </p:cNvPr>
          <p:cNvSpPr/>
          <p:nvPr/>
        </p:nvSpPr>
        <p:spPr>
          <a:xfrm>
            <a:off x="4107180" y="2583180"/>
            <a:ext cx="769620" cy="167640"/>
          </a:xfrm>
          <a:prstGeom prst="rect">
            <a:avLst/>
          </a:prstGeom>
          <a:noFill/>
          <a:ln w="38100">
            <a:solidFill>
              <a:srgbClr val="EE5F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8B2BF11B-E077-44D3-1420-6AF70563B043}"/>
              </a:ext>
            </a:extLst>
          </p:cNvPr>
          <p:cNvSpPr/>
          <p:nvPr/>
        </p:nvSpPr>
        <p:spPr>
          <a:xfrm>
            <a:off x="8816340" y="2583180"/>
            <a:ext cx="975360" cy="181855"/>
          </a:xfrm>
          <a:prstGeom prst="rect">
            <a:avLst/>
          </a:prstGeom>
          <a:noFill/>
          <a:ln w="38100">
            <a:solidFill>
              <a:srgbClr val="EE5F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36861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556897" y="3710152"/>
            <a:ext cx="11677407" cy="2617076"/>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20204" pitchFamily="34" charset="0"/>
              <a:buChar char="•"/>
            </a:pPr>
            <a:r>
              <a:rPr lang="en-US" b="0" i="0" dirty="0">
                <a:solidFill>
                  <a:srgbClr val="374151"/>
                </a:solidFill>
                <a:effectLst/>
                <a:latin typeface="Söhne"/>
              </a:rPr>
              <a:t>I would implement</a:t>
            </a:r>
            <a:r>
              <a:rPr lang="en-US" b="0" i="1" dirty="0">
                <a:solidFill>
                  <a:srgbClr val="374151"/>
                </a:solidFill>
                <a:effectLst/>
                <a:latin typeface="Söhne"/>
              </a:rPr>
              <a:t> </a:t>
            </a:r>
            <a:r>
              <a:rPr lang="en-US" i="1" u="sng" dirty="0" err="1">
                <a:solidFill>
                  <a:srgbClr val="374151"/>
                </a:solidFill>
                <a:latin typeface="Söhne"/>
              </a:rPr>
              <a:t>O</a:t>
            </a:r>
            <a:r>
              <a:rPr lang="en-US" b="0" i="1" u="sng" dirty="0" err="1">
                <a:solidFill>
                  <a:srgbClr val="374151"/>
                </a:solidFill>
                <a:effectLst/>
                <a:latin typeface="Söhne"/>
              </a:rPr>
              <a:t>rderBump</a:t>
            </a:r>
            <a:r>
              <a:rPr lang="en-US" b="0" i="0" dirty="0">
                <a:solidFill>
                  <a:srgbClr val="374151"/>
                </a:solidFill>
                <a:effectLst/>
                <a:latin typeface="Söhne"/>
              </a:rPr>
              <a:t> practices for </a:t>
            </a:r>
            <a:r>
              <a:rPr lang="en-US" b="1" i="0" dirty="0" err="1">
                <a:solidFill>
                  <a:srgbClr val="374151"/>
                </a:solidFill>
                <a:effectLst/>
                <a:latin typeface="Söhne"/>
              </a:rPr>
              <a:t>EliteCustomers</a:t>
            </a:r>
            <a:r>
              <a:rPr lang="en-US" b="0" i="0" dirty="0">
                <a:solidFill>
                  <a:srgbClr val="374151"/>
                </a:solidFill>
                <a:effectLst/>
                <a:latin typeface="Söhne"/>
              </a:rPr>
              <a:t>, as they are our top-selling group with the second highest average ticket size. This would encourage them to spend more on each purchase.</a:t>
            </a:r>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sp>
        <p:nvSpPr>
          <p:cNvPr id="14" name="CaixaDeTexto 13">
            <a:extLst>
              <a:ext uri="{FF2B5EF4-FFF2-40B4-BE49-F238E27FC236}">
                <a16:creationId xmlns:a16="http://schemas.microsoft.com/office/drawing/2014/main" id="{95B9CB78-7A7A-1AB4-A452-B7EF8C952632}"/>
              </a:ext>
            </a:extLst>
          </p:cNvPr>
          <p:cNvSpPr txBox="1"/>
          <p:nvPr/>
        </p:nvSpPr>
        <p:spPr>
          <a:xfrm>
            <a:off x="556897" y="3898209"/>
            <a:ext cx="11677407" cy="646331"/>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374151"/>
                </a:solidFill>
                <a:effectLst/>
                <a:latin typeface="Söhne"/>
              </a:rPr>
              <a:t>I would continue investing in acquiring new leads because </a:t>
            </a:r>
            <a:r>
              <a:rPr lang="en-US" b="1" i="0" dirty="0">
                <a:solidFill>
                  <a:srgbClr val="374151"/>
                </a:solidFill>
                <a:effectLst/>
                <a:latin typeface="Söhne"/>
              </a:rPr>
              <a:t>NewCustomers </a:t>
            </a:r>
            <a:r>
              <a:rPr lang="en-US" b="0" i="0" dirty="0">
                <a:solidFill>
                  <a:srgbClr val="374151"/>
                </a:solidFill>
                <a:effectLst/>
                <a:latin typeface="Söhne"/>
              </a:rPr>
              <a:t>are </a:t>
            </a:r>
            <a:r>
              <a:rPr lang="en-US" i="1" u="sng" dirty="0">
                <a:solidFill>
                  <a:srgbClr val="374151"/>
                </a:solidFill>
                <a:effectLst/>
                <a:latin typeface="Söhne"/>
              </a:rPr>
              <a:t>currently our growing segment </a:t>
            </a:r>
            <a:r>
              <a:rPr lang="en-US" b="0" i="0" dirty="0">
                <a:solidFill>
                  <a:srgbClr val="374151"/>
                </a:solidFill>
                <a:effectLst/>
                <a:latin typeface="Söhne"/>
              </a:rPr>
              <a:t>and have </a:t>
            </a:r>
            <a:r>
              <a:rPr lang="en-US" b="0" i="1" dirty="0">
                <a:solidFill>
                  <a:srgbClr val="374151"/>
                </a:solidFill>
                <a:effectLst/>
                <a:latin typeface="Söhne"/>
              </a:rPr>
              <a:t>the </a:t>
            </a:r>
            <a:r>
              <a:rPr lang="en-US" b="0" i="1" u="sng" dirty="0">
                <a:solidFill>
                  <a:srgbClr val="374151"/>
                </a:solidFill>
                <a:effectLst/>
                <a:latin typeface="Söhne"/>
              </a:rPr>
              <a:t>highest average ticket size</a:t>
            </a:r>
            <a:r>
              <a:rPr lang="en-US" b="0" i="0" dirty="0">
                <a:solidFill>
                  <a:srgbClr val="374151"/>
                </a:solidFill>
                <a:effectLst/>
                <a:latin typeface="Söhne"/>
              </a:rPr>
              <a:t>.</a:t>
            </a:r>
          </a:p>
        </p:txBody>
      </p:sp>
      <p:graphicFrame>
        <p:nvGraphicFramePr>
          <p:cNvPr id="22" name="Tabela 21">
            <a:extLst>
              <a:ext uri="{FF2B5EF4-FFF2-40B4-BE49-F238E27FC236}">
                <a16:creationId xmlns:a16="http://schemas.microsoft.com/office/drawing/2014/main" id="{B288F157-43F7-D623-963B-36AFEBCAAAAD}"/>
              </a:ext>
            </a:extLst>
          </p:cNvPr>
          <p:cNvGraphicFramePr>
            <a:graphicFrameLocks noGrp="1"/>
          </p:cNvGraphicFramePr>
          <p:nvPr>
            <p:extLst>
              <p:ext uri="{D42A27DB-BD31-4B8C-83A1-F6EECF244321}">
                <p14:modId xmlns:p14="http://schemas.microsoft.com/office/powerpoint/2010/main" val="2592034506"/>
              </p:ext>
            </p:extLst>
          </p:nvPr>
        </p:nvGraphicFramePr>
        <p:xfrm>
          <a:off x="540228" y="1939869"/>
          <a:ext cx="12961775" cy="1463040"/>
        </p:xfrm>
        <a:graphic>
          <a:graphicData uri="http://schemas.openxmlformats.org/drawingml/2006/table">
            <a:tbl>
              <a:tblPr/>
              <a:tblGrid>
                <a:gridCol w="1657093">
                  <a:extLst>
                    <a:ext uri="{9D8B030D-6E8A-4147-A177-3AD203B41FA5}">
                      <a16:colId xmlns:a16="http://schemas.microsoft.com/office/drawing/2014/main" val="2755255252"/>
                    </a:ext>
                  </a:extLst>
                </a:gridCol>
                <a:gridCol w="629695">
                  <a:extLst>
                    <a:ext uri="{9D8B030D-6E8A-4147-A177-3AD203B41FA5}">
                      <a16:colId xmlns:a16="http://schemas.microsoft.com/office/drawing/2014/main" val="2506069620"/>
                    </a:ext>
                  </a:extLst>
                </a:gridCol>
                <a:gridCol w="629695">
                  <a:extLst>
                    <a:ext uri="{9D8B030D-6E8A-4147-A177-3AD203B41FA5}">
                      <a16:colId xmlns:a16="http://schemas.microsoft.com/office/drawing/2014/main" val="2154523181"/>
                    </a:ext>
                  </a:extLst>
                </a:gridCol>
                <a:gridCol w="927972">
                  <a:extLst>
                    <a:ext uri="{9D8B030D-6E8A-4147-A177-3AD203B41FA5}">
                      <a16:colId xmlns:a16="http://schemas.microsoft.com/office/drawing/2014/main" val="2403976245"/>
                    </a:ext>
                  </a:extLst>
                </a:gridCol>
                <a:gridCol w="613124">
                  <a:extLst>
                    <a:ext uri="{9D8B030D-6E8A-4147-A177-3AD203B41FA5}">
                      <a16:colId xmlns:a16="http://schemas.microsoft.com/office/drawing/2014/main" val="870117337"/>
                    </a:ext>
                  </a:extLst>
                </a:gridCol>
                <a:gridCol w="265135">
                  <a:extLst>
                    <a:ext uri="{9D8B030D-6E8A-4147-A177-3AD203B41FA5}">
                      <a16:colId xmlns:a16="http://schemas.microsoft.com/office/drawing/2014/main" val="1423596178"/>
                    </a:ext>
                  </a:extLst>
                </a:gridCol>
                <a:gridCol w="1408528">
                  <a:extLst>
                    <a:ext uri="{9D8B030D-6E8A-4147-A177-3AD203B41FA5}">
                      <a16:colId xmlns:a16="http://schemas.microsoft.com/office/drawing/2014/main" val="228100819"/>
                    </a:ext>
                  </a:extLst>
                </a:gridCol>
                <a:gridCol w="1408528">
                  <a:extLst>
                    <a:ext uri="{9D8B030D-6E8A-4147-A177-3AD203B41FA5}">
                      <a16:colId xmlns:a16="http://schemas.microsoft.com/office/drawing/2014/main" val="920898333"/>
                    </a:ext>
                  </a:extLst>
                </a:gridCol>
                <a:gridCol w="1491383">
                  <a:extLst>
                    <a:ext uri="{9D8B030D-6E8A-4147-A177-3AD203B41FA5}">
                      <a16:colId xmlns:a16="http://schemas.microsoft.com/office/drawing/2014/main" val="3742470668"/>
                    </a:ext>
                  </a:extLst>
                </a:gridCol>
                <a:gridCol w="563411">
                  <a:extLst>
                    <a:ext uri="{9D8B030D-6E8A-4147-A177-3AD203B41FA5}">
                      <a16:colId xmlns:a16="http://schemas.microsoft.com/office/drawing/2014/main" val="696100379"/>
                    </a:ext>
                  </a:extLst>
                </a:gridCol>
                <a:gridCol w="563411">
                  <a:extLst>
                    <a:ext uri="{9D8B030D-6E8A-4147-A177-3AD203B41FA5}">
                      <a16:colId xmlns:a16="http://schemas.microsoft.com/office/drawing/2014/main" val="2296813824"/>
                    </a:ext>
                  </a:extLst>
                </a:gridCol>
                <a:gridCol w="994256">
                  <a:extLst>
                    <a:ext uri="{9D8B030D-6E8A-4147-A177-3AD203B41FA5}">
                      <a16:colId xmlns:a16="http://schemas.microsoft.com/office/drawing/2014/main" val="2240304348"/>
                    </a:ext>
                  </a:extLst>
                </a:gridCol>
                <a:gridCol w="606496">
                  <a:extLst>
                    <a:ext uri="{9D8B030D-6E8A-4147-A177-3AD203B41FA5}">
                      <a16:colId xmlns:a16="http://schemas.microsoft.com/office/drawing/2014/main" val="390488143"/>
                    </a:ext>
                  </a:extLst>
                </a:gridCol>
                <a:gridCol w="745691">
                  <a:extLst>
                    <a:ext uri="{9D8B030D-6E8A-4147-A177-3AD203B41FA5}">
                      <a16:colId xmlns:a16="http://schemas.microsoft.com/office/drawing/2014/main" val="2850277132"/>
                    </a:ext>
                  </a:extLst>
                </a:gridCol>
                <a:gridCol w="457357">
                  <a:extLst>
                    <a:ext uri="{9D8B030D-6E8A-4147-A177-3AD203B41FA5}">
                      <a16:colId xmlns:a16="http://schemas.microsoft.com/office/drawing/2014/main" val="3281951505"/>
                    </a:ext>
                  </a:extLst>
                </a:gridCol>
              </a:tblGrid>
              <a:tr h="182880">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gridSpan="4">
                  <a:txBody>
                    <a:bodyPr/>
                    <a:lstStyle/>
                    <a:p>
                      <a:pPr algn="ctr" fontAlgn="b"/>
                      <a:r>
                        <a:rPr lang="pt-BR" sz="1100" b="1" i="0" u="none" strike="noStrike" dirty="0">
                          <a:solidFill>
                            <a:srgbClr val="000000"/>
                          </a:solidFill>
                          <a:effectLst/>
                          <a:latin typeface="Calibri" panose="020F0502020204030204" pitchFamily="34" charset="0"/>
                        </a:rPr>
                        <a:t>Average Ticket</a:t>
                      </a:r>
                    </a:p>
                  </a:txBody>
                  <a:tcPr marL="7620" marR="7620" marT="7620" marB="0" anchor="b">
                    <a:lnL>
                      <a:noFill/>
                    </a:lnL>
                    <a:lnR>
                      <a:noFill/>
                    </a:lnR>
                    <a:lnT>
                      <a:noFill/>
                    </a:lnT>
                    <a:lnB>
                      <a:noFill/>
                    </a:lnB>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862726510"/>
                  </a:ext>
                </a:extLst>
              </a:tr>
              <a:tr h="182880">
                <a:tc>
                  <a:txBody>
                    <a:bodyPr/>
                    <a:lstStyle/>
                    <a:p>
                      <a:pPr algn="ctr" fontAlgn="b"/>
                      <a:r>
                        <a:rPr lang="pt-BR" sz="1100" b="1" i="0" u="none" strike="noStrike" dirty="0">
                          <a:solidFill>
                            <a:srgbClr val="000000"/>
                          </a:solidFill>
                          <a:effectLst/>
                          <a:latin typeface="Calibri" panose="020F0502020204030204" pitchFamily="34" charset="0"/>
                        </a:rPr>
                        <a:t>SEGMENT</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1999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2000</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$Dif</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39057419"/>
                  </a:ext>
                </a:extLst>
              </a:tr>
              <a:tr h="182880">
                <a:tc>
                  <a:txBody>
                    <a:bodyPr/>
                    <a:lstStyle/>
                    <a:p>
                      <a:pPr algn="ctr" fontAlgn="b"/>
                      <a:r>
                        <a:rPr lang="pt-BR" sz="1100" b="1" i="0" u="none" strike="noStrike" dirty="0">
                          <a:solidFill>
                            <a:srgbClr val="000000"/>
                          </a:solidFill>
                          <a:effectLst/>
                          <a:latin typeface="Calibri" panose="020F0502020204030204" pitchFamily="34" charset="0"/>
                        </a:rPr>
                        <a:t>CoreCustomers</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101420</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89754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191174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88,5%</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98E7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1.666.697,62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422.767,83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2.089.465,45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25,4%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8696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16,43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4,71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4B084"/>
                    </a:solidFill>
                  </a:tcPr>
                </a:tc>
                <a:tc>
                  <a:txBody>
                    <a:bodyPr/>
                    <a:lstStyle/>
                    <a:p>
                      <a:pPr algn="l" fontAlgn="b"/>
                      <a:r>
                        <a:rPr lang="pt-BR" sz="1100" b="0" i="0" u="none" strike="noStrike" dirty="0">
                          <a:solidFill>
                            <a:srgbClr val="000000"/>
                          </a:solidFill>
                          <a:effectLst/>
                          <a:latin typeface="Calibri" panose="020F0502020204030204" pitchFamily="34" charset="0"/>
                        </a:rPr>
                        <a:t> R$     10,93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4B084"/>
                    </a:solidFill>
                  </a:tcPr>
                </a:tc>
                <a:tc>
                  <a:txBody>
                    <a:bodyPr/>
                    <a:lstStyle/>
                    <a:p>
                      <a:pPr algn="ctr" fontAlgn="b"/>
                      <a:r>
                        <a:rPr lang="pt-BR" sz="1100" b="0" i="0" u="none" strike="noStrike" dirty="0">
                          <a:solidFill>
                            <a:srgbClr val="000000"/>
                          </a:solidFill>
                          <a:effectLst/>
                          <a:latin typeface="Calibri" panose="020F0502020204030204" pitchFamily="34" charset="0"/>
                        </a:rPr>
                        <a:t>29%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F4B084"/>
                    </a:solidFill>
                  </a:tcPr>
                </a:tc>
                <a:extLst>
                  <a:ext uri="{0D108BD9-81ED-4DB2-BD59-A6C34878D82A}">
                    <a16:rowId xmlns:a16="http://schemas.microsoft.com/office/drawing/2014/main" val="510419137"/>
                  </a:ext>
                </a:extLst>
              </a:tr>
              <a:tr h="182880">
                <a:tc>
                  <a:txBody>
                    <a:bodyPr/>
                    <a:lstStyle/>
                    <a:p>
                      <a:pPr algn="ctr" fontAlgn="b"/>
                      <a:r>
                        <a:rPr lang="pt-BR" sz="1100" b="1" i="0" u="none" strike="noStrike" dirty="0">
                          <a:solidFill>
                            <a:srgbClr val="000000"/>
                          </a:solidFill>
                          <a:effectLst/>
                          <a:latin typeface="Calibri" panose="020F0502020204030204" pitchFamily="34" charset="0"/>
                        </a:rPr>
                        <a:t>EliteCustomers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123816</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107324</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231140</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86,7%</a:t>
                      </a:r>
                    </a:p>
                  </a:txBody>
                  <a:tcPr marL="7620" marR="7620" marT="7620" marB="0" anchor="b">
                    <a:lnL>
                      <a:noFill/>
                    </a:lnL>
                    <a:lnR>
                      <a:noFill/>
                    </a:lnR>
                    <a:lnT>
                      <a:noFill/>
                    </a:lnT>
                    <a:lnB>
                      <a:noFill/>
                    </a:lnB>
                    <a:solidFill>
                      <a:srgbClr val="F8696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1.869.370,18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687.062,10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2.556.432,28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36,8%</a:t>
                      </a:r>
                    </a:p>
                  </a:txBody>
                  <a:tcPr marL="7620" marR="7620" marT="7620" marB="0" anchor="b">
                    <a:lnL>
                      <a:noFill/>
                    </a:lnL>
                    <a:lnR>
                      <a:noFill/>
                    </a:lnR>
                    <a:lnT>
                      <a:noFill/>
                    </a:lnT>
                    <a:lnB>
                      <a:noFill/>
                    </a:lnB>
                    <a:solidFill>
                      <a:srgbClr val="FFEB84"/>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15,10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6,40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11,06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42%</a:t>
                      </a:r>
                    </a:p>
                  </a:txBody>
                  <a:tcPr marL="7620" marR="7620" marT="7620" marB="0" anchor="b">
                    <a:lnL>
                      <a:noFill/>
                    </a:lnL>
                    <a:lnR>
                      <a:noFill/>
                    </a:lnR>
                    <a:lnT>
                      <a:noFill/>
                    </a:lnT>
                    <a:lnB>
                      <a:noFill/>
                    </a:lnB>
                  </a:tcPr>
                </a:tc>
                <a:extLst>
                  <a:ext uri="{0D108BD9-81ED-4DB2-BD59-A6C34878D82A}">
                    <a16:rowId xmlns:a16="http://schemas.microsoft.com/office/drawing/2014/main" val="3160531441"/>
                  </a:ext>
                </a:extLst>
              </a:tr>
              <a:tr h="182880">
                <a:tc>
                  <a:txBody>
                    <a:bodyPr/>
                    <a:lstStyle/>
                    <a:p>
                      <a:pPr algn="ctr" fontAlgn="b"/>
                      <a:r>
                        <a:rPr lang="pt-BR" sz="1100" b="1" i="0" u="none" strike="noStrike" dirty="0">
                          <a:solidFill>
                            <a:srgbClr val="000000"/>
                          </a:solidFill>
                          <a:effectLst/>
                          <a:latin typeface="Calibri" panose="020F0502020204030204" pitchFamily="34" charset="0"/>
                        </a:rPr>
                        <a:t>InfrequentCustomers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85789</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81958</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167747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95,5%</a:t>
                      </a:r>
                    </a:p>
                  </a:txBody>
                  <a:tcPr marL="7620" marR="7620" marT="7620" marB="0" anchor="b">
                    <a:lnL>
                      <a:noFill/>
                    </a:lnL>
                    <a:lnR>
                      <a:noFill/>
                    </a:lnR>
                    <a:lnT>
                      <a:noFill/>
                    </a:lnT>
                    <a:lnB>
                      <a:noFill/>
                    </a:lnB>
                    <a:solidFill>
                      <a:srgbClr val="D8E08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1.254.541,23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493.638,32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1.748.179,55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39,3%</a:t>
                      </a:r>
                    </a:p>
                  </a:txBody>
                  <a:tcPr marL="7620" marR="7620" marT="7620" marB="0" anchor="b">
                    <a:lnL>
                      <a:noFill/>
                    </a:lnL>
                    <a:lnR>
                      <a:noFill/>
                    </a:lnR>
                    <a:lnT>
                      <a:noFill/>
                    </a:lnT>
                    <a:lnB>
                      <a:noFill/>
                    </a:lnB>
                    <a:solidFill>
                      <a:srgbClr val="E3E383"/>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14,62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6,02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10,42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41%</a:t>
                      </a:r>
                    </a:p>
                  </a:txBody>
                  <a:tcPr marL="7620" marR="7620" marT="7620" marB="0" anchor="b">
                    <a:lnL>
                      <a:noFill/>
                    </a:lnL>
                    <a:lnR>
                      <a:noFill/>
                    </a:lnR>
                    <a:lnT>
                      <a:noFill/>
                    </a:lnT>
                    <a:lnB>
                      <a:noFill/>
                    </a:lnB>
                  </a:tcPr>
                </a:tc>
                <a:extLst>
                  <a:ext uri="{0D108BD9-81ED-4DB2-BD59-A6C34878D82A}">
                    <a16:rowId xmlns:a16="http://schemas.microsoft.com/office/drawing/2014/main" val="2841116006"/>
                  </a:ext>
                </a:extLst>
              </a:tr>
              <a:tr h="182880">
                <a:tc>
                  <a:txBody>
                    <a:bodyPr/>
                    <a:lstStyle/>
                    <a:p>
                      <a:pPr algn="ctr" fontAlgn="b"/>
                      <a:r>
                        <a:rPr lang="pt-BR" sz="1100" b="1" i="0" u="none" strike="noStrike" dirty="0">
                          <a:solidFill>
                            <a:srgbClr val="000000"/>
                          </a:solidFill>
                          <a:effectLst/>
                          <a:latin typeface="Calibri" panose="020F0502020204030204" pitchFamily="34" charset="0"/>
                        </a:rPr>
                        <a:t>NewCustomers</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95234</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97977</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193211</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102,9%</a:t>
                      </a:r>
                    </a:p>
                  </a:txBody>
                  <a:tcPr marL="7620" marR="7620" marT="7620" marB="0" anchor="b">
                    <a:lnL>
                      <a:noFill/>
                    </a:lnL>
                    <a:lnR>
                      <a:noFill/>
                    </a:lnR>
                    <a:lnT>
                      <a:noFill/>
                    </a:lnT>
                    <a:lnB>
                      <a:noFill/>
                    </a:lnB>
                    <a:solidFill>
                      <a:srgbClr val="63BE7B"/>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1.506.835,16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769.917,62 </a:t>
                      </a: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2.276.752,78 </a:t>
                      </a:r>
                    </a:p>
                  </a:txBody>
                  <a:tcPr marL="7620" marR="7620" marT="7620" marB="0" anchor="b">
                    <a:lnL>
                      <a:noFill/>
                    </a:lnL>
                    <a:lnR>
                      <a:noFill/>
                    </a:lnR>
                    <a:lnT>
                      <a:noFill/>
                    </a:lnT>
                    <a:lnB>
                      <a:noFill/>
                    </a:lnB>
                  </a:tcPr>
                </a:tc>
                <a:tc>
                  <a:txBody>
                    <a:bodyPr/>
                    <a:lstStyle/>
                    <a:p>
                      <a:pPr algn="ctr" fontAlgn="b"/>
                      <a:r>
                        <a:rPr lang="pt-BR" sz="1100" b="0" i="0" u="none" strike="noStrike" dirty="0">
                          <a:solidFill>
                            <a:srgbClr val="000000"/>
                          </a:solidFill>
                          <a:effectLst/>
                          <a:latin typeface="Calibri" panose="020F0502020204030204" pitchFamily="34" charset="0"/>
                        </a:rPr>
                        <a:t>51,1%</a:t>
                      </a:r>
                    </a:p>
                  </a:txBody>
                  <a:tcPr marL="7620" marR="7620" marT="7620" marB="0" anchor="b">
                    <a:lnL>
                      <a:noFill/>
                    </a:lnL>
                    <a:lnR>
                      <a:noFill/>
                    </a:lnR>
                    <a:lnT>
                      <a:noFill/>
                    </a:lnT>
                    <a:lnB>
                      <a:noFill/>
                    </a:lnB>
                    <a:solidFill>
                      <a:srgbClr val="63BE7B"/>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15,82 </a:t>
                      </a:r>
                    </a:p>
                  </a:txBody>
                  <a:tcPr marL="7620" marR="7620" marT="7620" marB="0" anchor="b">
                    <a:lnL>
                      <a:noFill/>
                    </a:lnL>
                    <a:lnR>
                      <a:noFill/>
                    </a:lnR>
                    <a:lnT>
                      <a:noFill/>
                    </a:lnT>
                    <a:lnB>
                      <a:noFill/>
                    </a:lnB>
                    <a:solidFill>
                      <a:srgbClr val="92D050"/>
                    </a:solidFill>
                  </a:tcPr>
                </a:tc>
                <a:tc>
                  <a:txBody>
                    <a:bodyPr/>
                    <a:lstStyle/>
                    <a:p>
                      <a:pPr algn="l" fontAlgn="b"/>
                      <a:r>
                        <a:rPr lang="pt-BR" sz="1100" b="0" i="0" u="none" strike="noStrike" dirty="0">
                          <a:solidFill>
                            <a:srgbClr val="000000"/>
                          </a:solidFill>
                          <a:effectLst/>
                          <a:latin typeface="Calibri" panose="020F0502020204030204" pitchFamily="34" charset="0"/>
                        </a:rPr>
                        <a:t> R$  7,86 </a:t>
                      </a:r>
                    </a:p>
                  </a:txBody>
                  <a:tcPr marL="7620" marR="7620" marT="7620" marB="0" anchor="b">
                    <a:lnL>
                      <a:noFill/>
                    </a:lnL>
                    <a:lnR>
                      <a:noFill/>
                    </a:lnR>
                    <a:lnT>
                      <a:noFill/>
                    </a:lnT>
                    <a:lnB>
                      <a:noFill/>
                    </a:lnB>
                    <a:solidFill>
                      <a:srgbClr val="92D050"/>
                    </a:solidFill>
                  </a:tcPr>
                </a:tc>
                <a:tc>
                  <a:txBody>
                    <a:bodyPr/>
                    <a:lstStyle/>
                    <a:p>
                      <a:pPr algn="l" fontAlgn="b"/>
                      <a:r>
                        <a:rPr lang="pt-BR" sz="1100" b="0" i="0" u="none" strike="noStrike" dirty="0">
                          <a:solidFill>
                            <a:srgbClr val="000000"/>
                          </a:solidFill>
                          <a:effectLst/>
                          <a:latin typeface="Calibri" panose="020F0502020204030204" pitchFamily="34" charset="0"/>
                        </a:rPr>
                        <a:t> R$     11,78 </a:t>
                      </a:r>
                    </a:p>
                  </a:txBody>
                  <a:tcPr marL="7620" marR="7620" marT="7620" marB="0" anchor="b">
                    <a:lnL>
                      <a:noFill/>
                    </a:lnL>
                    <a:lnR>
                      <a:noFill/>
                    </a:lnR>
                    <a:lnT>
                      <a:noFill/>
                    </a:lnT>
                    <a:lnB>
                      <a:noFill/>
                    </a:lnB>
                    <a:solidFill>
                      <a:srgbClr val="92D050"/>
                    </a:solidFill>
                  </a:tcPr>
                </a:tc>
                <a:tc>
                  <a:txBody>
                    <a:bodyPr/>
                    <a:lstStyle/>
                    <a:p>
                      <a:pPr algn="ctr" fontAlgn="b"/>
                      <a:r>
                        <a:rPr lang="pt-BR" sz="1100" b="0" i="0" u="none" strike="noStrike" dirty="0">
                          <a:solidFill>
                            <a:srgbClr val="000000"/>
                          </a:solidFill>
                          <a:effectLst/>
                          <a:latin typeface="Calibri" panose="020F0502020204030204" pitchFamily="34" charset="0"/>
                        </a:rPr>
                        <a:t>50%</a:t>
                      </a:r>
                    </a:p>
                  </a:txBody>
                  <a:tcPr marL="7620" marR="7620" marT="7620" marB="0" anchor="b">
                    <a:lnL>
                      <a:noFill/>
                    </a:lnL>
                    <a:lnR>
                      <a:noFill/>
                    </a:lnR>
                    <a:lnT>
                      <a:noFill/>
                    </a:lnT>
                    <a:lnB>
                      <a:noFill/>
                    </a:lnB>
                    <a:solidFill>
                      <a:srgbClr val="92D050"/>
                    </a:solidFill>
                  </a:tcPr>
                </a:tc>
                <a:extLst>
                  <a:ext uri="{0D108BD9-81ED-4DB2-BD59-A6C34878D82A}">
                    <a16:rowId xmlns:a16="http://schemas.microsoft.com/office/drawing/2014/main" val="786482095"/>
                  </a:ext>
                </a:extLst>
              </a:tr>
              <a:tr h="182880">
                <a:tc>
                  <a:txBody>
                    <a:bodyPr/>
                    <a:lstStyle/>
                    <a:p>
                      <a:pPr algn="ctr" fontAlgn="b"/>
                      <a:r>
                        <a:rPr lang="pt-BR" sz="1100" b="1" i="0" u="none" strike="noStrike" dirty="0">
                          <a:solidFill>
                            <a:srgbClr val="000000"/>
                          </a:solidFill>
                          <a:effectLst/>
                          <a:latin typeface="Calibri" panose="020F0502020204030204" pitchFamily="34" charset="0"/>
                        </a:rPr>
                        <a:t>PowerShoppers</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80018</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74459</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154477</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93,1%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FFEB84"/>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1.166.957,65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340.724,34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1.507.681,99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29,2%</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solidFill>
                      <a:srgbClr val="FA9473"/>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0" i="0" u="none" strike="noStrike" dirty="0">
                          <a:solidFill>
                            <a:srgbClr val="000000"/>
                          </a:solidFill>
                          <a:effectLst/>
                          <a:latin typeface="Calibri" panose="020F0502020204030204" pitchFamily="34" charset="0"/>
                        </a:rPr>
                        <a:t> R$            14,58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4,58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l" fontAlgn="b"/>
                      <a:r>
                        <a:rPr lang="pt-BR" sz="1100" b="0" i="0" u="none" strike="noStrike" dirty="0">
                          <a:solidFill>
                            <a:srgbClr val="000000"/>
                          </a:solidFill>
                          <a:effectLst/>
                          <a:latin typeface="Calibri" panose="020F0502020204030204" pitchFamily="34" charset="0"/>
                        </a:rPr>
                        <a:t> R$       9,76 </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31%</a:t>
                      </a:r>
                    </a:p>
                  </a:txBody>
                  <a:tcPr marL="7620" marR="7620" marT="762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42331289"/>
                  </a:ext>
                </a:extLst>
              </a:tr>
              <a:tr h="182880">
                <a:tc>
                  <a:txBody>
                    <a:bodyPr/>
                    <a:lstStyle/>
                    <a:p>
                      <a:pPr algn="ctr" fontAlgn="b"/>
                      <a:r>
                        <a:rPr lang="pt-BR" sz="1100" b="1" i="0" u="none" strike="noStrike" dirty="0">
                          <a:solidFill>
                            <a:srgbClr val="000000"/>
                          </a:solidFill>
                          <a:effectLst/>
                          <a:latin typeface="Calibri" panose="020F0502020204030204" pitchFamily="34" charset="0"/>
                        </a:rPr>
                        <a:t>Total Geral</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486277</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451472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937749</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92,8%</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pt-BR" sz="1100" b="1" i="0" u="none" strike="noStrike" dirty="0">
                          <a:solidFill>
                            <a:srgbClr val="000000"/>
                          </a:solidFill>
                          <a:effectLst/>
                          <a:latin typeface="Calibri" panose="020F0502020204030204" pitchFamily="34" charset="0"/>
                        </a:rPr>
                        <a:t> R$  7.464.401,84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r>
                        <a:rPr lang="pt-BR" sz="1100" b="1" i="0" u="none" strike="noStrike" dirty="0">
                          <a:solidFill>
                            <a:srgbClr val="000000"/>
                          </a:solidFill>
                          <a:effectLst/>
                          <a:latin typeface="Calibri" panose="020F0502020204030204" pitchFamily="34" charset="0"/>
                        </a:rPr>
                        <a:t> R$  2.714.110,21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l" fontAlgn="b"/>
                      <a:r>
                        <a:rPr lang="pt-BR" sz="1100" b="1" i="0" u="none" strike="noStrike" dirty="0">
                          <a:solidFill>
                            <a:srgbClr val="000000"/>
                          </a:solidFill>
                          <a:effectLst/>
                          <a:latin typeface="Calibri" panose="020F0502020204030204" pitchFamily="34" charset="0"/>
                        </a:rPr>
                        <a:t> R$  10.178.512,05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36,4%</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endParaRPr lang="pt-BR"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ctr" fontAlgn="b"/>
                      <a:r>
                        <a:rPr lang="pt-BR" sz="1100" b="1" i="0" u="none" strike="noStrike" dirty="0">
                          <a:solidFill>
                            <a:srgbClr val="000000"/>
                          </a:solidFill>
                          <a:effectLst/>
                          <a:latin typeface="Calibri" panose="020F0502020204030204" pitchFamily="34" charset="0"/>
                        </a:rPr>
                        <a:t> R$            15,35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6,01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 R$    10,85 </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pt-BR" sz="1100" b="1" i="0" u="none" strike="noStrike" dirty="0">
                          <a:solidFill>
                            <a:srgbClr val="000000"/>
                          </a:solidFill>
                          <a:effectLst/>
                          <a:latin typeface="Calibri" panose="020F0502020204030204" pitchFamily="34" charset="0"/>
                        </a:rPr>
                        <a:t>39,2%</a:t>
                      </a:r>
                    </a:p>
                  </a:txBody>
                  <a:tcPr marL="7620" marR="7620" marT="762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57657401"/>
                  </a:ext>
                </a:extLst>
              </a:tr>
            </a:tbl>
          </a:graphicData>
        </a:graphic>
      </p:graphicFrame>
      <p:pic>
        <p:nvPicPr>
          <p:cNvPr id="16386" name="Picture 2" descr="NPS: o que é Net Promoter Score e como aplicar? GUIA">
            <a:extLst>
              <a:ext uri="{FF2B5EF4-FFF2-40B4-BE49-F238E27FC236}">
                <a16:creationId xmlns:a16="http://schemas.microsoft.com/office/drawing/2014/main" id="{79912596-C21E-C6B1-63F4-FB847417FD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689239" y="6206663"/>
            <a:ext cx="1812764" cy="1101153"/>
          </a:xfrm>
          <a:prstGeom prst="rect">
            <a:avLst/>
          </a:prstGeom>
          <a:noFill/>
          <a:extLst>
            <a:ext uri="{909E8E84-426E-40DD-AFC4-6F175D3DCCD1}">
              <a14:hiddenFill xmlns:a14="http://schemas.microsoft.com/office/drawing/2010/main">
                <a:solidFill>
                  <a:srgbClr val="FFFFFF"/>
                </a:solidFill>
              </a14:hiddenFill>
            </a:ext>
          </a:extLst>
        </p:spPr>
      </p:pic>
      <p:sp>
        <p:nvSpPr>
          <p:cNvPr id="10" name="Seta: para a Direita 9">
            <a:extLst>
              <a:ext uri="{FF2B5EF4-FFF2-40B4-BE49-F238E27FC236}">
                <a16:creationId xmlns:a16="http://schemas.microsoft.com/office/drawing/2014/main" id="{BFF5D59D-B07A-D5BC-717D-2356849E3450}"/>
              </a:ext>
            </a:extLst>
          </p:cNvPr>
          <p:cNvSpPr/>
          <p:nvPr/>
        </p:nvSpPr>
        <p:spPr>
          <a:xfrm>
            <a:off x="343062" y="2858814"/>
            <a:ext cx="449262" cy="2319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id="{B0274412-1D5C-8588-3A2F-A7693777D784}"/>
              </a:ext>
            </a:extLst>
          </p:cNvPr>
          <p:cNvSpPr/>
          <p:nvPr/>
        </p:nvSpPr>
        <p:spPr>
          <a:xfrm>
            <a:off x="343062" y="2488208"/>
            <a:ext cx="449262" cy="2319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45A4CFF5-EDC3-ED9D-0485-0EF7889CB55B}"/>
              </a:ext>
            </a:extLst>
          </p:cNvPr>
          <p:cNvSpPr txBox="1"/>
          <p:nvPr/>
        </p:nvSpPr>
        <p:spPr>
          <a:xfrm>
            <a:off x="556897" y="5261779"/>
            <a:ext cx="11403875" cy="1754326"/>
          </a:xfrm>
          <a:prstGeom prst="rect">
            <a:avLst/>
          </a:prstGeom>
          <a:noFill/>
        </p:spPr>
        <p:txBody>
          <a:bodyPr wrap="square">
            <a:spAutoFit/>
          </a:bodyPr>
          <a:lstStyle/>
          <a:p>
            <a:pPr marL="285750" indent="-285750" algn="l">
              <a:buFont typeface="Arial" panose="020B0604020202020204" pitchFamily="34" charset="0"/>
              <a:buChar char="•"/>
            </a:pPr>
            <a:endParaRPr lang="en-US" b="0" i="0" dirty="0">
              <a:solidFill>
                <a:srgbClr val="374151"/>
              </a:solidFill>
              <a:effectLst/>
              <a:latin typeface="Söhne"/>
            </a:endParaRPr>
          </a:p>
          <a:p>
            <a:pPr marL="285750" indent="-285750" algn="l">
              <a:buFont typeface="Arial" panose="020B0604020202020204" pitchFamily="34" charset="0"/>
              <a:buChar char="•"/>
            </a:pPr>
            <a:r>
              <a:rPr lang="en-US" b="0" i="0" dirty="0">
                <a:solidFill>
                  <a:srgbClr val="374151"/>
                </a:solidFill>
                <a:effectLst/>
                <a:latin typeface="Söhne"/>
              </a:rPr>
              <a:t>I would conduct an </a:t>
            </a:r>
            <a:r>
              <a:rPr lang="en-US" b="1" i="0" u="sng" dirty="0">
                <a:solidFill>
                  <a:srgbClr val="374151"/>
                </a:solidFill>
                <a:effectLst/>
                <a:latin typeface="Söhne"/>
              </a:rPr>
              <a:t>NPS (Net Promoter Score) campaign </a:t>
            </a:r>
            <a:r>
              <a:rPr lang="en-US" b="0" i="0" dirty="0">
                <a:solidFill>
                  <a:srgbClr val="374151"/>
                </a:solidFill>
                <a:effectLst/>
                <a:latin typeface="Söhne"/>
              </a:rPr>
              <a:t>for </a:t>
            </a:r>
            <a:r>
              <a:rPr lang="en-US" b="1" i="0" dirty="0" err="1">
                <a:solidFill>
                  <a:srgbClr val="374151"/>
                </a:solidFill>
                <a:effectLst/>
                <a:latin typeface="Söhne"/>
              </a:rPr>
              <a:t>CoreCustomers</a:t>
            </a:r>
            <a:r>
              <a:rPr lang="en-US" b="0" i="0" dirty="0">
                <a:solidFill>
                  <a:srgbClr val="374151"/>
                </a:solidFill>
                <a:effectLst/>
                <a:latin typeface="Söhne"/>
              </a:rPr>
              <a:t>, with a survey at the end of the purchase and another one after delivery (or 7 days post-purchase for in-person transactions). In the second survey, I would use </a:t>
            </a:r>
            <a:r>
              <a:rPr lang="en-US" i="1" u="sng" dirty="0">
                <a:solidFill>
                  <a:srgbClr val="374151"/>
                </a:solidFill>
                <a:effectLst/>
                <a:latin typeface="Söhne"/>
              </a:rPr>
              <a:t>cross-selling marketing techniques</a:t>
            </a:r>
            <a:r>
              <a:rPr lang="en-US" i="1" dirty="0">
                <a:solidFill>
                  <a:srgbClr val="374151"/>
                </a:solidFill>
                <a:effectLst/>
                <a:latin typeface="Söhne"/>
              </a:rPr>
              <a:t> </a:t>
            </a:r>
            <a:r>
              <a:rPr lang="en-US" b="0" i="0" dirty="0">
                <a:solidFill>
                  <a:srgbClr val="374151"/>
                </a:solidFill>
                <a:effectLst/>
                <a:latin typeface="Söhne"/>
              </a:rPr>
              <a:t>to offer a second item that complements their previous purchase, along with a discount incentive to encourage repeat purchases. The satisfaction survey will provide valuable insights on how to better serve our core audience.</a:t>
            </a:r>
          </a:p>
        </p:txBody>
      </p:sp>
      <p:sp>
        <p:nvSpPr>
          <p:cNvPr id="16" name="Seta: para a Direita 15">
            <a:extLst>
              <a:ext uri="{FF2B5EF4-FFF2-40B4-BE49-F238E27FC236}">
                <a16:creationId xmlns:a16="http://schemas.microsoft.com/office/drawing/2014/main" id="{31E19C4B-366A-8B98-E830-65284C293A4F}"/>
              </a:ext>
            </a:extLst>
          </p:cNvPr>
          <p:cNvSpPr/>
          <p:nvPr/>
        </p:nvSpPr>
        <p:spPr>
          <a:xfrm>
            <a:off x="343062" y="2272740"/>
            <a:ext cx="449262" cy="2319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7212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10" grpId="0" animBg="1"/>
      <p:bldP spid="12" grpId="0" animBg="1"/>
      <p:bldP spid="15"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1533946"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Results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sp>
        <p:nvSpPr>
          <p:cNvPr id="3" name="CaixaDeTexto 2">
            <a:extLst>
              <a:ext uri="{FF2B5EF4-FFF2-40B4-BE49-F238E27FC236}">
                <a16:creationId xmlns:a16="http://schemas.microsoft.com/office/drawing/2014/main" id="{965669CF-8A9A-A6FE-0D39-E7322CA5AF08}"/>
              </a:ext>
            </a:extLst>
          </p:cNvPr>
          <p:cNvSpPr txBox="1"/>
          <p:nvPr/>
        </p:nvSpPr>
        <p:spPr>
          <a:xfrm>
            <a:off x="670035" y="1871116"/>
            <a:ext cx="6910550" cy="5554726"/>
          </a:xfrm>
          <a:prstGeom prst="rect">
            <a:avLst/>
          </a:prstGeom>
          <a:noFill/>
        </p:spPr>
        <p:txBody>
          <a:bodyPr wrap="square">
            <a:spAutoFit/>
          </a:bodyPr>
          <a:lstStyle/>
          <a:p>
            <a:pPr algn="l">
              <a:lnSpc>
                <a:spcPct val="200000"/>
              </a:lnSpc>
              <a:buFont typeface="+mj-lt"/>
              <a:buAutoNum type="arabicPeriod"/>
            </a:pPr>
            <a:r>
              <a:rPr lang="en-US" b="1" i="0" dirty="0">
                <a:solidFill>
                  <a:srgbClr val="374151"/>
                </a:solidFill>
                <a:effectLst/>
                <a:latin typeface="Söhne"/>
              </a:rPr>
              <a:t>Product Experience</a:t>
            </a:r>
          </a:p>
          <a:p>
            <a:pPr algn="l">
              <a:lnSpc>
                <a:spcPct val="200000"/>
              </a:lnSpc>
              <a:buFont typeface="+mj-lt"/>
              <a:buAutoNum type="arabicPeriod"/>
            </a:pPr>
            <a:r>
              <a:rPr lang="en-US" b="1" i="0" dirty="0">
                <a:solidFill>
                  <a:srgbClr val="374151"/>
                </a:solidFill>
                <a:effectLst/>
                <a:latin typeface="Söhne"/>
              </a:rPr>
              <a:t>Customer Service</a:t>
            </a:r>
          </a:p>
          <a:p>
            <a:pPr algn="l">
              <a:lnSpc>
                <a:spcPct val="200000"/>
              </a:lnSpc>
              <a:buFont typeface="+mj-lt"/>
              <a:buAutoNum type="arabicPeriod"/>
            </a:pPr>
            <a:r>
              <a:rPr lang="en-US" b="1" i="0" dirty="0">
                <a:solidFill>
                  <a:srgbClr val="374151"/>
                </a:solidFill>
                <a:effectLst/>
                <a:latin typeface="Söhne"/>
              </a:rPr>
              <a:t>Shopping Experience</a:t>
            </a:r>
          </a:p>
          <a:p>
            <a:pPr algn="l">
              <a:lnSpc>
                <a:spcPct val="200000"/>
              </a:lnSpc>
              <a:buFont typeface="+mj-lt"/>
              <a:buAutoNum type="arabicPeriod"/>
            </a:pPr>
            <a:r>
              <a:rPr lang="en-US" b="1" i="0" dirty="0">
                <a:solidFill>
                  <a:srgbClr val="374151"/>
                </a:solidFill>
                <a:effectLst/>
                <a:latin typeface="Söhne"/>
              </a:rPr>
              <a:t>Delivery and Logistics: </a:t>
            </a:r>
          </a:p>
          <a:p>
            <a:pPr algn="l">
              <a:lnSpc>
                <a:spcPct val="200000"/>
              </a:lnSpc>
              <a:buFont typeface="+mj-lt"/>
              <a:buAutoNum type="arabicPeriod"/>
            </a:pPr>
            <a:r>
              <a:rPr lang="en-US" b="1" i="0" dirty="0">
                <a:solidFill>
                  <a:srgbClr val="374151"/>
                </a:solidFill>
                <a:effectLst/>
                <a:latin typeface="Söhne"/>
              </a:rPr>
              <a:t>Return Policy:</a:t>
            </a:r>
          </a:p>
          <a:p>
            <a:pPr algn="l">
              <a:lnSpc>
                <a:spcPct val="200000"/>
              </a:lnSpc>
              <a:buFont typeface="+mj-lt"/>
              <a:buAutoNum type="arabicPeriod"/>
            </a:pPr>
            <a:r>
              <a:rPr lang="en-US" b="1" i="0" dirty="0">
                <a:solidFill>
                  <a:srgbClr val="374151"/>
                </a:solidFill>
                <a:effectLst/>
                <a:latin typeface="Söhne"/>
              </a:rPr>
              <a:t>Price and Value: </a:t>
            </a:r>
          </a:p>
          <a:p>
            <a:pPr algn="l">
              <a:lnSpc>
                <a:spcPct val="200000"/>
              </a:lnSpc>
              <a:buFont typeface="+mj-lt"/>
              <a:buAutoNum type="arabicPeriod"/>
            </a:pPr>
            <a:r>
              <a:rPr lang="en-US" b="1" i="0" dirty="0">
                <a:solidFill>
                  <a:srgbClr val="374151"/>
                </a:solidFill>
                <a:effectLst/>
                <a:latin typeface="Söhne"/>
              </a:rPr>
              <a:t>Competition: </a:t>
            </a:r>
          </a:p>
          <a:p>
            <a:pPr algn="l">
              <a:lnSpc>
                <a:spcPct val="200000"/>
              </a:lnSpc>
              <a:buFont typeface="+mj-lt"/>
              <a:buAutoNum type="arabicPeriod"/>
            </a:pPr>
            <a:r>
              <a:rPr lang="en-US" b="1" i="0" dirty="0">
                <a:solidFill>
                  <a:srgbClr val="374151"/>
                </a:solidFill>
                <a:effectLst/>
                <a:latin typeface="Söhne"/>
              </a:rPr>
              <a:t>Communication and Marketing:</a:t>
            </a:r>
          </a:p>
          <a:p>
            <a:pPr algn="l">
              <a:lnSpc>
                <a:spcPct val="200000"/>
              </a:lnSpc>
              <a:buFont typeface="+mj-lt"/>
              <a:buAutoNum type="arabicPeriod"/>
            </a:pPr>
            <a:r>
              <a:rPr lang="en-US" b="1" i="0" dirty="0">
                <a:solidFill>
                  <a:srgbClr val="374151"/>
                </a:solidFill>
                <a:effectLst/>
                <a:latin typeface="Söhne"/>
              </a:rPr>
              <a:t>Additional Services: </a:t>
            </a:r>
          </a:p>
          <a:p>
            <a:pPr algn="l">
              <a:lnSpc>
                <a:spcPct val="200000"/>
              </a:lnSpc>
              <a:buFont typeface="+mj-lt"/>
              <a:buAutoNum type="arabicPeriod"/>
            </a:pPr>
            <a:r>
              <a:rPr lang="en-US" b="1" i="0" dirty="0">
                <a:solidFill>
                  <a:srgbClr val="374151"/>
                </a:solidFill>
                <a:effectLst/>
                <a:latin typeface="Söhne"/>
              </a:rPr>
              <a:t>Unmet Expectations:</a:t>
            </a:r>
          </a:p>
        </p:txBody>
      </p:sp>
      <p:sp>
        <p:nvSpPr>
          <p:cNvPr id="13" name="Forma Livre: Forma 12">
            <a:extLst>
              <a:ext uri="{FF2B5EF4-FFF2-40B4-BE49-F238E27FC236}">
                <a16:creationId xmlns:a16="http://schemas.microsoft.com/office/drawing/2014/main" id="{5992438A-F7D1-EE06-30A9-6FEFF5CF2D47}"/>
              </a:ext>
            </a:extLst>
          </p:cNvPr>
          <p:cNvSpPr/>
          <p:nvPr/>
        </p:nvSpPr>
        <p:spPr>
          <a:xfrm>
            <a:off x="2879834" y="2186152"/>
            <a:ext cx="3342290" cy="2354317"/>
          </a:xfrm>
          <a:custGeom>
            <a:avLst/>
            <a:gdLst>
              <a:gd name="connsiteX0" fmla="*/ 0 w 3342290"/>
              <a:gd name="connsiteY0" fmla="*/ 0 h 2354317"/>
              <a:gd name="connsiteX1" fmla="*/ 1271752 w 3342290"/>
              <a:gd name="connsiteY1" fmla="*/ 1198179 h 2354317"/>
              <a:gd name="connsiteX2" fmla="*/ 3342290 w 3342290"/>
              <a:gd name="connsiteY2" fmla="*/ 2354317 h 2354317"/>
            </a:gdLst>
            <a:ahLst/>
            <a:cxnLst>
              <a:cxn ang="0">
                <a:pos x="connsiteX0" y="connsiteY0"/>
              </a:cxn>
              <a:cxn ang="0">
                <a:pos x="connsiteX1" y="connsiteY1"/>
              </a:cxn>
              <a:cxn ang="0">
                <a:pos x="connsiteX2" y="connsiteY2"/>
              </a:cxn>
            </a:cxnLst>
            <a:rect l="l" t="t" r="r" b="b"/>
            <a:pathLst>
              <a:path w="3342290" h="2354317">
                <a:moveTo>
                  <a:pt x="0" y="0"/>
                </a:moveTo>
                <a:cubicBezTo>
                  <a:pt x="357352" y="402896"/>
                  <a:pt x="714704" y="805793"/>
                  <a:pt x="1271752" y="1198179"/>
                </a:cubicBezTo>
                <a:cubicBezTo>
                  <a:pt x="1828800" y="1590565"/>
                  <a:pt x="3083035" y="2196662"/>
                  <a:pt x="3342290" y="235431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orma Livre: Forma 17">
            <a:extLst>
              <a:ext uri="{FF2B5EF4-FFF2-40B4-BE49-F238E27FC236}">
                <a16:creationId xmlns:a16="http://schemas.microsoft.com/office/drawing/2014/main" id="{5F445DB1-2962-1369-9734-BC56A5AA7B34}"/>
              </a:ext>
            </a:extLst>
          </p:cNvPr>
          <p:cNvSpPr/>
          <p:nvPr/>
        </p:nvSpPr>
        <p:spPr>
          <a:xfrm>
            <a:off x="2638097" y="2774731"/>
            <a:ext cx="3520965" cy="1786759"/>
          </a:xfrm>
          <a:custGeom>
            <a:avLst/>
            <a:gdLst>
              <a:gd name="connsiteX0" fmla="*/ 0 w 3520965"/>
              <a:gd name="connsiteY0" fmla="*/ 0 h 1786759"/>
              <a:gd name="connsiteX1" fmla="*/ 1481958 w 3520965"/>
              <a:gd name="connsiteY1" fmla="*/ 924910 h 1786759"/>
              <a:gd name="connsiteX2" fmla="*/ 3520965 w 3520965"/>
              <a:gd name="connsiteY2" fmla="*/ 1786759 h 1786759"/>
            </a:gdLst>
            <a:ahLst/>
            <a:cxnLst>
              <a:cxn ang="0">
                <a:pos x="connsiteX0" y="connsiteY0"/>
              </a:cxn>
              <a:cxn ang="0">
                <a:pos x="connsiteX1" y="connsiteY1"/>
              </a:cxn>
              <a:cxn ang="0">
                <a:pos x="connsiteX2" y="connsiteY2"/>
              </a:cxn>
            </a:cxnLst>
            <a:rect l="l" t="t" r="r" b="b"/>
            <a:pathLst>
              <a:path w="3520965" h="1786759">
                <a:moveTo>
                  <a:pt x="0" y="0"/>
                </a:moveTo>
                <a:cubicBezTo>
                  <a:pt x="447565" y="313558"/>
                  <a:pt x="895131" y="627117"/>
                  <a:pt x="1481958" y="924910"/>
                </a:cubicBezTo>
                <a:cubicBezTo>
                  <a:pt x="2068786" y="1222703"/>
                  <a:pt x="3170620" y="1639614"/>
                  <a:pt x="3520965" y="178675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orma Livre: Forma 18">
            <a:extLst>
              <a:ext uri="{FF2B5EF4-FFF2-40B4-BE49-F238E27FC236}">
                <a16:creationId xmlns:a16="http://schemas.microsoft.com/office/drawing/2014/main" id="{9F8833E8-C897-FB16-4444-3D12E6FAE0B3}"/>
              </a:ext>
            </a:extLst>
          </p:cNvPr>
          <p:cNvSpPr/>
          <p:nvPr/>
        </p:nvSpPr>
        <p:spPr>
          <a:xfrm>
            <a:off x="2953407" y="3384331"/>
            <a:ext cx="3163614" cy="1229710"/>
          </a:xfrm>
          <a:custGeom>
            <a:avLst/>
            <a:gdLst>
              <a:gd name="connsiteX0" fmla="*/ 0 w 3163614"/>
              <a:gd name="connsiteY0" fmla="*/ 0 h 1229710"/>
              <a:gd name="connsiteX1" fmla="*/ 1198179 w 3163614"/>
              <a:gd name="connsiteY1" fmla="*/ 756745 h 1229710"/>
              <a:gd name="connsiteX2" fmla="*/ 3163614 w 3163614"/>
              <a:gd name="connsiteY2" fmla="*/ 1229710 h 1229710"/>
            </a:gdLst>
            <a:ahLst/>
            <a:cxnLst>
              <a:cxn ang="0">
                <a:pos x="connsiteX0" y="connsiteY0"/>
              </a:cxn>
              <a:cxn ang="0">
                <a:pos x="connsiteX1" y="connsiteY1"/>
              </a:cxn>
              <a:cxn ang="0">
                <a:pos x="connsiteX2" y="connsiteY2"/>
              </a:cxn>
            </a:cxnLst>
            <a:rect l="l" t="t" r="r" b="b"/>
            <a:pathLst>
              <a:path w="3163614" h="1229710">
                <a:moveTo>
                  <a:pt x="0" y="0"/>
                </a:moveTo>
                <a:cubicBezTo>
                  <a:pt x="335455" y="275896"/>
                  <a:pt x="670910" y="551793"/>
                  <a:pt x="1198179" y="756745"/>
                </a:cubicBezTo>
                <a:cubicBezTo>
                  <a:pt x="1725448" y="961697"/>
                  <a:pt x="2832538" y="1205186"/>
                  <a:pt x="3163614" y="122971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orma Livre: Forma 19">
            <a:extLst>
              <a:ext uri="{FF2B5EF4-FFF2-40B4-BE49-F238E27FC236}">
                <a16:creationId xmlns:a16="http://schemas.microsoft.com/office/drawing/2014/main" id="{7B64D7AB-11BB-E338-A79E-F1CA5FAEA490}"/>
              </a:ext>
            </a:extLst>
          </p:cNvPr>
          <p:cNvSpPr/>
          <p:nvPr/>
        </p:nvSpPr>
        <p:spPr>
          <a:xfrm>
            <a:off x="3079531" y="3972910"/>
            <a:ext cx="3069021" cy="732949"/>
          </a:xfrm>
          <a:custGeom>
            <a:avLst/>
            <a:gdLst>
              <a:gd name="connsiteX0" fmla="*/ 0 w 3069021"/>
              <a:gd name="connsiteY0" fmla="*/ 0 h 732949"/>
              <a:gd name="connsiteX1" fmla="*/ 1471448 w 3069021"/>
              <a:gd name="connsiteY1" fmla="*/ 641131 h 732949"/>
              <a:gd name="connsiteX2" fmla="*/ 3069021 w 3069021"/>
              <a:gd name="connsiteY2" fmla="*/ 714704 h 732949"/>
            </a:gdLst>
            <a:ahLst/>
            <a:cxnLst>
              <a:cxn ang="0">
                <a:pos x="connsiteX0" y="connsiteY0"/>
              </a:cxn>
              <a:cxn ang="0">
                <a:pos x="connsiteX1" y="connsiteY1"/>
              </a:cxn>
              <a:cxn ang="0">
                <a:pos x="connsiteX2" y="connsiteY2"/>
              </a:cxn>
            </a:cxnLst>
            <a:rect l="l" t="t" r="r" b="b"/>
            <a:pathLst>
              <a:path w="3069021" h="732949">
                <a:moveTo>
                  <a:pt x="0" y="0"/>
                </a:moveTo>
                <a:cubicBezTo>
                  <a:pt x="479972" y="261007"/>
                  <a:pt x="959945" y="522014"/>
                  <a:pt x="1471448" y="641131"/>
                </a:cubicBezTo>
                <a:cubicBezTo>
                  <a:pt x="1982951" y="760248"/>
                  <a:pt x="2525986" y="737476"/>
                  <a:pt x="3069021" y="71470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a:p>
            <a:pPr algn="ctr"/>
            <a:endParaRPr lang="pt-BR" dirty="0"/>
          </a:p>
        </p:txBody>
      </p:sp>
      <p:sp>
        <p:nvSpPr>
          <p:cNvPr id="21" name="Forma Livre: Forma 20">
            <a:extLst>
              <a:ext uri="{FF2B5EF4-FFF2-40B4-BE49-F238E27FC236}">
                <a16:creationId xmlns:a16="http://schemas.microsoft.com/office/drawing/2014/main" id="{5BC7F42C-2F9D-57D4-B822-54DC7D6D7979}"/>
              </a:ext>
            </a:extLst>
          </p:cNvPr>
          <p:cNvSpPr/>
          <p:nvPr/>
        </p:nvSpPr>
        <p:spPr>
          <a:xfrm>
            <a:off x="2270232" y="4456387"/>
            <a:ext cx="3878320" cy="352902"/>
          </a:xfrm>
          <a:custGeom>
            <a:avLst/>
            <a:gdLst>
              <a:gd name="connsiteX0" fmla="*/ 0 w 4014952"/>
              <a:gd name="connsiteY0" fmla="*/ 0 h 366435"/>
              <a:gd name="connsiteX1" fmla="*/ 2259724 w 4014952"/>
              <a:gd name="connsiteY1" fmla="*/ 336331 h 366435"/>
              <a:gd name="connsiteX2" fmla="*/ 4014952 w 4014952"/>
              <a:gd name="connsiteY2" fmla="*/ 357351 h 366435"/>
            </a:gdLst>
            <a:ahLst/>
            <a:cxnLst>
              <a:cxn ang="0">
                <a:pos x="connsiteX0" y="connsiteY0"/>
              </a:cxn>
              <a:cxn ang="0">
                <a:pos x="connsiteX1" y="connsiteY1"/>
              </a:cxn>
              <a:cxn ang="0">
                <a:pos x="connsiteX2" y="connsiteY2"/>
              </a:cxn>
            </a:cxnLst>
            <a:rect l="l" t="t" r="r" b="b"/>
            <a:pathLst>
              <a:path w="4014952" h="366435">
                <a:moveTo>
                  <a:pt x="0" y="0"/>
                </a:moveTo>
                <a:cubicBezTo>
                  <a:pt x="795282" y="138386"/>
                  <a:pt x="1590565" y="276773"/>
                  <a:pt x="2259724" y="336331"/>
                </a:cubicBezTo>
                <a:cubicBezTo>
                  <a:pt x="2928883" y="395890"/>
                  <a:pt x="3743435" y="346841"/>
                  <a:pt x="4014952" y="35735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orma Livre: Forma 22">
            <a:extLst>
              <a:ext uri="{FF2B5EF4-FFF2-40B4-BE49-F238E27FC236}">
                <a16:creationId xmlns:a16="http://schemas.microsoft.com/office/drawing/2014/main" id="{0AA2C28A-0B25-A3F9-2AC5-2364A0A9EFB7}"/>
              </a:ext>
            </a:extLst>
          </p:cNvPr>
          <p:cNvSpPr/>
          <p:nvPr/>
        </p:nvSpPr>
        <p:spPr>
          <a:xfrm>
            <a:off x="2522483" y="4845269"/>
            <a:ext cx="3657600" cy="237288"/>
          </a:xfrm>
          <a:custGeom>
            <a:avLst/>
            <a:gdLst>
              <a:gd name="connsiteX0" fmla="*/ 0 w 3657600"/>
              <a:gd name="connsiteY0" fmla="*/ 147145 h 237288"/>
              <a:gd name="connsiteX1" fmla="*/ 2049517 w 3657600"/>
              <a:gd name="connsiteY1" fmla="*/ 231228 h 237288"/>
              <a:gd name="connsiteX2" fmla="*/ 3657600 w 3657600"/>
              <a:gd name="connsiteY2" fmla="*/ 0 h 237288"/>
            </a:gdLst>
            <a:ahLst/>
            <a:cxnLst>
              <a:cxn ang="0">
                <a:pos x="connsiteX0" y="connsiteY0"/>
              </a:cxn>
              <a:cxn ang="0">
                <a:pos x="connsiteX1" y="connsiteY1"/>
              </a:cxn>
              <a:cxn ang="0">
                <a:pos x="connsiteX2" y="connsiteY2"/>
              </a:cxn>
            </a:cxnLst>
            <a:rect l="l" t="t" r="r" b="b"/>
            <a:pathLst>
              <a:path w="3657600" h="237288">
                <a:moveTo>
                  <a:pt x="0" y="147145"/>
                </a:moveTo>
                <a:cubicBezTo>
                  <a:pt x="719958" y="201448"/>
                  <a:pt x="1439917" y="255752"/>
                  <a:pt x="2049517" y="231228"/>
                </a:cubicBezTo>
                <a:cubicBezTo>
                  <a:pt x="2659117" y="206704"/>
                  <a:pt x="3158358" y="103352"/>
                  <a:pt x="365760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orma Livre: Forma 23">
            <a:extLst>
              <a:ext uri="{FF2B5EF4-FFF2-40B4-BE49-F238E27FC236}">
                <a16:creationId xmlns:a16="http://schemas.microsoft.com/office/drawing/2014/main" id="{F5D02B21-50D5-13C2-29B9-D53300CAECDB}"/>
              </a:ext>
            </a:extLst>
          </p:cNvPr>
          <p:cNvSpPr/>
          <p:nvPr/>
        </p:nvSpPr>
        <p:spPr>
          <a:xfrm>
            <a:off x="2228193" y="4897821"/>
            <a:ext cx="3972910" cy="672662"/>
          </a:xfrm>
          <a:custGeom>
            <a:avLst/>
            <a:gdLst>
              <a:gd name="connsiteX0" fmla="*/ 0 w 3972910"/>
              <a:gd name="connsiteY0" fmla="*/ 672662 h 672662"/>
              <a:gd name="connsiteX1" fmla="*/ 2312276 w 3972910"/>
              <a:gd name="connsiteY1" fmla="*/ 515007 h 672662"/>
              <a:gd name="connsiteX2" fmla="*/ 3972910 w 3972910"/>
              <a:gd name="connsiteY2" fmla="*/ 0 h 672662"/>
            </a:gdLst>
            <a:ahLst/>
            <a:cxnLst>
              <a:cxn ang="0">
                <a:pos x="connsiteX0" y="connsiteY0"/>
              </a:cxn>
              <a:cxn ang="0">
                <a:pos x="connsiteX1" y="connsiteY1"/>
              </a:cxn>
              <a:cxn ang="0">
                <a:pos x="connsiteX2" y="connsiteY2"/>
              </a:cxn>
            </a:cxnLst>
            <a:rect l="l" t="t" r="r" b="b"/>
            <a:pathLst>
              <a:path w="3972910" h="672662">
                <a:moveTo>
                  <a:pt x="0" y="672662"/>
                </a:moveTo>
                <a:cubicBezTo>
                  <a:pt x="825062" y="649889"/>
                  <a:pt x="1650124" y="627117"/>
                  <a:pt x="2312276" y="515007"/>
                </a:cubicBezTo>
                <a:cubicBezTo>
                  <a:pt x="2974428" y="402897"/>
                  <a:pt x="3473669" y="201448"/>
                  <a:pt x="397291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orma Livre: Forma 24">
            <a:extLst>
              <a:ext uri="{FF2B5EF4-FFF2-40B4-BE49-F238E27FC236}">
                <a16:creationId xmlns:a16="http://schemas.microsoft.com/office/drawing/2014/main" id="{4FCC91FD-BEB1-BF92-22A2-153789D89F41}"/>
              </a:ext>
            </a:extLst>
          </p:cNvPr>
          <p:cNvSpPr/>
          <p:nvPr/>
        </p:nvSpPr>
        <p:spPr>
          <a:xfrm>
            <a:off x="3951890" y="4918841"/>
            <a:ext cx="2259724" cy="1282262"/>
          </a:xfrm>
          <a:custGeom>
            <a:avLst/>
            <a:gdLst>
              <a:gd name="connsiteX0" fmla="*/ 0 w 2259724"/>
              <a:gd name="connsiteY0" fmla="*/ 1282262 h 1282262"/>
              <a:gd name="connsiteX1" fmla="*/ 1103586 w 2259724"/>
              <a:gd name="connsiteY1" fmla="*/ 767256 h 1282262"/>
              <a:gd name="connsiteX2" fmla="*/ 2259724 w 2259724"/>
              <a:gd name="connsiteY2" fmla="*/ 0 h 1282262"/>
            </a:gdLst>
            <a:ahLst/>
            <a:cxnLst>
              <a:cxn ang="0">
                <a:pos x="connsiteX0" y="connsiteY0"/>
              </a:cxn>
              <a:cxn ang="0">
                <a:pos x="connsiteX1" y="connsiteY1"/>
              </a:cxn>
              <a:cxn ang="0">
                <a:pos x="connsiteX2" y="connsiteY2"/>
              </a:cxn>
            </a:cxnLst>
            <a:rect l="l" t="t" r="r" b="b"/>
            <a:pathLst>
              <a:path w="2259724" h="1282262">
                <a:moveTo>
                  <a:pt x="0" y="1282262"/>
                </a:moveTo>
                <a:cubicBezTo>
                  <a:pt x="363482" y="1131614"/>
                  <a:pt x="726965" y="980966"/>
                  <a:pt x="1103586" y="767256"/>
                </a:cubicBezTo>
                <a:cubicBezTo>
                  <a:pt x="1480207" y="553546"/>
                  <a:pt x="1869965" y="276773"/>
                  <a:pt x="225972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orma Livre: Forma 25">
            <a:extLst>
              <a:ext uri="{FF2B5EF4-FFF2-40B4-BE49-F238E27FC236}">
                <a16:creationId xmlns:a16="http://schemas.microsoft.com/office/drawing/2014/main" id="{6F1654D9-2D33-2308-74EA-A02F7748ABC5}"/>
              </a:ext>
            </a:extLst>
          </p:cNvPr>
          <p:cNvSpPr/>
          <p:nvPr/>
        </p:nvSpPr>
        <p:spPr>
          <a:xfrm>
            <a:off x="2879834" y="5013434"/>
            <a:ext cx="3415863" cy="1639614"/>
          </a:xfrm>
          <a:custGeom>
            <a:avLst/>
            <a:gdLst>
              <a:gd name="connsiteX0" fmla="*/ 0 w 3415863"/>
              <a:gd name="connsiteY0" fmla="*/ 1639614 h 1639614"/>
              <a:gd name="connsiteX1" fmla="*/ 2039007 w 3415863"/>
              <a:gd name="connsiteY1" fmla="*/ 1177159 h 1639614"/>
              <a:gd name="connsiteX2" fmla="*/ 3415863 w 3415863"/>
              <a:gd name="connsiteY2" fmla="*/ 0 h 1639614"/>
            </a:gdLst>
            <a:ahLst/>
            <a:cxnLst>
              <a:cxn ang="0">
                <a:pos x="connsiteX0" y="connsiteY0"/>
              </a:cxn>
              <a:cxn ang="0">
                <a:pos x="connsiteX1" y="connsiteY1"/>
              </a:cxn>
              <a:cxn ang="0">
                <a:pos x="connsiteX2" y="connsiteY2"/>
              </a:cxn>
            </a:cxnLst>
            <a:rect l="l" t="t" r="r" b="b"/>
            <a:pathLst>
              <a:path w="3415863" h="1639614">
                <a:moveTo>
                  <a:pt x="0" y="1639614"/>
                </a:moveTo>
                <a:cubicBezTo>
                  <a:pt x="734848" y="1545021"/>
                  <a:pt x="1469697" y="1450428"/>
                  <a:pt x="2039007" y="1177159"/>
                </a:cubicBezTo>
                <a:cubicBezTo>
                  <a:pt x="2608317" y="903890"/>
                  <a:pt x="3093546" y="192690"/>
                  <a:pt x="341586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orma Livre: Forma 26">
            <a:extLst>
              <a:ext uri="{FF2B5EF4-FFF2-40B4-BE49-F238E27FC236}">
                <a16:creationId xmlns:a16="http://schemas.microsoft.com/office/drawing/2014/main" id="{932DF2BA-4550-1F4A-A722-6DD648F43760}"/>
              </a:ext>
            </a:extLst>
          </p:cNvPr>
          <p:cNvSpPr/>
          <p:nvPr/>
        </p:nvSpPr>
        <p:spPr>
          <a:xfrm>
            <a:off x="3016469" y="5118538"/>
            <a:ext cx="3321269" cy="2154621"/>
          </a:xfrm>
          <a:custGeom>
            <a:avLst/>
            <a:gdLst>
              <a:gd name="connsiteX0" fmla="*/ 0 w 3321269"/>
              <a:gd name="connsiteY0" fmla="*/ 2154621 h 2154621"/>
              <a:gd name="connsiteX1" fmla="*/ 2575034 w 3321269"/>
              <a:gd name="connsiteY1" fmla="*/ 1187669 h 2154621"/>
              <a:gd name="connsiteX2" fmla="*/ 3321269 w 3321269"/>
              <a:gd name="connsiteY2" fmla="*/ 0 h 2154621"/>
            </a:gdLst>
            <a:ahLst/>
            <a:cxnLst>
              <a:cxn ang="0">
                <a:pos x="connsiteX0" y="connsiteY0"/>
              </a:cxn>
              <a:cxn ang="0">
                <a:pos x="connsiteX1" y="connsiteY1"/>
              </a:cxn>
              <a:cxn ang="0">
                <a:pos x="connsiteX2" y="connsiteY2"/>
              </a:cxn>
            </a:cxnLst>
            <a:rect l="l" t="t" r="r" b="b"/>
            <a:pathLst>
              <a:path w="3321269" h="2154621">
                <a:moveTo>
                  <a:pt x="0" y="2154621"/>
                </a:moveTo>
                <a:cubicBezTo>
                  <a:pt x="1010744" y="1850696"/>
                  <a:pt x="2021489" y="1546772"/>
                  <a:pt x="2575034" y="1187669"/>
                </a:cubicBezTo>
                <a:cubicBezTo>
                  <a:pt x="3128579" y="828566"/>
                  <a:pt x="3224924" y="414283"/>
                  <a:pt x="332126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CaixaDeTexto 27">
            <a:extLst>
              <a:ext uri="{FF2B5EF4-FFF2-40B4-BE49-F238E27FC236}">
                <a16:creationId xmlns:a16="http://schemas.microsoft.com/office/drawing/2014/main" id="{C0E8144E-9880-A149-8668-CD9C29FE1D4B}"/>
              </a:ext>
            </a:extLst>
          </p:cNvPr>
          <p:cNvSpPr txBox="1"/>
          <p:nvPr/>
        </p:nvSpPr>
        <p:spPr>
          <a:xfrm>
            <a:off x="6211614" y="4303647"/>
            <a:ext cx="2590517" cy="830997"/>
          </a:xfrm>
          <a:prstGeom prst="rect">
            <a:avLst/>
          </a:prstGeom>
          <a:noFill/>
        </p:spPr>
        <p:txBody>
          <a:bodyPr wrap="none" rtlCol="0">
            <a:spAutoFit/>
          </a:bodyPr>
          <a:lstStyle/>
          <a:p>
            <a:pPr algn="ctr"/>
            <a:r>
              <a:rPr lang="en-US" sz="2400" b="1" i="0" dirty="0">
                <a:solidFill>
                  <a:srgbClr val="FF0000"/>
                </a:solidFill>
                <a:effectLst/>
                <a:latin typeface="Söhne"/>
              </a:rPr>
              <a:t>Why are we losing </a:t>
            </a:r>
          </a:p>
          <a:p>
            <a:pPr algn="ctr"/>
            <a:r>
              <a:rPr lang="en-US" sz="2400" b="1" i="0" dirty="0">
                <a:solidFill>
                  <a:srgbClr val="FF0000"/>
                </a:solidFill>
                <a:effectLst/>
                <a:latin typeface="Söhne"/>
              </a:rPr>
              <a:t>loyal customers?</a:t>
            </a:r>
            <a:endParaRPr lang="pt-BR" sz="2400" b="1" dirty="0">
              <a:solidFill>
                <a:srgbClr val="FF0000"/>
              </a:solidFill>
            </a:endParaRPr>
          </a:p>
        </p:txBody>
      </p:sp>
      <p:pic>
        <p:nvPicPr>
          <p:cNvPr id="4098" name="Picture 2" descr="O que é NPS, como calcular Net Promoter Score e exemplos">
            <a:extLst>
              <a:ext uri="{FF2B5EF4-FFF2-40B4-BE49-F238E27FC236}">
                <a16:creationId xmlns:a16="http://schemas.microsoft.com/office/drawing/2014/main" id="{373B59F5-1CC6-879C-D143-FD25F3043EF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30153"/>
          <a:stretch/>
        </p:blipFill>
        <p:spPr bwMode="auto">
          <a:xfrm>
            <a:off x="8165388" y="1871116"/>
            <a:ext cx="5397610" cy="22003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O que é NPS, como calcular Net Promoter Score e exemplos">
            <a:extLst>
              <a:ext uri="{FF2B5EF4-FFF2-40B4-BE49-F238E27FC236}">
                <a16:creationId xmlns:a16="http://schemas.microsoft.com/office/drawing/2014/main" id="{F2A7B291-1B06-9E08-E944-FDFDCC302C1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681" t="71291" r="19629"/>
          <a:stretch/>
        </p:blipFill>
        <p:spPr bwMode="auto">
          <a:xfrm>
            <a:off x="9138743" y="4719145"/>
            <a:ext cx="3005959" cy="904375"/>
          </a:xfrm>
          <a:prstGeom prst="rect">
            <a:avLst/>
          </a:prstGeom>
          <a:noFill/>
          <a:extLst>
            <a:ext uri="{909E8E84-426E-40DD-AFC4-6F175D3DCCD1}">
              <a14:hiddenFill xmlns:a14="http://schemas.microsoft.com/office/drawing/2010/main">
                <a:solidFill>
                  <a:srgbClr val="FFFFFF"/>
                </a:solidFill>
              </a14:hiddenFill>
            </a:ext>
          </a:extLst>
        </p:spPr>
      </p:pic>
      <p:sp>
        <p:nvSpPr>
          <p:cNvPr id="30" name="Seta: para a Direita 29">
            <a:extLst>
              <a:ext uri="{FF2B5EF4-FFF2-40B4-BE49-F238E27FC236}">
                <a16:creationId xmlns:a16="http://schemas.microsoft.com/office/drawing/2014/main" id="{DC9F5A7F-E5AA-142E-2B15-815AE87120D8}"/>
              </a:ext>
            </a:extLst>
          </p:cNvPr>
          <p:cNvSpPr/>
          <p:nvPr/>
        </p:nvSpPr>
        <p:spPr>
          <a:xfrm rot="16200000">
            <a:off x="10186190" y="3936038"/>
            <a:ext cx="763751" cy="5922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100" name="Picture 4" descr="Até onde vai o papel do marketing na empresa? Marketing">
            <a:extLst>
              <a:ext uri="{FF2B5EF4-FFF2-40B4-BE49-F238E27FC236}">
                <a16:creationId xmlns:a16="http://schemas.microsoft.com/office/drawing/2014/main" id="{9BF0AB99-6009-1453-68A9-BBC99C40BC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2309" y="5192620"/>
            <a:ext cx="3019097" cy="201273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Branding vs Marketing: não são a mesma coisa | Slim Marketing Digital">
            <a:extLst>
              <a:ext uri="{FF2B5EF4-FFF2-40B4-BE49-F238E27FC236}">
                <a16:creationId xmlns:a16="http://schemas.microsoft.com/office/drawing/2014/main" id="{9F215E35-079F-67F8-9714-D89ED0A814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71938" y="5546035"/>
            <a:ext cx="2554890" cy="1277445"/>
          </a:xfrm>
          <a:prstGeom prst="rect">
            <a:avLst/>
          </a:prstGeom>
          <a:noFill/>
          <a:extLst>
            <a:ext uri="{909E8E84-426E-40DD-AFC4-6F175D3DCCD1}">
              <a14:hiddenFill xmlns:a14="http://schemas.microsoft.com/office/drawing/2010/main">
                <a:solidFill>
                  <a:srgbClr val="FFFFFF"/>
                </a:solidFill>
              </a14:hiddenFill>
            </a:ext>
          </a:extLst>
        </p:spPr>
      </p:pic>
      <p:sp>
        <p:nvSpPr>
          <p:cNvPr id="31" name="CaixaDeTexto 30">
            <a:extLst>
              <a:ext uri="{FF2B5EF4-FFF2-40B4-BE49-F238E27FC236}">
                <a16:creationId xmlns:a16="http://schemas.microsoft.com/office/drawing/2014/main" id="{7CD20378-D762-57BC-5BD3-3F49EEA2373A}"/>
              </a:ext>
            </a:extLst>
          </p:cNvPr>
          <p:cNvSpPr txBox="1"/>
          <p:nvPr/>
        </p:nvSpPr>
        <p:spPr>
          <a:xfrm>
            <a:off x="6543427" y="7078661"/>
            <a:ext cx="2749855" cy="369332"/>
          </a:xfrm>
          <a:prstGeom prst="rect">
            <a:avLst/>
          </a:prstGeom>
          <a:noFill/>
        </p:spPr>
        <p:txBody>
          <a:bodyPr wrap="none" rtlCol="0">
            <a:spAutoFit/>
          </a:bodyPr>
          <a:lstStyle/>
          <a:p>
            <a:r>
              <a:rPr lang="pt-BR" b="1" dirty="0" err="1"/>
              <a:t>If</a:t>
            </a:r>
            <a:r>
              <a:rPr lang="pt-BR" b="1" dirty="0"/>
              <a:t> </a:t>
            </a:r>
            <a:r>
              <a:rPr lang="pt-BR" b="1" dirty="0" err="1"/>
              <a:t>they</a:t>
            </a:r>
            <a:r>
              <a:rPr lang="pt-BR" b="1" dirty="0"/>
              <a:t> </a:t>
            </a:r>
            <a:r>
              <a:rPr lang="pt-BR" b="1" dirty="0" err="1"/>
              <a:t>don`t</a:t>
            </a:r>
            <a:r>
              <a:rPr lang="pt-BR" b="1" dirty="0"/>
              <a:t> </a:t>
            </a:r>
            <a:r>
              <a:rPr lang="pt-BR" b="1" dirty="0" err="1"/>
              <a:t>know</a:t>
            </a:r>
            <a:r>
              <a:rPr lang="pt-BR" b="1" dirty="0"/>
              <a:t> </a:t>
            </a:r>
            <a:r>
              <a:rPr lang="pt-BR" b="1" dirty="0" err="1"/>
              <a:t>us</a:t>
            </a:r>
            <a:r>
              <a:rPr lang="pt-BR" b="1" dirty="0"/>
              <a:t>!</a:t>
            </a:r>
          </a:p>
        </p:txBody>
      </p:sp>
      <p:sp>
        <p:nvSpPr>
          <p:cNvPr id="32" name="CaixaDeTexto 31">
            <a:extLst>
              <a:ext uri="{FF2B5EF4-FFF2-40B4-BE49-F238E27FC236}">
                <a16:creationId xmlns:a16="http://schemas.microsoft.com/office/drawing/2014/main" id="{60536DE1-B5A4-C0FE-A5A9-87E3CFDF20C8}"/>
              </a:ext>
            </a:extLst>
          </p:cNvPr>
          <p:cNvSpPr txBox="1"/>
          <p:nvPr/>
        </p:nvSpPr>
        <p:spPr>
          <a:xfrm>
            <a:off x="9916302" y="7056962"/>
            <a:ext cx="3129575" cy="369332"/>
          </a:xfrm>
          <a:prstGeom prst="rect">
            <a:avLst/>
          </a:prstGeom>
          <a:noFill/>
        </p:spPr>
        <p:txBody>
          <a:bodyPr wrap="none" rtlCol="0">
            <a:spAutoFit/>
          </a:bodyPr>
          <a:lstStyle/>
          <a:p>
            <a:r>
              <a:rPr lang="pt-BR" b="1" dirty="0" err="1"/>
              <a:t>If</a:t>
            </a:r>
            <a:r>
              <a:rPr lang="pt-BR" b="1" dirty="0"/>
              <a:t> </a:t>
            </a:r>
            <a:r>
              <a:rPr lang="pt-BR" b="1" dirty="0" err="1"/>
              <a:t>they</a:t>
            </a:r>
            <a:r>
              <a:rPr lang="pt-BR" b="1" dirty="0"/>
              <a:t> </a:t>
            </a:r>
            <a:r>
              <a:rPr lang="pt-BR" b="1" dirty="0" err="1"/>
              <a:t>don`t</a:t>
            </a:r>
            <a:r>
              <a:rPr lang="pt-BR" b="1" dirty="0"/>
              <a:t> </a:t>
            </a:r>
            <a:r>
              <a:rPr lang="pt-BR" b="1" dirty="0" err="1"/>
              <a:t>buy</a:t>
            </a:r>
            <a:r>
              <a:rPr lang="pt-BR" b="1" dirty="0"/>
              <a:t> </a:t>
            </a:r>
            <a:r>
              <a:rPr lang="pt-BR" b="1" dirty="0" err="1"/>
              <a:t>with</a:t>
            </a:r>
            <a:r>
              <a:rPr lang="pt-BR" b="1" dirty="0"/>
              <a:t> </a:t>
            </a:r>
            <a:r>
              <a:rPr lang="pt-BR" b="1" dirty="0" err="1"/>
              <a:t>us</a:t>
            </a:r>
            <a:r>
              <a:rPr lang="pt-BR" b="1" dirty="0"/>
              <a:t>!</a:t>
            </a:r>
          </a:p>
        </p:txBody>
      </p:sp>
    </p:spTree>
    <p:extLst>
      <p:ext uri="{BB962C8B-B14F-4D97-AF65-F5344CB8AC3E}">
        <p14:creationId xmlns:p14="http://schemas.microsoft.com/office/powerpoint/2010/main" val="279336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5081263" cy="646331"/>
          </a:xfrm>
          <a:prstGeom prst="rect">
            <a:avLst/>
          </a:prstGeom>
          <a:noFill/>
        </p:spPr>
        <p:txBody>
          <a:bodyPr wrap="none" rtlCol="0">
            <a:spAutoFit/>
          </a:bodyPr>
          <a:lstStyle/>
          <a:p>
            <a:r>
              <a:rPr lang="pt-BR" sz="2800" b="1" dirty="0" err="1">
                <a:solidFill>
                  <a:srgbClr val="5B2A28"/>
                </a:solidFill>
                <a:latin typeface="Cooper Black" panose="0208090404030B020404" pitchFamily="18" charset="0"/>
              </a:rPr>
              <a:t>Bring</a:t>
            </a:r>
            <a:r>
              <a:rPr lang="pt-BR" sz="2800" b="1" dirty="0">
                <a:solidFill>
                  <a:srgbClr val="5B2A28"/>
                </a:solidFill>
                <a:latin typeface="Cooper Black" panose="0208090404030B020404" pitchFamily="18" charset="0"/>
              </a:rPr>
              <a:t> new </a:t>
            </a:r>
            <a:r>
              <a:rPr lang="pt-BR" sz="2800" b="1" dirty="0" err="1">
                <a:solidFill>
                  <a:srgbClr val="5B2A28"/>
                </a:solidFill>
                <a:latin typeface="Cooper Black" panose="0208090404030B020404" pitchFamily="18" charset="0"/>
              </a:rPr>
              <a:t>Costumers</a:t>
            </a:r>
            <a:r>
              <a:rPr lang="pt-BR" sz="3600" b="1" dirty="0">
                <a:solidFill>
                  <a:srgbClr val="5B2A28"/>
                </a:solidFill>
                <a:latin typeface="Cooper Black" panose="0208090404030B020404" pitchFamily="18" charset="0"/>
              </a:rPr>
              <a:t> </a:t>
            </a:r>
            <a:r>
              <a:rPr lang="pt-BR" sz="3600" b="1" dirty="0">
                <a:solidFill>
                  <a:srgbClr val="00B050"/>
                </a:solidFill>
                <a:latin typeface="Cooper Black" panose="0208090404030B020404" pitchFamily="18" charset="0"/>
              </a:rPr>
              <a:t>$$$</a:t>
            </a:r>
            <a:endParaRPr lang="pt-BR" sz="2800" b="1" dirty="0">
              <a:solidFill>
                <a:srgbClr val="00B050"/>
              </a:solidFill>
              <a:latin typeface="Cooper Black" panose="0208090404030B020404" pitchFamily="18" charset="0"/>
            </a:endParaRP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Based on this data, what marketing efforts or strategies will reinforce positive trends or mitigate negative trends to grow future sales?</a:t>
            </a:r>
            <a:endParaRPr lang="en-GB" sz="2000" dirty="0"/>
          </a:p>
        </p:txBody>
      </p:sp>
      <p:pic>
        <p:nvPicPr>
          <p:cNvPr id="2" name="Imagem 1">
            <a:extLst>
              <a:ext uri="{FF2B5EF4-FFF2-40B4-BE49-F238E27FC236}">
                <a16:creationId xmlns:a16="http://schemas.microsoft.com/office/drawing/2014/main" id="{A30D3FF9-C1F6-54BF-80A3-DC51F473336F}"/>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35926" b="77130" l="30052" r="44063">
                        <a14:foregroundMark x1="32760" y1="37130" x2="32240" y2="66111"/>
                        <a14:foregroundMark x1="31771" y1="54444" x2="31771" y2="54444"/>
                        <a14:foregroundMark x1="33698" y1="36944" x2="34948" y2="44259"/>
                        <a14:foregroundMark x1="34323" y1="35926" x2="34323" y2="35926"/>
                        <a14:foregroundMark x1="32500" y1="48426" x2="32240" y2="57963"/>
                        <a14:foregroundMark x1="32240" y1="57963" x2="32448" y2="58241"/>
                        <a14:foregroundMark x1="33229" y1="56481" x2="36406" y2="62407"/>
                        <a14:foregroundMark x1="36406" y1="62407" x2="37135" y2="63241"/>
                        <a14:foregroundMark x1="31615" y1="46759" x2="31615" y2="53148"/>
                        <a14:foregroundMark x1="35260" y1="59722" x2="33229" y2="54352"/>
                        <a14:foregroundMark x1="33229" y1="54352" x2="32344" y2="48981"/>
                        <a14:foregroundMark x1="32865" y1="48796" x2="33229" y2="53426"/>
                        <a14:foregroundMark x1="32396" y1="65278" x2="33177" y2="73981"/>
                        <a14:foregroundMark x1="30885" y1="75648" x2="30885" y2="75648"/>
                        <a14:foregroundMark x1="33073" y1="75648" x2="33073" y2="75648"/>
                      </a14:backgroundRemoval>
                    </a14:imgEffect>
                  </a14:imgLayer>
                </a14:imgProps>
              </a:ext>
            </a:extLst>
          </a:blip>
          <a:srcRect l="28438" t="32941" r="54188" b="17916"/>
          <a:stretch/>
        </p:blipFill>
        <p:spPr>
          <a:xfrm>
            <a:off x="9224990" y="2159791"/>
            <a:ext cx="1844186" cy="2934214"/>
          </a:xfrm>
          <a:prstGeom prst="rect">
            <a:avLst/>
          </a:prstGeom>
        </p:spPr>
      </p:pic>
      <p:pic>
        <p:nvPicPr>
          <p:cNvPr id="5" name="Imagem 4">
            <a:extLst>
              <a:ext uri="{FF2B5EF4-FFF2-40B4-BE49-F238E27FC236}">
                <a16:creationId xmlns:a16="http://schemas.microsoft.com/office/drawing/2014/main" id="{731995F6-A616-53AD-321D-143D2779C25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41667" b="80463" l="53698" r="64688">
                        <a14:foregroundMark x1="56667" y1="54074" x2="61250" y2="61574"/>
                        <a14:foregroundMark x1="62448" y1="69074" x2="62448" y2="69074"/>
                        <a14:foregroundMark x1="56458" y1="41759" x2="56458" y2="41759"/>
                        <a14:foregroundMark x1="53698" y1="48796" x2="53698" y2="48796"/>
                        <a14:foregroundMark x1="55521" y1="48056" x2="56250" y2="48426"/>
                        <a14:foregroundMark x1="56979" y1="54074" x2="57969" y2="58148"/>
                        <a14:foregroundMark x1="57760" y1="80463" x2="57760" y2="80463"/>
                        <a14:foregroundMark x1="61510" y1="80093" x2="61510" y2="80093"/>
                        <a14:foregroundMark x1="56823" y1="47870" x2="56823" y2="47870"/>
                      </a14:backgroundRemoval>
                    </a14:imgEffect>
                  </a14:imgLayer>
                </a14:imgProps>
              </a:ext>
            </a:extLst>
          </a:blip>
          <a:srcRect l="52610" t="38039" r="33934" b="15883"/>
          <a:stretch/>
        </p:blipFill>
        <p:spPr>
          <a:xfrm>
            <a:off x="1596346" y="2219341"/>
            <a:ext cx="1461463" cy="2815114"/>
          </a:xfrm>
          <a:prstGeom prst="rect">
            <a:avLst/>
          </a:prstGeom>
        </p:spPr>
      </p:pic>
      <p:sp>
        <p:nvSpPr>
          <p:cNvPr id="9" name="CaixaDeTexto 8">
            <a:extLst>
              <a:ext uri="{FF2B5EF4-FFF2-40B4-BE49-F238E27FC236}">
                <a16:creationId xmlns:a16="http://schemas.microsoft.com/office/drawing/2014/main" id="{8FECF3B3-A3EA-53A8-245F-538483810325}"/>
              </a:ext>
            </a:extLst>
          </p:cNvPr>
          <p:cNvSpPr txBox="1"/>
          <p:nvPr/>
        </p:nvSpPr>
        <p:spPr>
          <a:xfrm>
            <a:off x="764860" y="4808678"/>
            <a:ext cx="11740055" cy="523220"/>
          </a:xfrm>
          <a:prstGeom prst="rect">
            <a:avLst/>
          </a:prstGeom>
          <a:noFill/>
        </p:spPr>
        <p:txBody>
          <a:bodyPr wrap="square">
            <a:spAutoFit/>
          </a:bodyPr>
          <a:lstStyle/>
          <a:p>
            <a:r>
              <a:rPr lang="en-US" sz="2800" b="1" i="0" dirty="0">
                <a:solidFill>
                  <a:srgbClr val="374151"/>
                </a:solidFill>
                <a:effectLst/>
                <a:latin typeface="Söhne"/>
              </a:rPr>
              <a:t>But if we </a:t>
            </a:r>
            <a:r>
              <a:rPr lang="en-US" sz="2800" b="1" i="0" dirty="0">
                <a:solidFill>
                  <a:srgbClr val="FF0000"/>
                </a:solidFill>
                <a:effectLst/>
                <a:latin typeface="Söhne"/>
              </a:rPr>
              <a:t>don't know why our loyal customers are ceasing to make purchases</a:t>
            </a:r>
            <a:r>
              <a:rPr lang="en-US" sz="2800" b="1" i="0" dirty="0">
                <a:solidFill>
                  <a:srgbClr val="374151"/>
                </a:solidFill>
                <a:effectLst/>
                <a:latin typeface="Söhne"/>
              </a:rPr>
              <a:t>, </a:t>
            </a:r>
            <a:endParaRPr lang="pt-BR" sz="2800" b="1" dirty="0"/>
          </a:p>
        </p:txBody>
      </p:sp>
      <p:sp>
        <p:nvSpPr>
          <p:cNvPr id="10" name="CaixaDeTexto 9">
            <a:extLst>
              <a:ext uri="{FF2B5EF4-FFF2-40B4-BE49-F238E27FC236}">
                <a16:creationId xmlns:a16="http://schemas.microsoft.com/office/drawing/2014/main" id="{38ADEB65-E8D8-30FA-9C8A-38ACE030AF3A}"/>
              </a:ext>
            </a:extLst>
          </p:cNvPr>
          <p:cNvSpPr txBox="1"/>
          <p:nvPr/>
        </p:nvSpPr>
        <p:spPr>
          <a:xfrm>
            <a:off x="6033880" y="1070896"/>
            <a:ext cx="646331" cy="1200329"/>
          </a:xfrm>
          <a:prstGeom prst="rect">
            <a:avLst/>
          </a:prstGeom>
          <a:noFill/>
        </p:spPr>
        <p:txBody>
          <a:bodyPr wrap="none" rtlCol="0">
            <a:spAutoFit/>
          </a:bodyPr>
          <a:lstStyle/>
          <a:p>
            <a:r>
              <a:rPr lang="pt-BR" sz="7200" b="1" dirty="0">
                <a:solidFill>
                  <a:srgbClr val="5B2A28"/>
                </a:solidFill>
                <a:latin typeface="Cooper Black" panose="0208090404030B020404" pitchFamily="18" charset="0"/>
              </a:rPr>
              <a:t>&gt;</a:t>
            </a:r>
            <a:endParaRPr lang="pt-BR" sz="7200" b="1" dirty="0">
              <a:solidFill>
                <a:srgbClr val="00B050"/>
              </a:solidFill>
              <a:latin typeface="Cooper Black" panose="0208090404030B020404" pitchFamily="18" charset="0"/>
            </a:endParaRPr>
          </a:p>
        </p:txBody>
      </p:sp>
      <p:sp>
        <p:nvSpPr>
          <p:cNvPr id="12" name="CaixaDeTexto 11">
            <a:extLst>
              <a:ext uri="{FF2B5EF4-FFF2-40B4-BE49-F238E27FC236}">
                <a16:creationId xmlns:a16="http://schemas.microsoft.com/office/drawing/2014/main" id="{BD73A286-2553-9FDA-C79F-BC1D35E4BBD2}"/>
              </a:ext>
            </a:extLst>
          </p:cNvPr>
          <p:cNvSpPr txBox="1"/>
          <p:nvPr/>
        </p:nvSpPr>
        <p:spPr>
          <a:xfrm>
            <a:off x="7444292" y="1282330"/>
            <a:ext cx="6906408" cy="707886"/>
          </a:xfrm>
          <a:prstGeom prst="rect">
            <a:avLst/>
          </a:prstGeom>
          <a:noFill/>
        </p:spPr>
        <p:txBody>
          <a:bodyPr wrap="square">
            <a:spAutoFit/>
          </a:bodyPr>
          <a:lstStyle/>
          <a:p>
            <a:r>
              <a:rPr lang="pt-BR" sz="2800" b="1" dirty="0" err="1">
                <a:solidFill>
                  <a:srgbClr val="5B2A28"/>
                </a:solidFill>
                <a:latin typeface="Cooper Black" panose="0208090404030B020404" pitchFamily="18" charset="0"/>
              </a:rPr>
              <a:t>Sale</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to</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Frequent</a:t>
            </a:r>
            <a:r>
              <a:rPr lang="pt-BR" sz="2800" b="1" dirty="0">
                <a:solidFill>
                  <a:srgbClr val="5B2A28"/>
                </a:solidFill>
                <a:latin typeface="Cooper Black" panose="0208090404030B020404" pitchFamily="18" charset="0"/>
              </a:rPr>
              <a:t> </a:t>
            </a:r>
            <a:r>
              <a:rPr lang="pt-BR" sz="2800" b="1" dirty="0" err="1">
                <a:solidFill>
                  <a:srgbClr val="5B2A28"/>
                </a:solidFill>
                <a:latin typeface="Cooper Black" panose="0208090404030B020404" pitchFamily="18" charset="0"/>
              </a:rPr>
              <a:t>ones</a:t>
            </a:r>
            <a:r>
              <a:rPr lang="pt-BR" sz="4000" b="1" dirty="0">
                <a:solidFill>
                  <a:srgbClr val="5B2A28"/>
                </a:solidFill>
                <a:latin typeface="Cooper Black" panose="0208090404030B020404" pitchFamily="18" charset="0"/>
              </a:rPr>
              <a:t> </a:t>
            </a:r>
            <a:r>
              <a:rPr lang="pt-BR" sz="3600" b="1" dirty="0">
                <a:solidFill>
                  <a:srgbClr val="00B050"/>
                </a:solidFill>
                <a:latin typeface="Cooper Black" panose="0208090404030B020404" pitchFamily="18" charset="0"/>
              </a:rPr>
              <a:t>$</a:t>
            </a:r>
            <a:endParaRPr lang="pt-BR" dirty="0"/>
          </a:p>
        </p:txBody>
      </p:sp>
    </p:spTree>
    <p:extLst>
      <p:ext uri="{BB962C8B-B14F-4D97-AF65-F5344CB8AC3E}">
        <p14:creationId xmlns:p14="http://schemas.microsoft.com/office/powerpoint/2010/main" val="170062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9" name="TextBox 3098"/>
          <p:cNvSpPr txBox="1"/>
          <p:nvPr/>
        </p:nvSpPr>
        <p:spPr>
          <a:xfrm>
            <a:off x="1298541" y="5719709"/>
            <a:ext cx="2869014" cy="1656451"/>
          </a:xfrm>
          <a:prstGeom prst="rect">
            <a:avLst/>
          </a:prstGeom>
          <a:noFill/>
        </p:spPr>
        <p:txBody>
          <a:bodyPr wrap="square" lIns="0" tIns="0" rIns="0" bIns="0" rtlCol="0">
            <a:noAutofit/>
          </a:bodyPr>
          <a:lstStyle/>
          <a:p>
            <a:pPr>
              <a:lnSpc>
                <a:spcPts val="3400"/>
              </a:lnSpc>
            </a:pPr>
            <a:r>
              <a:rPr lang="en-GB" sz="3600" b="1" spc="90" dirty="0">
                <a:solidFill>
                  <a:schemeClr val="tx2"/>
                </a:solidFill>
              </a:rPr>
              <a:t>Influencers</a:t>
            </a:r>
          </a:p>
        </p:txBody>
      </p:sp>
      <p:sp>
        <p:nvSpPr>
          <p:cNvPr id="67" name="TextBox 66"/>
          <p:cNvSpPr txBox="1"/>
          <p:nvPr/>
        </p:nvSpPr>
        <p:spPr>
          <a:xfrm>
            <a:off x="4859454" y="5190579"/>
            <a:ext cx="6766029" cy="2714710"/>
          </a:xfrm>
          <a:prstGeom prst="rect">
            <a:avLst/>
          </a:prstGeom>
          <a:noFill/>
        </p:spPr>
        <p:txBody>
          <a:bodyPr wrap="square" rtlCol="0">
            <a:noAutofit/>
          </a:bodyPr>
          <a:lstStyle/>
          <a:p>
            <a:pPr>
              <a:lnSpc>
                <a:spcPct val="130000"/>
              </a:lnSpc>
            </a:pPr>
            <a:r>
              <a:rPr lang="en-US" sz="2400" b="0" i="0" dirty="0">
                <a:solidFill>
                  <a:srgbClr val="374151"/>
                </a:solidFill>
                <a:effectLst/>
                <a:latin typeface="Söhne"/>
              </a:rPr>
              <a:t>I would invest in a recent marketing trend based on influencers for brand promotion and gaining acceptance within the community, creating desire for our products and increasing product awareness.</a:t>
            </a:r>
            <a:endParaRPr lang="en-GB" sz="2400" dirty="0"/>
          </a:p>
        </p:txBody>
      </p:sp>
      <p:sp>
        <p:nvSpPr>
          <p:cNvPr id="246" name="Freeform 245"/>
          <p:cNvSpPr/>
          <p:nvPr/>
        </p:nvSpPr>
        <p:spPr>
          <a:xfrm>
            <a:off x="0" y="0"/>
            <a:ext cx="13817600" cy="4762500"/>
          </a:xfrm>
          <a:custGeom>
            <a:avLst/>
            <a:gdLst>
              <a:gd name="connsiteX0" fmla="*/ 8813800 w 10058400"/>
              <a:gd name="connsiteY0" fmla="*/ 1 h 4514850"/>
              <a:gd name="connsiteX1" fmla="*/ 10058400 w 10058400"/>
              <a:gd name="connsiteY1" fmla="*/ 1 h 4514850"/>
              <a:gd name="connsiteX2" fmla="*/ 10058400 w 10058400"/>
              <a:gd name="connsiteY2" fmla="*/ 3959184 h 4514850"/>
              <a:gd name="connsiteX3" fmla="*/ 8821058 w 10058400"/>
              <a:gd name="connsiteY3" fmla="*/ 4509595 h 4514850"/>
              <a:gd name="connsiteX4" fmla="*/ 8821058 w 10058400"/>
              <a:gd name="connsiteY4" fmla="*/ 4514850 h 4514850"/>
              <a:gd name="connsiteX5" fmla="*/ 8813800 w 10058400"/>
              <a:gd name="connsiteY5" fmla="*/ 4514850 h 4514850"/>
              <a:gd name="connsiteX6" fmla="*/ 1892301 w 10058400"/>
              <a:gd name="connsiteY6" fmla="*/ 1 h 4514850"/>
              <a:gd name="connsiteX7" fmla="*/ 3136900 w 10058400"/>
              <a:gd name="connsiteY7" fmla="*/ 1 h 4514850"/>
              <a:gd name="connsiteX8" fmla="*/ 3136900 w 10058400"/>
              <a:gd name="connsiteY8" fmla="*/ 3828337 h 4514850"/>
              <a:gd name="connsiteX9" fmla="*/ 1892301 w 10058400"/>
              <a:gd name="connsiteY9" fmla="*/ 4431566 h 4514850"/>
              <a:gd name="connsiteX10" fmla="*/ 5270500 w 10058400"/>
              <a:gd name="connsiteY10" fmla="*/ 1 h 4514850"/>
              <a:gd name="connsiteX11" fmla="*/ 6515100 w 10058400"/>
              <a:gd name="connsiteY11" fmla="*/ 1 h 4514850"/>
              <a:gd name="connsiteX12" fmla="*/ 6515100 w 10058400"/>
              <a:gd name="connsiteY12" fmla="*/ 4214814 h 4514850"/>
              <a:gd name="connsiteX13" fmla="*/ 5270500 w 10058400"/>
              <a:gd name="connsiteY13" fmla="*/ 4214814 h 4514850"/>
              <a:gd name="connsiteX14" fmla="*/ 6731001 w 10058400"/>
              <a:gd name="connsiteY14" fmla="*/ 1 h 4514850"/>
              <a:gd name="connsiteX15" fmla="*/ 8605158 w 10058400"/>
              <a:gd name="connsiteY15" fmla="*/ 1 h 4514850"/>
              <a:gd name="connsiteX16" fmla="*/ 8605158 w 10058400"/>
              <a:gd name="connsiteY16" fmla="*/ 3718290 h 4514850"/>
              <a:gd name="connsiteX17" fmla="*/ 6731001 w 10058400"/>
              <a:gd name="connsiteY17" fmla="*/ 2660210 h 4514850"/>
              <a:gd name="connsiteX18" fmla="*/ 3352801 w 10058400"/>
              <a:gd name="connsiteY18" fmla="*/ 0 h 4514850"/>
              <a:gd name="connsiteX19" fmla="*/ 5054600 w 10058400"/>
              <a:gd name="connsiteY19" fmla="*/ 0 h 4514850"/>
              <a:gd name="connsiteX20" fmla="*/ 5054600 w 10058400"/>
              <a:gd name="connsiteY20" fmla="*/ 3995738 h 4514850"/>
              <a:gd name="connsiteX21" fmla="*/ 3352801 w 10058400"/>
              <a:gd name="connsiteY21" fmla="*/ 3995738 h 4514850"/>
              <a:gd name="connsiteX22" fmla="*/ 0 w 10058400"/>
              <a:gd name="connsiteY22" fmla="*/ 0 h 4514850"/>
              <a:gd name="connsiteX23" fmla="*/ 1676399 w 10058400"/>
              <a:gd name="connsiteY23" fmla="*/ 0 h 4514850"/>
              <a:gd name="connsiteX24" fmla="*/ 1676399 w 10058400"/>
              <a:gd name="connsiteY24" fmla="*/ 3640026 h 4514850"/>
              <a:gd name="connsiteX25" fmla="*/ 1 w 10058400"/>
              <a:gd name="connsiteY25" fmla="*/ 3804886 h 4514850"/>
              <a:gd name="connsiteX26" fmla="*/ 0 w 10058400"/>
              <a:gd name="connsiteY26" fmla="*/ 3804886 h 451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58400" h="4514850">
                <a:moveTo>
                  <a:pt x="8813800" y="1"/>
                </a:moveTo>
                <a:lnTo>
                  <a:pt x="10058400" y="1"/>
                </a:lnTo>
                <a:lnTo>
                  <a:pt x="10058400" y="3959184"/>
                </a:lnTo>
                <a:lnTo>
                  <a:pt x="8821058" y="4509595"/>
                </a:lnTo>
                <a:lnTo>
                  <a:pt x="8821058" y="4514850"/>
                </a:lnTo>
                <a:lnTo>
                  <a:pt x="8813800" y="4514850"/>
                </a:lnTo>
                <a:close/>
                <a:moveTo>
                  <a:pt x="1892301" y="1"/>
                </a:moveTo>
                <a:lnTo>
                  <a:pt x="3136900" y="1"/>
                </a:lnTo>
                <a:lnTo>
                  <a:pt x="3136900" y="3828337"/>
                </a:lnTo>
                <a:lnTo>
                  <a:pt x="1892301" y="4431566"/>
                </a:lnTo>
                <a:close/>
                <a:moveTo>
                  <a:pt x="5270500" y="1"/>
                </a:moveTo>
                <a:lnTo>
                  <a:pt x="6515100" y="1"/>
                </a:lnTo>
                <a:lnTo>
                  <a:pt x="6515100" y="4214814"/>
                </a:lnTo>
                <a:lnTo>
                  <a:pt x="5270500" y="4214814"/>
                </a:lnTo>
                <a:close/>
                <a:moveTo>
                  <a:pt x="6731001" y="1"/>
                </a:moveTo>
                <a:lnTo>
                  <a:pt x="8605158" y="1"/>
                </a:lnTo>
                <a:lnTo>
                  <a:pt x="8605158" y="3718290"/>
                </a:lnTo>
                <a:lnTo>
                  <a:pt x="6731001" y="2660210"/>
                </a:lnTo>
                <a:close/>
                <a:moveTo>
                  <a:pt x="3352801" y="0"/>
                </a:moveTo>
                <a:lnTo>
                  <a:pt x="5054600" y="0"/>
                </a:lnTo>
                <a:lnTo>
                  <a:pt x="5054600" y="3995738"/>
                </a:lnTo>
                <a:lnTo>
                  <a:pt x="3352801" y="3995738"/>
                </a:lnTo>
                <a:close/>
                <a:moveTo>
                  <a:pt x="0" y="0"/>
                </a:moveTo>
                <a:lnTo>
                  <a:pt x="1676399" y="0"/>
                </a:lnTo>
                <a:lnTo>
                  <a:pt x="1676399" y="3640026"/>
                </a:lnTo>
                <a:lnTo>
                  <a:pt x="1" y="3804886"/>
                </a:lnTo>
                <a:lnTo>
                  <a:pt x="0" y="3804886"/>
                </a:lnTo>
                <a:close/>
              </a:path>
            </a:pathLst>
          </a:custGeom>
          <a:blipFill dpi="0" rotWithShape="1">
            <a:blip r:embed="rId2">
              <a:alphaModFix amt="42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734717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3398838" y="3175"/>
            <a:ext cx="7097712" cy="7766050"/>
            <a:chOff x="1824038" y="3175"/>
            <a:chExt cx="7097712" cy="7766050"/>
          </a:xfrm>
          <a:solidFill>
            <a:srgbClr val="B6C0CC">
              <a:alpha val="40000"/>
            </a:srgbClr>
          </a:solidFill>
        </p:grpSpPr>
        <p:sp>
          <p:nvSpPr>
            <p:cNvPr id="11" name="Freeform 5"/>
            <p:cNvSpPr>
              <a:spLocks/>
            </p:cNvSpPr>
            <p:nvPr/>
          </p:nvSpPr>
          <p:spPr bwMode="auto">
            <a:xfrm>
              <a:off x="3724275" y="4475163"/>
              <a:ext cx="3316287" cy="165100"/>
            </a:xfrm>
            <a:custGeom>
              <a:avLst/>
              <a:gdLst>
                <a:gd name="T0" fmla="*/ 0 w 2089"/>
                <a:gd name="T1" fmla="*/ 104 h 104"/>
                <a:gd name="T2" fmla="*/ 2089 w 2089"/>
                <a:gd name="T3" fmla="*/ 104 h 104"/>
                <a:gd name="T4" fmla="*/ 2025 w 2089"/>
                <a:gd name="T5" fmla="*/ 0 h 104"/>
                <a:gd name="T6" fmla="*/ 62 w 2089"/>
                <a:gd name="T7" fmla="*/ 0 h 104"/>
                <a:gd name="T8" fmla="*/ 0 w 2089"/>
                <a:gd name="T9" fmla="*/ 104 h 104"/>
              </a:gdLst>
              <a:ahLst/>
              <a:cxnLst>
                <a:cxn ang="0">
                  <a:pos x="T0" y="T1"/>
                </a:cxn>
                <a:cxn ang="0">
                  <a:pos x="T2" y="T3"/>
                </a:cxn>
                <a:cxn ang="0">
                  <a:pos x="T4" y="T5"/>
                </a:cxn>
                <a:cxn ang="0">
                  <a:pos x="T6" y="T7"/>
                </a:cxn>
                <a:cxn ang="0">
                  <a:pos x="T8" y="T9"/>
                </a:cxn>
              </a:cxnLst>
              <a:rect l="0" t="0" r="r" b="b"/>
              <a:pathLst>
                <a:path w="2089" h="104">
                  <a:moveTo>
                    <a:pt x="0" y="104"/>
                  </a:moveTo>
                  <a:lnTo>
                    <a:pt x="2089" y="104"/>
                  </a:lnTo>
                  <a:lnTo>
                    <a:pt x="2025" y="0"/>
                  </a:lnTo>
                  <a:lnTo>
                    <a:pt x="62" y="0"/>
                  </a:ln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 name="Freeform 6"/>
            <p:cNvSpPr>
              <a:spLocks/>
            </p:cNvSpPr>
            <p:nvPr/>
          </p:nvSpPr>
          <p:spPr bwMode="auto">
            <a:xfrm>
              <a:off x="1920875" y="5641975"/>
              <a:ext cx="7000875" cy="2127250"/>
            </a:xfrm>
            <a:custGeom>
              <a:avLst/>
              <a:gdLst>
                <a:gd name="T0" fmla="*/ 773 w 4410"/>
                <a:gd name="T1" fmla="*/ 0 h 1340"/>
                <a:gd name="T2" fmla="*/ 0 w 4410"/>
                <a:gd name="T3" fmla="*/ 1340 h 1340"/>
                <a:gd name="T4" fmla="*/ 4410 w 4410"/>
                <a:gd name="T5" fmla="*/ 1340 h 1340"/>
                <a:gd name="T6" fmla="*/ 3604 w 4410"/>
                <a:gd name="T7" fmla="*/ 0 h 1340"/>
                <a:gd name="T8" fmla="*/ 773 w 4410"/>
                <a:gd name="T9" fmla="*/ 0 h 1340"/>
              </a:gdLst>
              <a:ahLst/>
              <a:cxnLst>
                <a:cxn ang="0">
                  <a:pos x="T0" y="T1"/>
                </a:cxn>
                <a:cxn ang="0">
                  <a:pos x="T2" y="T3"/>
                </a:cxn>
                <a:cxn ang="0">
                  <a:pos x="T4" y="T5"/>
                </a:cxn>
                <a:cxn ang="0">
                  <a:pos x="T6" y="T7"/>
                </a:cxn>
                <a:cxn ang="0">
                  <a:pos x="T8" y="T9"/>
                </a:cxn>
              </a:cxnLst>
              <a:rect l="0" t="0" r="r" b="b"/>
              <a:pathLst>
                <a:path w="4410" h="1340">
                  <a:moveTo>
                    <a:pt x="773" y="0"/>
                  </a:moveTo>
                  <a:lnTo>
                    <a:pt x="0" y="1340"/>
                  </a:lnTo>
                  <a:lnTo>
                    <a:pt x="4410" y="1340"/>
                  </a:lnTo>
                  <a:lnTo>
                    <a:pt x="3604" y="0"/>
                  </a:lnTo>
                  <a:lnTo>
                    <a:pt x="77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eeform 7"/>
            <p:cNvSpPr>
              <a:spLocks/>
            </p:cNvSpPr>
            <p:nvPr/>
          </p:nvSpPr>
          <p:spPr bwMode="auto">
            <a:xfrm>
              <a:off x="3379788" y="4872038"/>
              <a:ext cx="4021137" cy="365125"/>
            </a:xfrm>
            <a:custGeom>
              <a:avLst/>
              <a:gdLst>
                <a:gd name="T0" fmla="*/ 2533 w 2533"/>
                <a:gd name="T1" fmla="*/ 230 h 230"/>
                <a:gd name="T2" fmla="*/ 2395 w 2533"/>
                <a:gd name="T3" fmla="*/ 0 h 230"/>
                <a:gd name="T4" fmla="*/ 132 w 2533"/>
                <a:gd name="T5" fmla="*/ 0 h 230"/>
                <a:gd name="T6" fmla="*/ 0 w 2533"/>
                <a:gd name="T7" fmla="*/ 230 h 230"/>
                <a:gd name="T8" fmla="*/ 2533 w 2533"/>
                <a:gd name="T9" fmla="*/ 230 h 230"/>
              </a:gdLst>
              <a:ahLst/>
              <a:cxnLst>
                <a:cxn ang="0">
                  <a:pos x="T0" y="T1"/>
                </a:cxn>
                <a:cxn ang="0">
                  <a:pos x="T2" y="T3"/>
                </a:cxn>
                <a:cxn ang="0">
                  <a:pos x="T4" y="T5"/>
                </a:cxn>
                <a:cxn ang="0">
                  <a:pos x="T6" y="T7"/>
                </a:cxn>
                <a:cxn ang="0">
                  <a:pos x="T8" y="T9"/>
                </a:cxn>
              </a:cxnLst>
              <a:rect l="0" t="0" r="r" b="b"/>
              <a:pathLst>
                <a:path w="2533" h="230">
                  <a:moveTo>
                    <a:pt x="2533" y="230"/>
                  </a:moveTo>
                  <a:lnTo>
                    <a:pt x="2395" y="0"/>
                  </a:lnTo>
                  <a:lnTo>
                    <a:pt x="132" y="0"/>
                  </a:lnTo>
                  <a:lnTo>
                    <a:pt x="0" y="230"/>
                  </a:lnTo>
                  <a:lnTo>
                    <a:pt x="253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5" name="Freeform 8"/>
            <p:cNvSpPr>
              <a:spLocks/>
            </p:cNvSpPr>
            <p:nvPr/>
          </p:nvSpPr>
          <p:spPr bwMode="auto">
            <a:xfrm>
              <a:off x="3884613" y="3873500"/>
              <a:ext cx="2989262" cy="492125"/>
            </a:xfrm>
            <a:custGeom>
              <a:avLst/>
              <a:gdLst>
                <a:gd name="T0" fmla="*/ 1883 w 1883"/>
                <a:gd name="T1" fmla="*/ 310 h 310"/>
                <a:gd name="T2" fmla="*/ 1697 w 1883"/>
                <a:gd name="T3" fmla="*/ 0 h 310"/>
                <a:gd name="T4" fmla="*/ 178 w 1883"/>
                <a:gd name="T5" fmla="*/ 0 h 310"/>
                <a:gd name="T6" fmla="*/ 0 w 1883"/>
                <a:gd name="T7" fmla="*/ 310 h 310"/>
                <a:gd name="T8" fmla="*/ 1883 w 1883"/>
                <a:gd name="T9" fmla="*/ 310 h 310"/>
              </a:gdLst>
              <a:ahLst/>
              <a:cxnLst>
                <a:cxn ang="0">
                  <a:pos x="T0" y="T1"/>
                </a:cxn>
                <a:cxn ang="0">
                  <a:pos x="T2" y="T3"/>
                </a:cxn>
                <a:cxn ang="0">
                  <a:pos x="T4" y="T5"/>
                </a:cxn>
                <a:cxn ang="0">
                  <a:pos x="T6" y="T7"/>
                </a:cxn>
                <a:cxn ang="0">
                  <a:pos x="T8" y="T9"/>
                </a:cxn>
              </a:cxnLst>
              <a:rect l="0" t="0" r="r" b="b"/>
              <a:pathLst>
                <a:path w="1883" h="310">
                  <a:moveTo>
                    <a:pt x="1883" y="310"/>
                  </a:moveTo>
                  <a:lnTo>
                    <a:pt x="1697" y="0"/>
                  </a:lnTo>
                  <a:lnTo>
                    <a:pt x="178" y="0"/>
                  </a:lnTo>
                  <a:lnTo>
                    <a:pt x="0" y="310"/>
                  </a:lnTo>
                  <a:lnTo>
                    <a:pt x="1883" y="3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9"/>
            <p:cNvSpPr>
              <a:spLocks/>
            </p:cNvSpPr>
            <p:nvPr/>
          </p:nvSpPr>
          <p:spPr bwMode="auto">
            <a:xfrm>
              <a:off x="3708400" y="3132138"/>
              <a:ext cx="3313112" cy="165100"/>
            </a:xfrm>
            <a:custGeom>
              <a:avLst/>
              <a:gdLst>
                <a:gd name="T0" fmla="*/ 2087 w 2087"/>
                <a:gd name="T1" fmla="*/ 0 h 104"/>
                <a:gd name="T2" fmla="*/ 0 w 2087"/>
                <a:gd name="T3" fmla="*/ 0 h 104"/>
                <a:gd name="T4" fmla="*/ 64 w 2087"/>
                <a:gd name="T5" fmla="*/ 104 h 104"/>
                <a:gd name="T6" fmla="*/ 2028 w 2087"/>
                <a:gd name="T7" fmla="*/ 104 h 104"/>
                <a:gd name="T8" fmla="*/ 2087 w 2087"/>
                <a:gd name="T9" fmla="*/ 0 h 104"/>
              </a:gdLst>
              <a:ahLst/>
              <a:cxnLst>
                <a:cxn ang="0">
                  <a:pos x="T0" y="T1"/>
                </a:cxn>
                <a:cxn ang="0">
                  <a:pos x="T2" y="T3"/>
                </a:cxn>
                <a:cxn ang="0">
                  <a:pos x="T4" y="T5"/>
                </a:cxn>
                <a:cxn ang="0">
                  <a:pos x="T6" y="T7"/>
                </a:cxn>
                <a:cxn ang="0">
                  <a:pos x="T8" y="T9"/>
                </a:cxn>
              </a:cxnLst>
              <a:rect l="0" t="0" r="r" b="b"/>
              <a:pathLst>
                <a:path w="2087" h="104">
                  <a:moveTo>
                    <a:pt x="2087" y="0"/>
                  </a:moveTo>
                  <a:lnTo>
                    <a:pt x="0" y="0"/>
                  </a:lnTo>
                  <a:lnTo>
                    <a:pt x="64" y="104"/>
                  </a:lnTo>
                  <a:lnTo>
                    <a:pt x="2028" y="104"/>
                  </a:lnTo>
                  <a:lnTo>
                    <a:pt x="20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7" name="Freeform 10"/>
            <p:cNvSpPr>
              <a:spLocks/>
            </p:cNvSpPr>
            <p:nvPr/>
          </p:nvSpPr>
          <p:spPr bwMode="auto">
            <a:xfrm>
              <a:off x="1824038" y="3175"/>
              <a:ext cx="7000875" cy="2127250"/>
            </a:xfrm>
            <a:custGeom>
              <a:avLst/>
              <a:gdLst>
                <a:gd name="T0" fmla="*/ 3637 w 4410"/>
                <a:gd name="T1" fmla="*/ 1340 h 1340"/>
                <a:gd name="T2" fmla="*/ 4410 w 4410"/>
                <a:gd name="T3" fmla="*/ 0 h 1340"/>
                <a:gd name="T4" fmla="*/ 0 w 4410"/>
                <a:gd name="T5" fmla="*/ 0 h 1340"/>
                <a:gd name="T6" fmla="*/ 808 w 4410"/>
                <a:gd name="T7" fmla="*/ 1340 h 1340"/>
                <a:gd name="T8" fmla="*/ 3637 w 4410"/>
                <a:gd name="T9" fmla="*/ 1340 h 1340"/>
              </a:gdLst>
              <a:ahLst/>
              <a:cxnLst>
                <a:cxn ang="0">
                  <a:pos x="T0" y="T1"/>
                </a:cxn>
                <a:cxn ang="0">
                  <a:pos x="T2" y="T3"/>
                </a:cxn>
                <a:cxn ang="0">
                  <a:pos x="T4" y="T5"/>
                </a:cxn>
                <a:cxn ang="0">
                  <a:pos x="T6" y="T7"/>
                </a:cxn>
                <a:cxn ang="0">
                  <a:pos x="T8" y="T9"/>
                </a:cxn>
              </a:cxnLst>
              <a:rect l="0" t="0" r="r" b="b"/>
              <a:pathLst>
                <a:path w="4410" h="1340">
                  <a:moveTo>
                    <a:pt x="3637" y="1340"/>
                  </a:moveTo>
                  <a:lnTo>
                    <a:pt x="4410" y="0"/>
                  </a:lnTo>
                  <a:lnTo>
                    <a:pt x="0" y="0"/>
                  </a:lnTo>
                  <a:lnTo>
                    <a:pt x="808" y="1340"/>
                  </a:lnTo>
                  <a:lnTo>
                    <a:pt x="3637" y="13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8" name="Freeform 11"/>
            <p:cNvSpPr>
              <a:spLocks/>
            </p:cNvSpPr>
            <p:nvPr/>
          </p:nvSpPr>
          <p:spPr bwMode="auto">
            <a:xfrm>
              <a:off x="3348038" y="2532063"/>
              <a:ext cx="4017962" cy="365125"/>
            </a:xfrm>
            <a:custGeom>
              <a:avLst/>
              <a:gdLst>
                <a:gd name="T0" fmla="*/ 0 w 2531"/>
                <a:gd name="T1" fmla="*/ 0 h 230"/>
                <a:gd name="T2" fmla="*/ 139 w 2531"/>
                <a:gd name="T3" fmla="*/ 230 h 230"/>
                <a:gd name="T4" fmla="*/ 2399 w 2531"/>
                <a:gd name="T5" fmla="*/ 230 h 230"/>
                <a:gd name="T6" fmla="*/ 2531 w 2531"/>
                <a:gd name="T7" fmla="*/ 0 h 230"/>
                <a:gd name="T8" fmla="*/ 0 w 2531"/>
                <a:gd name="T9" fmla="*/ 0 h 230"/>
              </a:gdLst>
              <a:ahLst/>
              <a:cxnLst>
                <a:cxn ang="0">
                  <a:pos x="T0" y="T1"/>
                </a:cxn>
                <a:cxn ang="0">
                  <a:pos x="T2" y="T3"/>
                </a:cxn>
                <a:cxn ang="0">
                  <a:pos x="T4" y="T5"/>
                </a:cxn>
                <a:cxn ang="0">
                  <a:pos x="T6" y="T7"/>
                </a:cxn>
                <a:cxn ang="0">
                  <a:pos x="T8" y="T9"/>
                </a:cxn>
              </a:cxnLst>
              <a:rect l="0" t="0" r="r" b="b"/>
              <a:pathLst>
                <a:path w="2531" h="230">
                  <a:moveTo>
                    <a:pt x="0" y="0"/>
                  </a:moveTo>
                  <a:lnTo>
                    <a:pt x="139" y="230"/>
                  </a:lnTo>
                  <a:lnTo>
                    <a:pt x="2399" y="230"/>
                  </a:lnTo>
                  <a:lnTo>
                    <a:pt x="25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9" name="Freeform 12"/>
            <p:cNvSpPr>
              <a:spLocks/>
            </p:cNvSpPr>
            <p:nvPr/>
          </p:nvSpPr>
          <p:spPr bwMode="auto">
            <a:xfrm>
              <a:off x="3875088" y="3406775"/>
              <a:ext cx="2989262" cy="492125"/>
            </a:xfrm>
            <a:custGeom>
              <a:avLst/>
              <a:gdLst>
                <a:gd name="T0" fmla="*/ 0 w 1883"/>
                <a:gd name="T1" fmla="*/ 0 h 310"/>
                <a:gd name="T2" fmla="*/ 186 w 1883"/>
                <a:gd name="T3" fmla="*/ 310 h 310"/>
                <a:gd name="T4" fmla="*/ 1703 w 1883"/>
                <a:gd name="T5" fmla="*/ 310 h 310"/>
                <a:gd name="T6" fmla="*/ 1883 w 1883"/>
                <a:gd name="T7" fmla="*/ 0 h 310"/>
                <a:gd name="T8" fmla="*/ 0 w 1883"/>
                <a:gd name="T9" fmla="*/ 0 h 310"/>
              </a:gdLst>
              <a:ahLst/>
              <a:cxnLst>
                <a:cxn ang="0">
                  <a:pos x="T0" y="T1"/>
                </a:cxn>
                <a:cxn ang="0">
                  <a:pos x="T2" y="T3"/>
                </a:cxn>
                <a:cxn ang="0">
                  <a:pos x="T4" y="T5"/>
                </a:cxn>
                <a:cxn ang="0">
                  <a:pos x="T6" y="T7"/>
                </a:cxn>
                <a:cxn ang="0">
                  <a:pos x="T8" y="T9"/>
                </a:cxn>
              </a:cxnLst>
              <a:rect l="0" t="0" r="r" b="b"/>
              <a:pathLst>
                <a:path w="1883" h="310">
                  <a:moveTo>
                    <a:pt x="0" y="0"/>
                  </a:moveTo>
                  <a:lnTo>
                    <a:pt x="186" y="310"/>
                  </a:lnTo>
                  <a:lnTo>
                    <a:pt x="1703" y="310"/>
                  </a:lnTo>
                  <a:lnTo>
                    <a:pt x="188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0" name="Freeform 13"/>
            <p:cNvSpPr>
              <a:spLocks/>
            </p:cNvSpPr>
            <p:nvPr/>
          </p:nvSpPr>
          <p:spPr bwMode="auto">
            <a:xfrm>
              <a:off x="3724275" y="4475163"/>
              <a:ext cx="3316287" cy="165100"/>
            </a:xfrm>
            <a:custGeom>
              <a:avLst/>
              <a:gdLst>
                <a:gd name="T0" fmla="*/ 0 w 2089"/>
                <a:gd name="T1" fmla="*/ 104 h 104"/>
                <a:gd name="T2" fmla="*/ 2089 w 2089"/>
                <a:gd name="T3" fmla="*/ 104 h 104"/>
                <a:gd name="T4" fmla="*/ 2025 w 2089"/>
                <a:gd name="T5" fmla="*/ 0 h 104"/>
                <a:gd name="T6" fmla="*/ 62 w 2089"/>
                <a:gd name="T7" fmla="*/ 0 h 104"/>
                <a:gd name="T8" fmla="*/ 0 w 2089"/>
                <a:gd name="T9" fmla="*/ 104 h 104"/>
              </a:gdLst>
              <a:ahLst/>
              <a:cxnLst>
                <a:cxn ang="0">
                  <a:pos x="T0" y="T1"/>
                </a:cxn>
                <a:cxn ang="0">
                  <a:pos x="T2" y="T3"/>
                </a:cxn>
                <a:cxn ang="0">
                  <a:pos x="T4" y="T5"/>
                </a:cxn>
                <a:cxn ang="0">
                  <a:pos x="T6" y="T7"/>
                </a:cxn>
                <a:cxn ang="0">
                  <a:pos x="T8" y="T9"/>
                </a:cxn>
              </a:cxnLst>
              <a:rect l="0" t="0" r="r" b="b"/>
              <a:pathLst>
                <a:path w="2089" h="104">
                  <a:moveTo>
                    <a:pt x="0" y="104"/>
                  </a:moveTo>
                  <a:lnTo>
                    <a:pt x="2089" y="104"/>
                  </a:lnTo>
                  <a:lnTo>
                    <a:pt x="2025" y="0"/>
                  </a:lnTo>
                  <a:lnTo>
                    <a:pt x="62" y="0"/>
                  </a:ln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1" name="Freeform 14"/>
            <p:cNvSpPr>
              <a:spLocks/>
            </p:cNvSpPr>
            <p:nvPr/>
          </p:nvSpPr>
          <p:spPr bwMode="auto">
            <a:xfrm>
              <a:off x="1920875" y="5641975"/>
              <a:ext cx="7000875" cy="2127250"/>
            </a:xfrm>
            <a:custGeom>
              <a:avLst/>
              <a:gdLst>
                <a:gd name="T0" fmla="*/ 773 w 4410"/>
                <a:gd name="T1" fmla="*/ 0 h 1340"/>
                <a:gd name="T2" fmla="*/ 0 w 4410"/>
                <a:gd name="T3" fmla="*/ 1340 h 1340"/>
                <a:gd name="T4" fmla="*/ 4410 w 4410"/>
                <a:gd name="T5" fmla="*/ 1340 h 1340"/>
                <a:gd name="T6" fmla="*/ 3604 w 4410"/>
                <a:gd name="T7" fmla="*/ 0 h 1340"/>
                <a:gd name="T8" fmla="*/ 773 w 4410"/>
                <a:gd name="T9" fmla="*/ 0 h 1340"/>
              </a:gdLst>
              <a:ahLst/>
              <a:cxnLst>
                <a:cxn ang="0">
                  <a:pos x="T0" y="T1"/>
                </a:cxn>
                <a:cxn ang="0">
                  <a:pos x="T2" y="T3"/>
                </a:cxn>
                <a:cxn ang="0">
                  <a:pos x="T4" y="T5"/>
                </a:cxn>
                <a:cxn ang="0">
                  <a:pos x="T6" y="T7"/>
                </a:cxn>
                <a:cxn ang="0">
                  <a:pos x="T8" y="T9"/>
                </a:cxn>
              </a:cxnLst>
              <a:rect l="0" t="0" r="r" b="b"/>
              <a:pathLst>
                <a:path w="4410" h="1340">
                  <a:moveTo>
                    <a:pt x="773" y="0"/>
                  </a:moveTo>
                  <a:lnTo>
                    <a:pt x="0" y="1340"/>
                  </a:lnTo>
                  <a:lnTo>
                    <a:pt x="4410" y="1340"/>
                  </a:lnTo>
                  <a:lnTo>
                    <a:pt x="3604" y="0"/>
                  </a:lnTo>
                  <a:lnTo>
                    <a:pt x="77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Freeform 15"/>
            <p:cNvSpPr>
              <a:spLocks/>
            </p:cNvSpPr>
            <p:nvPr/>
          </p:nvSpPr>
          <p:spPr bwMode="auto">
            <a:xfrm>
              <a:off x="3379788" y="4872038"/>
              <a:ext cx="4021137" cy="365125"/>
            </a:xfrm>
            <a:custGeom>
              <a:avLst/>
              <a:gdLst>
                <a:gd name="T0" fmla="*/ 2533 w 2533"/>
                <a:gd name="T1" fmla="*/ 230 h 230"/>
                <a:gd name="T2" fmla="*/ 2395 w 2533"/>
                <a:gd name="T3" fmla="*/ 0 h 230"/>
                <a:gd name="T4" fmla="*/ 132 w 2533"/>
                <a:gd name="T5" fmla="*/ 0 h 230"/>
                <a:gd name="T6" fmla="*/ 0 w 2533"/>
                <a:gd name="T7" fmla="*/ 230 h 230"/>
                <a:gd name="T8" fmla="*/ 2533 w 2533"/>
                <a:gd name="T9" fmla="*/ 230 h 230"/>
              </a:gdLst>
              <a:ahLst/>
              <a:cxnLst>
                <a:cxn ang="0">
                  <a:pos x="T0" y="T1"/>
                </a:cxn>
                <a:cxn ang="0">
                  <a:pos x="T2" y="T3"/>
                </a:cxn>
                <a:cxn ang="0">
                  <a:pos x="T4" y="T5"/>
                </a:cxn>
                <a:cxn ang="0">
                  <a:pos x="T6" y="T7"/>
                </a:cxn>
                <a:cxn ang="0">
                  <a:pos x="T8" y="T9"/>
                </a:cxn>
              </a:cxnLst>
              <a:rect l="0" t="0" r="r" b="b"/>
              <a:pathLst>
                <a:path w="2533" h="230">
                  <a:moveTo>
                    <a:pt x="2533" y="230"/>
                  </a:moveTo>
                  <a:lnTo>
                    <a:pt x="2395" y="0"/>
                  </a:lnTo>
                  <a:lnTo>
                    <a:pt x="132" y="0"/>
                  </a:lnTo>
                  <a:lnTo>
                    <a:pt x="0" y="230"/>
                  </a:lnTo>
                  <a:lnTo>
                    <a:pt x="253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3" name="Freeform 16"/>
            <p:cNvSpPr>
              <a:spLocks/>
            </p:cNvSpPr>
            <p:nvPr/>
          </p:nvSpPr>
          <p:spPr bwMode="auto">
            <a:xfrm>
              <a:off x="3884613" y="3873500"/>
              <a:ext cx="2989262" cy="492125"/>
            </a:xfrm>
            <a:custGeom>
              <a:avLst/>
              <a:gdLst>
                <a:gd name="T0" fmla="*/ 1883 w 1883"/>
                <a:gd name="T1" fmla="*/ 310 h 310"/>
                <a:gd name="T2" fmla="*/ 1697 w 1883"/>
                <a:gd name="T3" fmla="*/ 0 h 310"/>
                <a:gd name="T4" fmla="*/ 178 w 1883"/>
                <a:gd name="T5" fmla="*/ 0 h 310"/>
                <a:gd name="T6" fmla="*/ 0 w 1883"/>
                <a:gd name="T7" fmla="*/ 310 h 310"/>
                <a:gd name="T8" fmla="*/ 1883 w 1883"/>
                <a:gd name="T9" fmla="*/ 310 h 310"/>
              </a:gdLst>
              <a:ahLst/>
              <a:cxnLst>
                <a:cxn ang="0">
                  <a:pos x="T0" y="T1"/>
                </a:cxn>
                <a:cxn ang="0">
                  <a:pos x="T2" y="T3"/>
                </a:cxn>
                <a:cxn ang="0">
                  <a:pos x="T4" y="T5"/>
                </a:cxn>
                <a:cxn ang="0">
                  <a:pos x="T6" y="T7"/>
                </a:cxn>
                <a:cxn ang="0">
                  <a:pos x="T8" y="T9"/>
                </a:cxn>
              </a:cxnLst>
              <a:rect l="0" t="0" r="r" b="b"/>
              <a:pathLst>
                <a:path w="1883" h="310">
                  <a:moveTo>
                    <a:pt x="1883" y="310"/>
                  </a:moveTo>
                  <a:lnTo>
                    <a:pt x="1697" y="0"/>
                  </a:lnTo>
                  <a:lnTo>
                    <a:pt x="178" y="0"/>
                  </a:lnTo>
                  <a:lnTo>
                    <a:pt x="0" y="310"/>
                  </a:lnTo>
                  <a:lnTo>
                    <a:pt x="1883" y="3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4" name="Freeform 17"/>
            <p:cNvSpPr>
              <a:spLocks/>
            </p:cNvSpPr>
            <p:nvPr/>
          </p:nvSpPr>
          <p:spPr bwMode="auto">
            <a:xfrm>
              <a:off x="3708400" y="3132138"/>
              <a:ext cx="3313112" cy="165100"/>
            </a:xfrm>
            <a:custGeom>
              <a:avLst/>
              <a:gdLst>
                <a:gd name="T0" fmla="*/ 2087 w 2087"/>
                <a:gd name="T1" fmla="*/ 0 h 104"/>
                <a:gd name="T2" fmla="*/ 0 w 2087"/>
                <a:gd name="T3" fmla="*/ 0 h 104"/>
                <a:gd name="T4" fmla="*/ 64 w 2087"/>
                <a:gd name="T5" fmla="*/ 104 h 104"/>
                <a:gd name="T6" fmla="*/ 2028 w 2087"/>
                <a:gd name="T7" fmla="*/ 104 h 104"/>
                <a:gd name="T8" fmla="*/ 2087 w 2087"/>
                <a:gd name="T9" fmla="*/ 0 h 104"/>
              </a:gdLst>
              <a:ahLst/>
              <a:cxnLst>
                <a:cxn ang="0">
                  <a:pos x="T0" y="T1"/>
                </a:cxn>
                <a:cxn ang="0">
                  <a:pos x="T2" y="T3"/>
                </a:cxn>
                <a:cxn ang="0">
                  <a:pos x="T4" y="T5"/>
                </a:cxn>
                <a:cxn ang="0">
                  <a:pos x="T6" y="T7"/>
                </a:cxn>
                <a:cxn ang="0">
                  <a:pos x="T8" y="T9"/>
                </a:cxn>
              </a:cxnLst>
              <a:rect l="0" t="0" r="r" b="b"/>
              <a:pathLst>
                <a:path w="2087" h="104">
                  <a:moveTo>
                    <a:pt x="2087" y="0"/>
                  </a:moveTo>
                  <a:lnTo>
                    <a:pt x="0" y="0"/>
                  </a:lnTo>
                  <a:lnTo>
                    <a:pt x="64" y="104"/>
                  </a:lnTo>
                  <a:lnTo>
                    <a:pt x="2028" y="104"/>
                  </a:lnTo>
                  <a:lnTo>
                    <a:pt x="20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5" name="Freeform 18"/>
            <p:cNvSpPr>
              <a:spLocks/>
            </p:cNvSpPr>
            <p:nvPr/>
          </p:nvSpPr>
          <p:spPr bwMode="auto">
            <a:xfrm>
              <a:off x="1824038" y="3175"/>
              <a:ext cx="7000875" cy="2127250"/>
            </a:xfrm>
            <a:custGeom>
              <a:avLst/>
              <a:gdLst>
                <a:gd name="T0" fmla="*/ 3637 w 4410"/>
                <a:gd name="T1" fmla="*/ 1340 h 1340"/>
                <a:gd name="T2" fmla="*/ 4410 w 4410"/>
                <a:gd name="T3" fmla="*/ 0 h 1340"/>
                <a:gd name="T4" fmla="*/ 0 w 4410"/>
                <a:gd name="T5" fmla="*/ 0 h 1340"/>
                <a:gd name="T6" fmla="*/ 808 w 4410"/>
                <a:gd name="T7" fmla="*/ 1340 h 1340"/>
                <a:gd name="T8" fmla="*/ 3637 w 4410"/>
                <a:gd name="T9" fmla="*/ 1340 h 1340"/>
              </a:gdLst>
              <a:ahLst/>
              <a:cxnLst>
                <a:cxn ang="0">
                  <a:pos x="T0" y="T1"/>
                </a:cxn>
                <a:cxn ang="0">
                  <a:pos x="T2" y="T3"/>
                </a:cxn>
                <a:cxn ang="0">
                  <a:pos x="T4" y="T5"/>
                </a:cxn>
                <a:cxn ang="0">
                  <a:pos x="T6" y="T7"/>
                </a:cxn>
                <a:cxn ang="0">
                  <a:pos x="T8" y="T9"/>
                </a:cxn>
              </a:cxnLst>
              <a:rect l="0" t="0" r="r" b="b"/>
              <a:pathLst>
                <a:path w="4410" h="1340">
                  <a:moveTo>
                    <a:pt x="3637" y="1340"/>
                  </a:moveTo>
                  <a:lnTo>
                    <a:pt x="4410" y="0"/>
                  </a:lnTo>
                  <a:lnTo>
                    <a:pt x="0" y="0"/>
                  </a:lnTo>
                  <a:lnTo>
                    <a:pt x="808" y="1340"/>
                  </a:lnTo>
                  <a:lnTo>
                    <a:pt x="3637" y="13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6" name="Freeform 19"/>
            <p:cNvSpPr>
              <a:spLocks/>
            </p:cNvSpPr>
            <p:nvPr/>
          </p:nvSpPr>
          <p:spPr bwMode="auto">
            <a:xfrm>
              <a:off x="3348038" y="2532063"/>
              <a:ext cx="4017962" cy="365125"/>
            </a:xfrm>
            <a:custGeom>
              <a:avLst/>
              <a:gdLst>
                <a:gd name="T0" fmla="*/ 0 w 2531"/>
                <a:gd name="T1" fmla="*/ 0 h 230"/>
                <a:gd name="T2" fmla="*/ 139 w 2531"/>
                <a:gd name="T3" fmla="*/ 230 h 230"/>
                <a:gd name="T4" fmla="*/ 2399 w 2531"/>
                <a:gd name="T5" fmla="*/ 230 h 230"/>
                <a:gd name="T6" fmla="*/ 2531 w 2531"/>
                <a:gd name="T7" fmla="*/ 0 h 230"/>
                <a:gd name="T8" fmla="*/ 0 w 2531"/>
                <a:gd name="T9" fmla="*/ 0 h 230"/>
              </a:gdLst>
              <a:ahLst/>
              <a:cxnLst>
                <a:cxn ang="0">
                  <a:pos x="T0" y="T1"/>
                </a:cxn>
                <a:cxn ang="0">
                  <a:pos x="T2" y="T3"/>
                </a:cxn>
                <a:cxn ang="0">
                  <a:pos x="T4" y="T5"/>
                </a:cxn>
                <a:cxn ang="0">
                  <a:pos x="T6" y="T7"/>
                </a:cxn>
                <a:cxn ang="0">
                  <a:pos x="T8" y="T9"/>
                </a:cxn>
              </a:cxnLst>
              <a:rect l="0" t="0" r="r" b="b"/>
              <a:pathLst>
                <a:path w="2531" h="230">
                  <a:moveTo>
                    <a:pt x="0" y="0"/>
                  </a:moveTo>
                  <a:lnTo>
                    <a:pt x="139" y="230"/>
                  </a:lnTo>
                  <a:lnTo>
                    <a:pt x="2399" y="230"/>
                  </a:lnTo>
                  <a:lnTo>
                    <a:pt x="2531"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7" name="Freeform 20"/>
            <p:cNvSpPr>
              <a:spLocks/>
            </p:cNvSpPr>
            <p:nvPr/>
          </p:nvSpPr>
          <p:spPr bwMode="auto">
            <a:xfrm>
              <a:off x="3875088" y="3406775"/>
              <a:ext cx="2989262" cy="492125"/>
            </a:xfrm>
            <a:custGeom>
              <a:avLst/>
              <a:gdLst>
                <a:gd name="T0" fmla="*/ 0 w 1883"/>
                <a:gd name="T1" fmla="*/ 0 h 310"/>
                <a:gd name="T2" fmla="*/ 186 w 1883"/>
                <a:gd name="T3" fmla="*/ 310 h 310"/>
                <a:gd name="T4" fmla="*/ 1703 w 1883"/>
                <a:gd name="T5" fmla="*/ 310 h 310"/>
                <a:gd name="T6" fmla="*/ 1883 w 1883"/>
                <a:gd name="T7" fmla="*/ 0 h 310"/>
                <a:gd name="T8" fmla="*/ 0 w 1883"/>
                <a:gd name="T9" fmla="*/ 0 h 310"/>
              </a:gdLst>
              <a:ahLst/>
              <a:cxnLst>
                <a:cxn ang="0">
                  <a:pos x="T0" y="T1"/>
                </a:cxn>
                <a:cxn ang="0">
                  <a:pos x="T2" y="T3"/>
                </a:cxn>
                <a:cxn ang="0">
                  <a:pos x="T4" y="T5"/>
                </a:cxn>
                <a:cxn ang="0">
                  <a:pos x="T6" y="T7"/>
                </a:cxn>
                <a:cxn ang="0">
                  <a:pos x="T8" y="T9"/>
                </a:cxn>
              </a:cxnLst>
              <a:rect l="0" t="0" r="r" b="b"/>
              <a:pathLst>
                <a:path w="1883" h="310">
                  <a:moveTo>
                    <a:pt x="0" y="0"/>
                  </a:moveTo>
                  <a:lnTo>
                    <a:pt x="186" y="310"/>
                  </a:lnTo>
                  <a:lnTo>
                    <a:pt x="1703" y="310"/>
                  </a:lnTo>
                  <a:lnTo>
                    <a:pt x="188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75" name="Group 3074"/>
          <p:cNvGrpSpPr/>
          <p:nvPr/>
        </p:nvGrpSpPr>
        <p:grpSpPr>
          <a:xfrm>
            <a:off x="5976926" y="2445501"/>
            <a:ext cx="2103120" cy="4293285"/>
            <a:chOff x="4402126" y="2445500"/>
            <a:chExt cx="2103120" cy="4293285"/>
          </a:xfrm>
          <a:effectLst>
            <a:outerShdw blurRad="215900" dist="38100" sx="105000" sy="105000" algn="ctr" rotWithShape="0">
              <a:prstClr val="black">
                <a:alpha val="39000"/>
              </a:prstClr>
            </a:outerShdw>
          </a:effectLst>
        </p:grpSpPr>
        <p:sp>
          <p:nvSpPr>
            <p:cNvPr id="3074" name="Rectangle 3073"/>
            <p:cNvSpPr/>
            <p:nvPr/>
          </p:nvSpPr>
          <p:spPr>
            <a:xfrm>
              <a:off x="4678293" y="3132138"/>
              <a:ext cx="1497692" cy="26900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073" name="Picture 3072"/>
            <p:cNvPicPr>
              <a:picLocks noChangeAspect="1"/>
            </p:cNvPicPr>
            <p:nvPr/>
          </p:nvPicPr>
          <p:blipFill>
            <a:blip r:embed="rId2" cstate="print">
              <a:clrChange>
                <a:clrFrom>
                  <a:srgbClr val="FAFAFA"/>
                </a:clrFrom>
                <a:clrTo>
                  <a:srgbClr val="FAFAFA">
                    <a:alpha val="0"/>
                  </a:srgbClr>
                </a:clrTo>
              </a:clrChange>
              <a:extLst>
                <a:ext uri="{28A0092B-C50C-407E-A947-70E740481C1C}">
                  <a14:useLocalDpi xmlns:a14="http://schemas.microsoft.com/office/drawing/2010/main" val="0"/>
                </a:ext>
              </a:extLst>
            </a:blip>
            <a:stretch>
              <a:fillRect/>
            </a:stretch>
          </p:blipFill>
          <p:spPr>
            <a:xfrm>
              <a:off x="4402126" y="2445500"/>
              <a:ext cx="2103120" cy="4293285"/>
            </a:xfrm>
            <a:prstGeom prst="rect">
              <a:avLst/>
            </a:prstGeom>
          </p:spPr>
        </p:pic>
      </p:grpSp>
      <p:sp>
        <p:nvSpPr>
          <p:cNvPr id="30" name="Rectangle 44"/>
          <p:cNvSpPr>
            <a:spLocks noChangeArrowheads="1"/>
          </p:cNvSpPr>
          <p:nvPr/>
        </p:nvSpPr>
        <p:spPr bwMode="auto">
          <a:xfrm>
            <a:off x="9471636" y="2741252"/>
            <a:ext cx="2532989" cy="270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r>
              <a:rPr lang="en-US" altLang="en-US" dirty="0">
                <a:solidFill>
                  <a:srgbClr val="000000"/>
                </a:solidFill>
                <a:latin typeface="Open Sans Extrabold" panose="020B0906030804020204" pitchFamily="34" charset="0"/>
                <a:ea typeface="Open Sans Extrabold" panose="020B0906030804020204" pitchFamily="34" charset="0"/>
                <a:cs typeface="Open Sans Extrabold" panose="020B0906030804020204" pitchFamily="34" charset="0"/>
              </a:rPr>
              <a:t>Get Ready </a:t>
            </a:r>
          </a:p>
          <a:p>
            <a:pPr defTabSz="914400"/>
            <a:r>
              <a:rPr lang="en-US" altLang="en-US" dirty="0">
                <a:solidFill>
                  <a:srgbClr val="000000"/>
                </a:solidFill>
                <a:latin typeface="Open Sans Extrabold" panose="020B0906030804020204" pitchFamily="34" charset="0"/>
                <a:ea typeface="Open Sans Extrabold" panose="020B0906030804020204" pitchFamily="34" charset="0"/>
                <a:cs typeface="Open Sans Extrabold" panose="020B0906030804020204" pitchFamily="34" charset="0"/>
              </a:rPr>
              <a:t>With Me</a:t>
            </a:r>
            <a:endParaRPr lang="en-US" altLang="en-US"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1" name="Rectangle 44"/>
          <p:cNvSpPr>
            <a:spLocks noChangeArrowheads="1"/>
          </p:cNvSpPr>
          <p:nvPr/>
        </p:nvSpPr>
        <p:spPr bwMode="auto">
          <a:xfrm>
            <a:off x="9284505" y="4355240"/>
            <a:ext cx="3504041" cy="198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lnSpc>
                <a:spcPct val="110000"/>
              </a:lnSpc>
            </a:pPr>
            <a:r>
              <a:rPr lang="en-US" sz="1400" b="0" i="0" dirty="0">
                <a:solidFill>
                  <a:srgbClr val="374151"/>
                </a:solidFill>
                <a:effectLst/>
                <a:latin typeface="Söhne"/>
              </a:rPr>
              <a:t>Meanwhile, trends like GRWM (Get Ready With Me) would assist in generating new sales by demonstrating how to create appealing looks that would attract new customers and introduce them to our products</a:t>
            </a:r>
            <a:endParaRPr lang="en-US" altLang="en-US" sz="1400" dirty="0">
              <a:solidFill>
                <a:schemeClr val="accent6"/>
              </a:solidFill>
            </a:endParaRPr>
          </a:p>
        </p:txBody>
      </p:sp>
      <p:sp>
        <p:nvSpPr>
          <p:cNvPr id="2" name="Oval 1"/>
          <p:cNvSpPr>
            <a:spLocks noChangeAspect="1"/>
          </p:cNvSpPr>
          <p:nvPr/>
        </p:nvSpPr>
        <p:spPr>
          <a:xfrm>
            <a:off x="6411119" y="2783368"/>
            <a:ext cx="223838" cy="2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Oval 31"/>
          <p:cNvSpPr>
            <a:spLocks noChangeAspect="1"/>
          </p:cNvSpPr>
          <p:nvPr/>
        </p:nvSpPr>
        <p:spPr>
          <a:xfrm>
            <a:off x="4745037" y="2857467"/>
            <a:ext cx="77788" cy="794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6" name="Straight Connector 5"/>
          <p:cNvCxnSpPr>
            <a:stCxn id="32" idx="6"/>
            <a:endCxn id="2" idx="2"/>
          </p:cNvCxnSpPr>
          <p:nvPr/>
        </p:nvCxnSpPr>
        <p:spPr>
          <a:xfrm>
            <a:off x="4822825" y="2897188"/>
            <a:ext cx="1588294" cy="4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Oval 35"/>
          <p:cNvSpPr>
            <a:spLocks noChangeAspect="1"/>
          </p:cNvSpPr>
          <p:nvPr/>
        </p:nvSpPr>
        <p:spPr>
          <a:xfrm>
            <a:off x="7373145" y="2783368"/>
            <a:ext cx="223838" cy="2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7" name="Straight Connector 36"/>
          <p:cNvCxnSpPr>
            <a:stCxn id="36" idx="6"/>
            <a:endCxn id="38" idx="2"/>
          </p:cNvCxnSpPr>
          <p:nvPr/>
        </p:nvCxnSpPr>
        <p:spPr>
          <a:xfrm flipV="1">
            <a:off x="7596983" y="2897188"/>
            <a:ext cx="1616554" cy="4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Oval 37"/>
          <p:cNvSpPr>
            <a:spLocks noChangeAspect="1"/>
          </p:cNvSpPr>
          <p:nvPr/>
        </p:nvSpPr>
        <p:spPr>
          <a:xfrm>
            <a:off x="9213537" y="2857467"/>
            <a:ext cx="77788" cy="794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Oval 39"/>
          <p:cNvSpPr>
            <a:spLocks noChangeAspect="1"/>
          </p:cNvSpPr>
          <p:nvPr/>
        </p:nvSpPr>
        <p:spPr>
          <a:xfrm>
            <a:off x="6458746" y="5235578"/>
            <a:ext cx="223838" cy="2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Oval 40"/>
          <p:cNvSpPr>
            <a:spLocks noChangeAspect="1"/>
          </p:cNvSpPr>
          <p:nvPr/>
        </p:nvSpPr>
        <p:spPr>
          <a:xfrm>
            <a:off x="4883944" y="4975787"/>
            <a:ext cx="77788" cy="794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Oval 42"/>
          <p:cNvSpPr>
            <a:spLocks noChangeAspect="1"/>
          </p:cNvSpPr>
          <p:nvPr/>
        </p:nvSpPr>
        <p:spPr>
          <a:xfrm>
            <a:off x="7349330" y="5235578"/>
            <a:ext cx="223838" cy="2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Oval 44"/>
          <p:cNvSpPr>
            <a:spLocks noChangeAspect="1"/>
          </p:cNvSpPr>
          <p:nvPr/>
        </p:nvSpPr>
        <p:spPr>
          <a:xfrm>
            <a:off x="9075422" y="4975787"/>
            <a:ext cx="77788" cy="7944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8" name="Elbow Connector 47"/>
          <p:cNvCxnSpPr>
            <a:stCxn id="41" idx="6"/>
            <a:endCxn id="40" idx="0"/>
          </p:cNvCxnSpPr>
          <p:nvPr/>
        </p:nvCxnSpPr>
        <p:spPr>
          <a:xfrm>
            <a:off x="4961733" y="5015508"/>
            <a:ext cx="1608933" cy="220070"/>
          </a:xfrm>
          <a:prstGeom prst="bentConnector2">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3" name="Elbow Connector 52"/>
          <p:cNvCxnSpPr>
            <a:stCxn id="45" idx="2"/>
            <a:endCxn id="43" idx="0"/>
          </p:cNvCxnSpPr>
          <p:nvPr/>
        </p:nvCxnSpPr>
        <p:spPr>
          <a:xfrm rot="10800000" flipV="1">
            <a:off x="7461251" y="5015508"/>
            <a:ext cx="1614173" cy="220070"/>
          </a:xfrm>
          <a:prstGeom prst="bentConnector2">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1" name="Rectangle 44"/>
          <p:cNvSpPr>
            <a:spLocks noChangeArrowheads="1"/>
          </p:cNvSpPr>
          <p:nvPr/>
        </p:nvSpPr>
        <p:spPr bwMode="auto">
          <a:xfrm>
            <a:off x="2428567" y="2744536"/>
            <a:ext cx="2011680" cy="31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defTabSz="914400"/>
            <a:r>
              <a:rPr lang="en-US" b="1" i="0" dirty="0">
                <a:solidFill>
                  <a:srgbClr val="374151"/>
                </a:solidFill>
                <a:effectLst/>
                <a:latin typeface="Söhne"/>
              </a:rPr>
              <a:t>Combining clothes in the right way</a:t>
            </a:r>
            <a:endParaRPr lang="en-US" altLang="en-US" b="1"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62" name="Rectangle 44"/>
          <p:cNvSpPr>
            <a:spLocks noChangeArrowheads="1"/>
          </p:cNvSpPr>
          <p:nvPr/>
        </p:nvSpPr>
        <p:spPr bwMode="auto">
          <a:xfrm>
            <a:off x="1575079" y="4093874"/>
            <a:ext cx="3021974" cy="180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defTabSz="914400">
              <a:lnSpc>
                <a:spcPct val="110000"/>
              </a:lnSpc>
            </a:pPr>
            <a:r>
              <a:rPr lang="en-US" sz="1400" b="0" i="0" dirty="0">
                <a:solidFill>
                  <a:srgbClr val="374151"/>
                </a:solidFill>
                <a:effectLst/>
                <a:latin typeface="Söhne"/>
              </a:rPr>
              <a:t>Trends like showcasing how to better mix and match clothing pieces would be a great success to invest in cross-selling marketing for our community of customers who may not yet have all the pieces to complete their ensemble.</a:t>
            </a:r>
            <a:endParaRPr lang="en-US" altLang="en-US" sz="1400" dirty="0">
              <a:solidFill>
                <a:schemeClr val="accent6"/>
              </a:solidFill>
            </a:endParaRPr>
          </a:p>
        </p:txBody>
      </p:sp>
      <p:sp>
        <p:nvSpPr>
          <p:cNvPr id="67" name="TextBox 66"/>
          <p:cNvSpPr txBox="1"/>
          <p:nvPr/>
        </p:nvSpPr>
        <p:spPr>
          <a:xfrm>
            <a:off x="4711405" y="981906"/>
            <a:ext cx="4845292" cy="414588"/>
          </a:xfrm>
          <a:prstGeom prst="rect">
            <a:avLst/>
          </a:prstGeom>
          <a:noFill/>
        </p:spPr>
        <p:txBody>
          <a:bodyPr wrap="square" lIns="0" tIns="0" rIns="0" bIns="0" rtlCol="0">
            <a:noAutofit/>
          </a:bodyPr>
          <a:lstStyle/>
          <a:p>
            <a:pPr algn="ctr">
              <a:lnSpc>
                <a:spcPts val="3400"/>
              </a:lnSpc>
            </a:pPr>
            <a:r>
              <a:rPr lang="en-GB" sz="3600" spc="1080" dirty="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rPr>
              <a:t>INFLUENCERS</a:t>
            </a:r>
          </a:p>
        </p:txBody>
      </p:sp>
      <p:pic>
        <p:nvPicPr>
          <p:cNvPr id="5" name="Imagem 4">
            <a:extLst>
              <a:ext uri="{FF2B5EF4-FFF2-40B4-BE49-F238E27FC236}">
                <a16:creationId xmlns:a16="http://schemas.microsoft.com/office/drawing/2014/main" id="{697E554C-CB57-9FA3-1CF8-A0F410F2DC23}"/>
              </a:ext>
            </a:extLst>
          </p:cNvPr>
          <p:cNvPicPr>
            <a:picLocks noChangeAspect="1"/>
          </p:cNvPicPr>
          <p:nvPr/>
        </p:nvPicPr>
        <p:blipFill>
          <a:blip r:embed="rId3"/>
          <a:stretch>
            <a:fillRect/>
          </a:stretch>
        </p:blipFill>
        <p:spPr>
          <a:xfrm>
            <a:off x="11747863" y="-1545"/>
            <a:ext cx="2035527" cy="3852961"/>
          </a:xfrm>
          <a:prstGeom prst="rect">
            <a:avLst/>
          </a:prstGeom>
        </p:spPr>
      </p:pic>
      <p:pic>
        <p:nvPicPr>
          <p:cNvPr id="8" name="Imagem 7">
            <a:extLst>
              <a:ext uri="{FF2B5EF4-FFF2-40B4-BE49-F238E27FC236}">
                <a16:creationId xmlns:a16="http://schemas.microsoft.com/office/drawing/2014/main" id="{5EBA9589-376C-CC25-0C63-6AD3882BB350}"/>
              </a:ext>
            </a:extLst>
          </p:cNvPr>
          <p:cNvPicPr>
            <a:picLocks noChangeAspect="1"/>
          </p:cNvPicPr>
          <p:nvPr/>
        </p:nvPicPr>
        <p:blipFill>
          <a:blip r:embed="rId4"/>
          <a:stretch>
            <a:fillRect/>
          </a:stretch>
        </p:blipFill>
        <p:spPr>
          <a:xfrm>
            <a:off x="-19930" y="12700"/>
            <a:ext cx="2172029" cy="4081174"/>
          </a:xfrm>
          <a:prstGeom prst="rect">
            <a:avLst/>
          </a:prstGeom>
        </p:spPr>
      </p:pic>
    </p:spTree>
    <p:extLst>
      <p:ext uri="{BB962C8B-B14F-4D97-AF65-F5344CB8AC3E}">
        <p14:creationId xmlns:p14="http://schemas.microsoft.com/office/powerpoint/2010/main" val="1253760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0" y="0"/>
            <a:ext cx="6327648" cy="7772400"/>
          </a:xfrm>
          <a:prstGeom prst="rect">
            <a:avLst/>
          </a:prstGeom>
        </p:spPr>
      </p:pic>
      <p:sp>
        <p:nvSpPr>
          <p:cNvPr id="10" name="Freeform 9"/>
          <p:cNvSpPr/>
          <p:nvPr/>
        </p:nvSpPr>
        <p:spPr>
          <a:xfrm>
            <a:off x="3822700" y="0"/>
            <a:ext cx="9994900" cy="7772400"/>
          </a:xfrm>
          <a:custGeom>
            <a:avLst/>
            <a:gdLst>
              <a:gd name="connsiteX0" fmla="*/ 5905500 w 9994900"/>
              <a:gd name="connsiteY0" fmla="*/ 0 h 7772400"/>
              <a:gd name="connsiteX1" fmla="*/ 6235700 w 9994900"/>
              <a:gd name="connsiteY1" fmla="*/ 0 h 7772400"/>
              <a:gd name="connsiteX2" fmla="*/ 9994900 w 9994900"/>
              <a:gd name="connsiteY2" fmla="*/ 0 h 7772400"/>
              <a:gd name="connsiteX3" fmla="*/ 9994900 w 9994900"/>
              <a:gd name="connsiteY3" fmla="*/ 7772400 h 7772400"/>
              <a:gd name="connsiteX4" fmla="*/ 6235700 w 9994900"/>
              <a:gd name="connsiteY4" fmla="*/ 7772400 h 7772400"/>
              <a:gd name="connsiteX5" fmla="*/ 5905500 w 9994900"/>
              <a:gd name="connsiteY5" fmla="*/ 7772400 h 7772400"/>
              <a:gd name="connsiteX6" fmla="*/ 0 w 9994900"/>
              <a:gd name="connsiteY6" fmla="*/ 7772400 h 7772400"/>
              <a:gd name="connsiteX7" fmla="*/ 2152650 w 9994900"/>
              <a:gd name="connsiteY7" fmla="*/ 9525 h 7772400"/>
              <a:gd name="connsiteX8" fmla="*/ 5905500 w 9994900"/>
              <a:gd name="connsiteY8" fmla="*/ 77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4900" h="7772400">
                <a:moveTo>
                  <a:pt x="5905500" y="0"/>
                </a:moveTo>
                <a:lnTo>
                  <a:pt x="6235700" y="0"/>
                </a:lnTo>
                <a:lnTo>
                  <a:pt x="9994900" y="0"/>
                </a:lnTo>
                <a:lnTo>
                  <a:pt x="9994900" y="7772400"/>
                </a:lnTo>
                <a:lnTo>
                  <a:pt x="6235700" y="7772400"/>
                </a:lnTo>
                <a:lnTo>
                  <a:pt x="5905500" y="7772400"/>
                </a:lnTo>
                <a:lnTo>
                  <a:pt x="0" y="7772400"/>
                </a:lnTo>
                <a:lnTo>
                  <a:pt x="2152650" y="9525"/>
                </a:lnTo>
                <a:lnTo>
                  <a:pt x="5905500" y="77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099" name="TextBox 3098"/>
          <p:cNvSpPr txBox="1"/>
          <p:nvPr/>
        </p:nvSpPr>
        <p:spPr>
          <a:xfrm>
            <a:off x="5794340" y="5061570"/>
            <a:ext cx="6656740" cy="1555131"/>
          </a:xfrm>
          <a:prstGeom prst="rect">
            <a:avLst/>
          </a:prstGeom>
          <a:noFill/>
        </p:spPr>
        <p:txBody>
          <a:bodyPr wrap="square" lIns="0" tIns="0" rIns="0" bIns="0" rtlCol="0">
            <a:noAutofit/>
          </a:bodyPr>
          <a:lstStyle/>
          <a:p>
            <a:pPr>
              <a:lnSpc>
                <a:spcPts val="3400"/>
              </a:lnSpc>
            </a:pPr>
            <a:r>
              <a:rPr lang="en-US" sz="3600" b="0" i="0" dirty="0">
                <a:solidFill>
                  <a:schemeClr val="bg1"/>
                </a:solidFill>
                <a:effectLst/>
                <a:latin typeface="Söhne"/>
              </a:rPr>
              <a:t>I am open to questions or to present this </a:t>
            </a:r>
            <a:r>
              <a:rPr lang="en-US" sz="3600" dirty="0">
                <a:solidFill>
                  <a:schemeClr val="bg1"/>
                </a:solidFill>
                <a:latin typeface="Söhne"/>
              </a:rPr>
              <a:t>material</a:t>
            </a:r>
            <a:r>
              <a:rPr lang="en-GB" sz="3600" dirty="0">
                <a:solidFill>
                  <a:schemeClr val="bg1"/>
                </a:solidFill>
                <a:latin typeface="Söhne"/>
              </a:rPr>
              <a:t>.</a:t>
            </a:r>
          </a:p>
        </p:txBody>
      </p:sp>
      <p:sp>
        <p:nvSpPr>
          <p:cNvPr id="5" name="TextBox 4"/>
          <p:cNvSpPr txBox="1"/>
          <p:nvPr/>
        </p:nvSpPr>
        <p:spPr>
          <a:xfrm>
            <a:off x="5794340" y="4621902"/>
            <a:ext cx="6215415" cy="315858"/>
          </a:xfrm>
          <a:prstGeom prst="rect">
            <a:avLst/>
          </a:prstGeom>
          <a:noFill/>
        </p:spPr>
        <p:txBody>
          <a:bodyPr wrap="square" lIns="0" tIns="0" rIns="0" bIns="0" rtlCol="0">
            <a:noAutofit/>
          </a:bodyPr>
          <a:lstStyle/>
          <a:p>
            <a:r>
              <a:rPr lang="en-US" sz="1400" b="1" spc="420" dirty="0">
                <a:solidFill>
                  <a:schemeClr val="accent3"/>
                </a:solidFill>
              </a:rPr>
              <a:t>Thank you very much for making it this far!</a:t>
            </a:r>
            <a:endParaRPr lang="en-GB" sz="1400" b="1" spc="420" dirty="0">
              <a:solidFill>
                <a:schemeClr val="accent3"/>
              </a:solidFill>
            </a:endParaRPr>
          </a:p>
        </p:txBody>
      </p:sp>
      <p:sp>
        <p:nvSpPr>
          <p:cNvPr id="8" name="Freeform 5"/>
          <p:cNvSpPr>
            <a:spLocks/>
          </p:cNvSpPr>
          <p:nvPr/>
        </p:nvSpPr>
        <p:spPr bwMode="auto">
          <a:xfrm>
            <a:off x="6061077" y="360210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 name="Freeform 6"/>
          <p:cNvSpPr>
            <a:spLocks/>
          </p:cNvSpPr>
          <p:nvPr/>
        </p:nvSpPr>
        <p:spPr bwMode="auto">
          <a:xfrm>
            <a:off x="5853114" y="360210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249658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354037" cy="7772400"/>
          </a:xfrm>
          <a:prstGeom prst="rect">
            <a:avLst/>
          </a:prstGeom>
        </p:spPr>
      </p:pic>
      <p:sp>
        <p:nvSpPr>
          <p:cNvPr id="12" name="Rectangle 11"/>
          <p:cNvSpPr/>
          <p:nvPr/>
        </p:nvSpPr>
        <p:spPr>
          <a:xfrm>
            <a:off x="0" y="0"/>
            <a:ext cx="7378938" cy="7772400"/>
          </a:xfrm>
          <a:prstGeom prst="rect">
            <a:avLst/>
          </a:prstGeom>
          <a:solidFill>
            <a:srgbClr val="FFFFFF">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Freeform 16"/>
          <p:cNvSpPr/>
          <p:nvPr/>
        </p:nvSpPr>
        <p:spPr>
          <a:xfrm>
            <a:off x="3738096" y="0"/>
            <a:ext cx="10079504" cy="7772400"/>
          </a:xfrm>
          <a:custGeom>
            <a:avLst/>
            <a:gdLst>
              <a:gd name="connsiteX0" fmla="*/ 0 w 10079504"/>
              <a:gd name="connsiteY0" fmla="*/ 0 h 7772400"/>
              <a:gd name="connsiteX1" fmla="*/ 5958354 w 10079504"/>
              <a:gd name="connsiteY1" fmla="*/ 0 h 7772400"/>
              <a:gd name="connsiteX2" fmla="*/ 6320304 w 10079504"/>
              <a:gd name="connsiteY2" fmla="*/ 0 h 7772400"/>
              <a:gd name="connsiteX3" fmla="*/ 10079504 w 10079504"/>
              <a:gd name="connsiteY3" fmla="*/ 0 h 7772400"/>
              <a:gd name="connsiteX4" fmla="*/ 10079504 w 10079504"/>
              <a:gd name="connsiteY4" fmla="*/ 7772400 h 7772400"/>
              <a:gd name="connsiteX5" fmla="*/ 6320304 w 10079504"/>
              <a:gd name="connsiteY5" fmla="*/ 7772400 h 7772400"/>
              <a:gd name="connsiteX6" fmla="*/ 5958354 w 10079504"/>
              <a:gd name="connsiteY6" fmla="*/ 7772400 h 7772400"/>
              <a:gd name="connsiteX7" fmla="*/ 3663702 w 10079504"/>
              <a:gd name="connsiteY7" fmla="*/ 7772400 h 777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79504" h="7772400">
                <a:moveTo>
                  <a:pt x="0" y="0"/>
                </a:moveTo>
                <a:lnTo>
                  <a:pt x="5958354" y="0"/>
                </a:lnTo>
                <a:lnTo>
                  <a:pt x="6320304" y="0"/>
                </a:lnTo>
                <a:lnTo>
                  <a:pt x="10079504" y="0"/>
                </a:lnTo>
                <a:lnTo>
                  <a:pt x="10079504" y="7772400"/>
                </a:lnTo>
                <a:lnTo>
                  <a:pt x="6320304" y="7772400"/>
                </a:lnTo>
                <a:lnTo>
                  <a:pt x="5958354" y="7772400"/>
                </a:lnTo>
                <a:lnTo>
                  <a:pt x="3663702" y="7772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6" name="Freeform 45"/>
          <p:cNvSpPr/>
          <p:nvPr/>
        </p:nvSpPr>
        <p:spPr>
          <a:xfrm rot="19165683">
            <a:off x="4067268" y="-600807"/>
            <a:ext cx="172946" cy="4530298"/>
          </a:xfrm>
          <a:custGeom>
            <a:avLst/>
            <a:gdLst>
              <a:gd name="connsiteX0" fmla="*/ 172946 w 172946"/>
              <a:gd name="connsiteY0" fmla="*/ 148085 h 4530298"/>
              <a:gd name="connsiteX1" fmla="*/ 172946 w 172946"/>
              <a:gd name="connsiteY1" fmla="*/ 4530298 h 4530298"/>
              <a:gd name="connsiteX2" fmla="*/ 0 w 172946"/>
              <a:gd name="connsiteY2" fmla="*/ 4382212 h 4530298"/>
              <a:gd name="connsiteX3" fmla="*/ 0 w 172946"/>
              <a:gd name="connsiteY3" fmla="*/ 0 h 4530298"/>
            </a:gdLst>
            <a:ahLst/>
            <a:cxnLst>
              <a:cxn ang="0">
                <a:pos x="connsiteX0" y="connsiteY0"/>
              </a:cxn>
              <a:cxn ang="0">
                <a:pos x="connsiteX1" y="connsiteY1"/>
              </a:cxn>
              <a:cxn ang="0">
                <a:pos x="connsiteX2" y="connsiteY2"/>
              </a:cxn>
              <a:cxn ang="0">
                <a:pos x="connsiteX3" y="connsiteY3"/>
              </a:cxn>
            </a:cxnLst>
            <a:rect l="l" t="t" r="r" b="b"/>
            <a:pathLst>
              <a:path w="172946" h="4530298">
                <a:moveTo>
                  <a:pt x="172946" y="148085"/>
                </a:moveTo>
                <a:lnTo>
                  <a:pt x="172946" y="4530298"/>
                </a:lnTo>
                <a:lnTo>
                  <a:pt x="0" y="4382212"/>
                </a:lnTo>
                <a:lnTo>
                  <a:pt x="0" y="0"/>
                </a:lnTo>
                <a:close/>
              </a:path>
            </a:pathLst>
          </a:custGeom>
          <a:solidFill>
            <a:schemeClr val="tx1">
              <a:alpha val="14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Freeform 46"/>
          <p:cNvSpPr/>
          <p:nvPr/>
        </p:nvSpPr>
        <p:spPr>
          <a:xfrm rot="19165683">
            <a:off x="7014149" y="1521495"/>
            <a:ext cx="172946" cy="7168885"/>
          </a:xfrm>
          <a:custGeom>
            <a:avLst/>
            <a:gdLst>
              <a:gd name="connsiteX0" fmla="*/ 172946 w 172946"/>
              <a:gd name="connsiteY0" fmla="*/ 0 h 7168885"/>
              <a:gd name="connsiteX1" fmla="*/ 172946 w 172946"/>
              <a:gd name="connsiteY1" fmla="*/ 7168885 h 7168885"/>
              <a:gd name="connsiteX2" fmla="*/ 1 w 172946"/>
              <a:gd name="connsiteY2" fmla="*/ 7020799 h 7168885"/>
              <a:gd name="connsiteX3" fmla="*/ 0 w 172946"/>
              <a:gd name="connsiteY3" fmla="*/ 630713 h 7168885"/>
            </a:gdLst>
            <a:ahLst/>
            <a:cxnLst>
              <a:cxn ang="0">
                <a:pos x="connsiteX0" y="connsiteY0"/>
              </a:cxn>
              <a:cxn ang="0">
                <a:pos x="connsiteX1" y="connsiteY1"/>
              </a:cxn>
              <a:cxn ang="0">
                <a:pos x="connsiteX2" y="connsiteY2"/>
              </a:cxn>
              <a:cxn ang="0">
                <a:pos x="connsiteX3" y="connsiteY3"/>
              </a:cxn>
            </a:cxnLst>
            <a:rect l="l" t="t" r="r" b="b"/>
            <a:pathLst>
              <a:path w="172946" h="7168885">
                <a:moveTo>
                  <a:pt x="172946" y="0"/>
                </a:moveTo>
                <a:lnTo>
                  <a:pt x="172946" y="7168885"/>
                </a:lnTo>
                <a:lnTo>
                  <a:pt x="1" y="7020799"/>
                </a:lnTo>
                <a:lnTo>
                  <a:pt x="0" y="63071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Rectangle 47"/>
          <p:cNvSpPr/>
          <p:nvPr/>
        </p:nvSpPr>
        <p:spPr>
          <a:xfrm>
            <a:off x="1333049" y="3174247"/>
            <a:ext cx="3427827" cy="646331"/>
          </a:xfrm>
          <a:prstGeom prst="rect">
            <a:avLst/>
          </a:prstGeom>
        </p:spPr>
        <p:txBody>
          <a:bodyPr wrap="square">
            <a:spAutoFit/>
          </a:bodyPr>
          <a:lstStyle/>
          <a:p>
            <a:r>
              <a:rPr lang="en-GB" sz="3600" b="1" spc="90" dirty="0">
                <a:solidFill>
                  <a:schemeClr val="tx2"/>
                </a:solidFill>
              </a:rPr>
              <a:t>Thank you</a:t>
            </a:r>
          </a:p>
        </p:txBody>
      </p:sp>
      <p:sp>
        <p:nvSpPr>
          <p:cNvPr id="49" name="Rectangle 44"/>
          <p:cNvSpPr>
            <a:spLocks noChangeArrowheads="1"/>
          </p:cNvSpPr>
          <p:nvPr/>
        </p:nvSpPr>
        <p:spPr bwMode="auto">
          <a:xfrm>
            <a:off x="9009943" y="1292172"/>
            <a:ext cx="3496879" cy="1298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lnSpc>
                <a:spcPct val="110000"/>
              </a:lnSpc>
            </a:pPr>
            <a:r>
              <a:rPr lang="en-US" sz="3200" dirty="0">
                <a:solidFill>
                  <a:schemeClr val="bg1"/>
                </a:solidFill>
              </a:rPr>
              <a:t>Senior Consumer Data Analyst Candidate</a:t>
            </a:r>
            <a:endParaRPr lang="en-US" altLang="en-US" sz="2400"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5" name="Rectangle 4"/>
          <p:cNvSpPr/>
          <p:nvPr/>
        </p:nvSpPr>
        <p:spPr>
          <a:xfrm>
            <a:off x="9032081" y="2893512"/>
            <a:ext cx="2895600" cy="6844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Parallelogram 5"/>
          <p:cNvSpPr/>
          <p:nvPr/>
        </p:nvSpPr>
        <p:spPr>
          <a:xfrm>
            <a:off x="10327483" y="2893511"/>
            <a:ext cx="1102518" cy="681036"/>
          </a:xfrm>
          <a:custGeom>
            <a:avLst/>
            <a:gdLst>
              <a:gd name="connsiteX0" fmla="*/ 0 w 1102518"/>
              <a:gd name="connsiteY0" fmla="*/ 681036 h 681036"/>
              <a:gd name="connsiteX1" fmla="*/ 320278 w 1102518"/>
              <a:gd name="connsiteY1" fmla="*/ 0 h 681036"/>
              <a:gd name="connsiteX2" fmla="*/ 1102518 w 1102518"/>
              <a:gd name="connsiteY2" fmla="*/ 0 h 681036"/>
              <a:gd name="connsiteX3" fmla="*/ 782240 w 1102518"/>
              <a:gd name="connsiteY3" fmla="*/ 681036 h 681036"/>
              <a:gd name="connsiteX4" fmla="*/ 0 w 1102518"/>
              <a:gd name="connsiteY4" fmla="*/ 681036 h 681036"/>
              <a:gd name="connsiteX0" fmla="*/ 0 w 1102518"/>
              <a:gd name="connsiteY0" fmla="*/ 681036 h 683417"/>
              <a:gd name="connsiteX1" fmla="*/ 320278 w 1102518"/>
              <a:gd name="connsiteY1" fmla="*/ 0 h 683417"/>
              <a:gd name="connsiteX2" fmla="*/ 1102518 w 1102518"/>
              <a:gd name="connsiteY2" fmla="*/ 0 h 683417"/>
              <a:gd name="connsiteX3" fmla="*/ 844153 w 1102518"/>
              <a:gd name="connsiteY3" fmla="*/ 683417 h 683417"/>
              <a:gd name="connsiteX4" fmla="*/ 0 w 1102518"/>
              <a:gd name="connsiteY4" fmla="*/ 681036 h 683417"/>
              <a:gd name="connsiteX0" fmla="*/ 0 w 1102518"/>
              <a:gd name="connsiteY0" fmla="*/ 681036 h 683417"/>
              <a:gd name="connsiteX1" fmla="*/ 320278 w 1102518"/>
              <a:gd name="connsiteY1" fmla="*/ 0 h 683417"/>
              <a:gd name="connsiteX2" fmla="*/ 1102518 w 1102518"/>
              <a:gd name="connsiteY2" fmla="*/ 0 h 683417"/>
              <a:gd name="connsiteX3" fmla="*/ 839391 w 1102518"/>
              <a:gd name="connsiteY3" fmla="*/ 683417 h 683417"/>
              <a:gd name="connsiteX4" fmla="*/ 0 w 1102518"/>
              <a:gd name="connsiteY4" fmla="*/ 681036 h 683417"/>
              <a:gd name="connsiteX0" fmla="*/ 0 w 1102518"/>
              <a:gd name="connsiteY0" fmla="*/ 681036 h 681036"/>
              <a:gd name="connsiteX1" fmla="*/ 320278 w 1102518"/>
              <a:gd name="connsiteY1" fmla="*/ 0 h 681036"/>
              <a:gd name="connsiteX2" fmla="*/ 1102518 w 1102518"/>
              <a:gd name="connsiteY2" fmla="*/ 0 h 681036"/>
              <a:gd name="connsiteX3" fmla="*/ 839391 w 1102518"/>
              <a:gd name="connsiteY3" fmla="*/ 681036 h 681036"/>
              <a:gd name="connsiteX4" fmla="*/ 0 w 1102518"/>
              <a:gd name="connsiteY4" fmla="*/ 681036 h 68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2518" h="681036">
                <a:moveTo>
                  <a:pt x="0" y="681036"/>
                </a:moveTo>
                <a:lnTo>
                  <a:pt x="320278" y="0"/>
                </a:lnTo>
                <a:lnTo>
                  <a:pt x="1102518" y="0"/>
                </a:lnTo>
                <a:lnTo>
                  <a:pt x="839391" y="681036"/>
                </a:lnTo>
                <a:lnTo>
                  <a:pt x="0" y="681036"/>
                </a:lnTo>
                <a:close/>
              </a:path>
            </a:pathLst>
          </a:custGeom>
          <a:solidFill>
            <a:srgbClr val="EE5F4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Rectangle 44"/>
          <p:cNvSpPr>
            <a:spLocks noChangeArrowheads="1"/>
          </p:cNvSpPr>
          <p:nvPr/>
        </p:nvSpPr>
        <p:spPr bwMode="auto">
          <a:xfrm>
            <a:off x="9196885" y="3089127"/>
            <a:ext cx="2160726" cy="30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lnSpc>
                <a:spcPct val="110000"/>
              </a:lnSpc>
            </a:pPr>
            <a:r>
              <a:rPr lang="en-US" altLang="en-US" sz="2000"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Gabriel Gregório</a:t>
            </a:r>
            <a:endParaRPr lang="en-US" altLang="en-US" sz="3600" dirty="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6" name="Freeform 5"/>
          <p:cNvSpPr>
            <a:spLocks/>
          </p:cNvSpPr>
          <p:nvPr/>
        </p:nvSpPr>
        <p:spPr bwMode="auto">
          <a:xfrm>
            <a:off x="1070318" y="2818337"/>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6"/>
          <p:cNvSpPr>
            <a:spLocks/>
          </p:cNvSpPr>
          <p:nvPr/>
        </p:nvSpPr>
        <p:spPr bwMode="auto">
          <a:xfrm>
            <a:off x="862355" y="2818337"/>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726440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p:cNvSpPr/>
          <p:nvPr/>
        </p:nvSpPr>
        <p:spPr>
          <a:xfrm>
            <a:off x="0" y="1494971"/>
            <a:ext cx="12162971" cy="6277429"/>
          </a:xfrm>
          <a:custGeom>
            <a:avLst/>
            <a:gdLst>
              <a:gd name="connsiteX0" fmla="*/ 0 w 8610600"/>
              <a:gd name="connsiteY0" fmla="*/ 0 h 6010275"/>
              <a:gd name="connsiteX1" fmla="*/ 4514850 w 8610600"/>
              <a:gd name="connsiteY1" fmla="*/ 533400 h 6010275"/>
              <a:gd name="connsiteX2" fmla="*/ 8610600 w 8610600"/>
              <a:gd name="connsiteY2" fmla="*/ 3676650 h 6010275"/>
              <a:gd name="connsiteX3" fmla="*/ 1571625 w 8610600"/>
              <a:gd name="connsiteY3" fmla="*/ 6010275 h 6010275"/>
              <a:gd name="connsiteX4" fmla="*/ 19050 w 8610600"/>
              <a:gd name="connsiteY4" fmla="*/ 4572000 h 6010275"/>
              <a:gd name="connsiteX5" fmla="*/ 0 w 8610600"/>
              <a:gd name="connsiteY5" fmla="*/ 0 h 6010275"/>
              <a:gd name="connsiteX0" fmla="*/ 4762 w 8591550"/>
              <a:gd name="connsiteY0" fmla="*/ 0 h 6007894"/>
              <a:gd name="connsiteX1" fmla="*/ 4495800 w 8591550"/>
              <a:gd name="connsiteY1" fmla="*/ 531019 h 6007894"/>
              <a:gd name="connsiteX2" fmla="*/ 8591550 w 8591550"/>
              <a:gd name="connsiteY2" fmla="*/ 3674269 h 6007894"/>
              <a:gd name="connsiteX3" fmla="*/ 1552575 w 8591550"/>
              <a:gd name="connsiteY3" fmla="*/ 6007894 h 6007894"/>
              <a:gd name="connsiteX4" fmla="*/ 0 w 8591550"/>
              <a:gd name="connsiteY4" fmla="*/ 4569619 h 6007894"/>
              <a:gd name="connsiteX5" fmla="*/ 4762 w 8591550"/>
              <a:gd name="connsiteY5" fmla="*/ 0 h 6007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0" h="6007894">
                <a:moveTo>
                  <a:pt x="4762" y="0"/>
                </a:moveTo>
                <a:lnTo>
                  <a:pt x="4495800" y="531019"/>
                </a:lnTo>
                <a:lnTo>
                  <a:pt x="8591550" y="3674269"/>
                </a:lnTo>
                <a:lnTo>
                  <a:pt x="1552575" y="6007894"/>
                </a:lnTo>
                <a:lnTo>
                  <a:pt x="0" y="4569619"/>
                </a:lnTo>
                <a:cubicBezTo>
                  <a:pt x="1587" y="3046413"/>
                  <a:pt x="3175" y="1523206"/>
                  <a:pt x="4762" y="0"/>
                </a:cubicBez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5"/>
          <p:cNvSpPr>
            <a:spLocks/>
          </p:cNvSpPr>
          <p:nvPr/>
        </p:nvSpPr>
        <p:spPr bwMode="auto">
          <a:xfrm>
            <a:off x="315597" y="117159"/>
            <a:ext cx="449263" cy="809625"/>
          </a:xfrm>
          <a:custGeom>
            <a:avLst/>
            <a:gdLst>
              <a:gd name="T0" fmla="*/ 45 w 283"/>
              <a:gd name="T1" fmla="*/ 510 h 510"/>
              <a:gd name="T2" fmla="*/ 0 w 283"/>
              <a:gd name="T3" fmla="*/ 510 h 510"/>
              <a:gd name="T4" fmla="*/ 239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9"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p:cNvSpPr>
            <a:spLocks/>
          </p:cNvSpPr>
          <p:nvPr/>
        </p:nvSpPr>
        <p:spPr bwMode="auto">
          <a:xfrm>
            <a:off x="107634" y="117159"/>
            <a:ext cx="449263" cy="809625"/>
          </a:xfrm>
          <a:custGeom>
            <a:avLst/>
            <a:gdLst>
              <a:gd name="T0" fmla="*/ 45 w 283"/>
              <a:gd name="T1" fmla="*/ 510 h 510"/>
              <a:gd name="T2" fmla="*/ 0 w 283"/>
              <a:gd name="T3" fmla="*/ 510 h 510"/>
              <a:gd name="T4" fmla="*/ 238 w 283"/>
              <a:gd name="T5" fmla="*/ 0 h 510"/>
              <a:gd name="T6" fmla="*/ 283 w 283"/>
              <a:gd name="T7" fmla="*/ 0 h 510"/>
              <a:gd name="T8" fmla="*/ 45 w 283"/>
              <a:gd name="T9" fmla="*/ 510 h 510"/>
            </a:gdLst>
            <a:ahLst/>
            <a:cxnLst>
              <a:cxn ang="0">
                <a:pos x="T0" y="T1"/>
              </a:cxn>
              <a:cxn ang="0">
                <a:pos x="T2" y="T3"/>
              </a:cxn>
              <a:cxn ang="0">
                <a:pos x="T4" y="T5"/>
              </a:cxn>
              <a:cxn ang="0">
                <a:pos x="T6" y="T7"/>
              </a:cxn>
              <a:cxn ang="0">
                <a:pos x="T8" y="T9"/>
              </a:cxn>
            </a:cxnLst>
            <a:rect l="0" t="0" r="r" b="b"/>
            <a:pathLst>
              <a:path w="283" h="510">
                <a:moveTo>
                  <a:pt x="45" y="510"/>
                </a:moveTo>
                <a:lnTo>
                  <a:pt x="0" y="510"/>
                </a:lnTo>
                <a:lnTo>
                  <a:pt x="238" y="0"/>
                </a:lnTo>
                <a:lnTo>
                  <a:pt x="283" y="0"/>
                </a:lnTo>
                <a:lnTo>
                  <a:pt x="45" y="510"/>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 name="CaixaDeTexto 3">
            <a:extLst>
              <a:ext uri="{FF2B5EF4-FFF2-40B4-BE49-F238E27FC236}">
                <a16:creationId xmlns:a16="http://schemas.microsoft.com/office/drawing/2014/main" id="{CE65F946-438F-43EC-0BFF-22E2F7F91ADB}"/>
              </a:ext>
            </a:extLst>
          </p:cNvPr>
          <p:cNvSpPr txBox="1"/>
          <p:nvPr/>
        </p:nvSpPr>
        <p:spPr>
          <a:xfrm>
            <a:off x="332265" y="1347896"/>
            <a:ext cx="4416337" cy="523220"/>
          </a:xfrm>
          <a:prstGeom prst="rect">
            <a:avLst/>
          </a:prstGeom>
          <a:noFill/>
        </p:spPr>
        <p:txBody>
          <a:bodyPr wrap="none" rtlCol="0">
            <a:spAutoFit/>
          </a:bodyPr>
          <a:lstStyle/>
          <a:p>
            <a:r>
              <a:rPr lang="pt-BR" sz="2800" b="1" dirty="0">
                <a:solidFill>
                  <a:srgbClr val="5B2A28"/>
                </a:solidFill>
                <a:latin typeface="Cooper Black" panose="0208090404030B020404" pitchFamily="18" charset="0"/>
              </a:rPr>
              <a:t>Negative valors in sales</a:t>
            </a:r>
          </a:p>
        </p:txBody>
      </p:sp>
      <p:sp>
        <p:nvSpPr>
          <p:cNvPr id="17" name="Title 21">
            <a:extLst>
              <a:ext uri="{FF2B5EF4-FFF2-40B4-BE49-F238E27FC236}">
                <a16:creationId xmlns:a16="http://schemas.microsoft.com/office/drawing/2014/main" id="{43A714D8-3947-BED9-B158-DCB39D51E5BF}"/>
              </a:ext>
            </a:extLst>
          </p:cNvPr>
          <p:cNvSpPr txBox="1">
            <a:spLocks/>
          </p:cNvSpPr>
          <p:nvPr/>
        </p:nvSpPr>
        <p:spPr>
          <a:xfrm>
            <a:off x="764860" y="0"/>
            <a:ext cx="12737143" cy="999671"/>
          </a:xfrm>
          <a:prstGeom prst="rect">
            <a:avLst/>
          </a:prstGeom>
        </p:spPr>
        <p:txBody>
          <a:bodyPr vert="horz" lIns="0" tIns="0" rIns="0" bIns="0" rtlCol="0" anchor="b">
            <a:noAutofit/>
          </a:bodyPr>
          <a:lstStyle>
            <a:lvl1pPr algn="l" defTabSz="1036290" rtl="0" eaLnBrk="1" latinLnBrk="0" hangingPunct="1">
              <a:lnSpc>
                <a:spcPct val="100000"/>
              </a:lnSpc>
              <a:spcBef>
                <a:spcPct val="0"/>
              </a:spcBef>
              <a:buNone/>
              <a:defRPr sz="3600" b="1" kern="1200" cap="none" spc="0" baseline="0">
                <a:solidFill>
                  <a:schemeClr val="tx2"/>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sz="2000" dirty="0"/>
              <a:t>  </a:t>
            </a:r>
          </a:p>
          <a:p>
            <a:r>
              <a:rPr lang="en-US" sz="2000" dirty="0"/>
              <a:t>Just one question about the material?</a:t>
            </a:r>
            <a:endParaRPr lang="en-GB" sz="2000" dirty="0"/>
          </a:p>
        </p:txBody>
      </p:sp>
      <p:graphicFrame>
        <p:nvGraphicFramePr>
          <p:cNvPr id="3" name="Tabela 2">
            <a:extLst>
              <a:ext uri="{FF2B5EF4-FFF2-40B4-BE49-F238E27FC236}">
                <a16:creationId xmlns:a16="http://schemas.microsoft.com/office/drawing/2014/main" id="{9EB68903-AE64-6AC9-737D-0965062C21E6}"/>
              </a:ext>
            </a:extLst>
          </p:cNvPr>
          <p:cNvGraphicFramePr>
            <a:graphicFrameLocks noGrp="1"/>
          </p:cNvGraphicFramePr>
          <p:nvPr>
            <p:extLst>
              <p:ext uri="{D42A27DB-BD31-4B8C-83A1-F6EECF244321}">
                <p14:modId xmlns:p14="http://schemas.microsoft.com/office/powerpoint/2010/main" val="965375961"/>
              </p:ext>
            </p:extLst>
          </p:nvPr>
        </p:nvGraphicFramePr>
        <p:xfrm>
          <a:off x="434372" y="2018191"/>
          <a:ext cx="2184400" cy="3291840"/>
        </p:xfrm>
        <a:graphic>
          <a:graphicData uri="http://schemas.openxmlformats.org/drawingml/2006/table">
            <a:tbl>
              <a:tblPr/>
              <a:tblGrid>
                <a:gridCol w="1181100">
                  <a:extLst>
                    <a:ext uri="{9D8B030D-6E8A-4147-A177-3AD203B41FA5}">
                      <a16:colId xmlns:a16="http://schemas.microsoft.com/office/drawing/2014/main" val="3024273365"/>
                    </a:ext>
                  </a:extLst>
                </a:gridCol>
                <a:gridCol w="1003300">
                  <a:extLst>
                    <a:ext uri="{9D8B030D-6E8A-4147-A177-3AD203B41FA5}">
                      <a16:colId xmlns:a16="http://schemas.microsoft.com/office/drawing/2014/main" val="2179481628"/>
                    </a:ext>
                  </a:extLst>
                </a:gridCol>
              </a:tblGrid>
              <a:tr h="182880">
                <a:tc>
                  <a:txBody>
                    <a:bodyPr/>
                    <a:lstStyle/>
                    <a:p>
                      <a:pPr algn="ctr" fontAlgn="b"/>
                      <a:r>
                        <a:rPr lang="pt-BR" sz="1100" b="1" i="0" u="none" strike="noStrike" dirty="0">
                          <a:solidFill>
                            <a:srgbClr val="000000"/>
                          </a:solidFill>
                          <a:effectLst/>
                          <a:latin typeface="Calibri" panose="020F0502020204030204" pitchFamily="34" charset="0"/>
                        </a:rPr>
                        <a:t>Valors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1" i="0" u="none" strike="noStrike" dirty="0">
                          <a:solidFill>
                            <a:srgbClr val="000000"/>
                          </a:solidFill>
                          <a:effectLst/>
                          <a:latin typeface="Calibri" panose="020F0502020204030204" pitchFamily="34" charset="0"/>
                        </a:rPr>
                        <a:t>Volume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9532178"/>
                  </a:ext>
                </a:extLst>
              </a:tr>
              <a:tr h="182880">
                <a:tc>
                  <a:txBody>
                    <a:bodyPr/>
                    <a:lstStyle/>
                    <a:p>
                      <a:pPr algn="ctr" fontAlgn="b"/>
                      <a:r>
                        <a:rPr lang="pt-BR" sz="1100" b="0" i="0" u="none" strike="noStrike" dirty="0">
                          <a:solidFill>
                            <a:srgbClr val="000000"/>
                          </a:solidFill>
                          <a:effectLst/>
                          <a:latin typeface="Calibri" panose="020F0502020204030204" pitchFamily="34" charset="0"/>
                        </a:rPr>
                        <a:t> (-800 to -700)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2673901"/>
                  </a:ext>
                </a:extLst>
              </a:tr>
              <a:tr h="182880">
                <a:tc>
                  <a:txBody>
                    <a:bodyPr/>
                    <a:lstStyle/>
                    <a:p>
                      <a:pPr algn="ctr" fontAlgn="b"/>
                      <a:r>
                        <a:rPr lang="pt-BR" sz="1100" b="0" i="0" u="none" strike="noStrike" dirty="0">
                          <a:solidFill>
                            <a:srgbClr val="000000"/>
                          </a:solidFill>
                          <a:effectLst/>
                          <a:latin typeface="Calibri" panose="020F0502020204030204" pitchFamily="34" charset="0"/>
                        </a:rPr>
                        <a:t> (-700 to -600)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3102637"/>
                  </a:ext>
                </a:extLst>
              </a:tr>
              <a:tr h="182880">
                <a:tc>
                  <a:txBody>
                    <a:bodyPr/>
                    <a:lstStyle/>
                    <a:p>
                      <a:pPr algn="ctr" fontAlgn="b"/>
                      <a:r>
                        <a:rPr lang="pt-BR" sz="1100" b="0" i="0" u="none" strike="noStrike" dirty="0">
                          <a:solidFill>
                            <a:srgbClr val="000000"/>
                          </a:solidFill>
                          <a:effectLst/>
                          <a:latin typeface="Calibri" panose="020F0502020204030204" pitchFamily="34" charset="0"/>
                        </a:rPr>
                        <a:t> (-600 to -500)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9989179"/>
                  </a:ext>
                </a:extLst>
              </a:tr>
              <a:tr h="182880">
                <a:tc>
                  <a:txBody>
                    <a:bodyPr/>
                    <a:lstStyle/>
                    <a:p>
                      <a:pPr algn="ctr" fontAlgn="b"/>
                      <a:r>
                        <a:rPr lang="pt-BR" sz="1100" b="0" i="0" u="none" strike="noStrike" dirty="0">
                          <a:solidFill>
                            <a:srgbClr val="000000"/>
                          </a:solidFill>
                          <a:effectLst/>
                          <a:latin typeface="Calibri" panose="020F0502020204030204" pitchFamily="34" charset="0"/>
                        </a:rPr>
                        <a:t> (-500 to -400)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6954026"/>
                  </a:ext>
                </a:extLst>
              </a:tr>
              <a:tr h="182880">
                <a:tc>
                  <a:txBody>
                    <a:bodyPr/>
                    <a:lstStyle/>
                    <a:p>
                      <a:pPr algn="ctr" fontAlgn="b"/>
                      <a:r>
                        <a:rPr lang="pt-BR" sz="1100" b="0" i="0" u="none" strike="noStrike" dirty="0">
                          <a:solidFill>
                            <a:srgbClr val="000000"/>
                          </a:solidFill>
                          <a:effectLst/>
                          <a:latin typeface="Calibri" panose="020F0502020204030204" pitchFamily="34" charset="0"/>
                        </a:rPr>
                        <a:t> (-400 to -300)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8477371"/>
                  </a:ext>
                </a:extLst>
              </a:tr>
              <a:tr h="182880">
                <a:tc>
                  <a:txBody>
                    <a:bodyPr/>
                    <a:lstStyle/>
                    <a:p>
                      <a:pPr algn="ctr" fontAlgn="b"/>
                      <a:r>
                        <a:rPr lang="pt-BR" sz="1100" b="0" i="0" u="none" strike="noStrike" dirty="0">
                          <a:solidFill>
                            <a:srgbClr val="000000"/>
                          </a:solidFill>
                          <a:effectLst/>
                          <a:latin typeface="Calibri" panose="020F0502020204030204" pitchFamily="34" charset="0"/>
                        </a:rPr>
                        <a:t> (-300 to -200)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50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489249"/>
                  </a:ext>
                </a:extLst>
              </a:tr>
              <a:tr h="182880">
                <a:tc>
                  <a:txBody>
                    <a:bodyPr/>
                    <a:lstStyle/>
                    <a:p>
                      <a:pPr algn="ctr" fontAlgn="b"/>
                      <a:r>
                        <a:rPr lang="pt-BR" sz="1100" b="0" i="0" u="none" strike="noStrike" dirty="0">
                          <a:solidFill>
                            <a:srgbClr val="000000"/>
                          </a:solidFill>
                          <a:effectLst/>
                          <a:latin typeface="Calibri" panose="020F0502020204030204" pitchFamily="34" charset="0"/>
                        </a:rPr>
                        <a:t> (-200 to -100)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541401"/>
                  </a:ext>
                </a:extLst>
              </a:tr>
              <a:tr h="182880">
                <a:tc>
                  <a:txBody>
                    <a:bodyPr/>
                    <a:lstStyle/>
                    <a:p>
                      <a:pPr algn="ctr" fontAlgn="b"/>
                      <a:r>
                        <a:rPr lang="pt-BR" sz="1100" b="0" i="0" u="none" strike="noStrike" dirty="0">
                          <a:solidFill>
                            <a:srgbClr val="000000"/>
                          </a:solidFill>
                          <a:effectLst/>
                          <a:latin typeface="Calibri" panose="020F0502020204030204" pitchFamily="34" charset="0"/>
                        </a:rPr>
                        <a:t> (-100 to 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199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1457482"/>
                  </a:ext>
                </a:extLst>
              </a:tr>
              <a:tr h="182880">
                <a:tc>
                  <a:txBody>
                    <a:bodyPr/>
                    <a:lstStyle/>
                    <a:p>
                      <a:pPr algn="ctr" fontAlgn="b"/>
                      <a:r>
                        <a:rPr lang="pt-BR" sz="1100" b="0" i="0" u="none" strike="noStrike" dirty="0">
                          <a:solidFill>
                            <a:srgbClr val="000000"/>
                          </a:solidFill>
                          <a:effectLst/>
                          <a:latin typeface="Calibri" panose="020F0502020204030204" pitchFamily="34" charset="0"/>
                        </a:rPr>
                        <a:t> 0 to 100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4140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451927"/>
                  </a:ext>
                </a:extLst>
              </a:tr>
              <a:tr h="182880">
                <a:tc>
                  <a:txBody>
                    <a:bodyPr/>
                    <a:lstStyle/>
                    <a:p>
                      <a:pPr algn="ctr" fontAlgn="b"/>
                      <a:r>
                        <a:rPr lang="pt-BR" sz="1100" b="0" i="0" u="none" strike="noStrike" dirty="0">
                          <a:solidFill>
                            <a:srgbClr val="000000"/>
                          </a:solidFill>
                          <a:effectLst/>
                          <a:latin typeface="Calibri" panose="020F0502020204030204" pitchFamily="34" charset="0"/>
                        </a:rPr>
                        <a:t> 100 to 200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2461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595441"/>
                  </a:ext>
                </a:extLst>
              </a:tr>
              <a:tr h="182880">
                <a:tc>
                  <a:txBody>
                    <a:bodyPr/>
                    <a:lstStyle/>
                    <a:p>
                      <a:pPr algn="ctr" fontAlgn="b"/>
                      <a:r>
                        <a:rPr lang="pt-BR" sz="1100" b="0" i="0" u="none" strike="noStrike" dirty="0">
                          <a:solidFill>
                            <a:srgbClr val="000000"/>
                          </a:solidFill>
                          <a:effectLst/>
                          <a:latin typeface="Calibri" panose="020F0502020204030204" pitchFamily="34" charset="0"/>
                        </a:rPr>
                        <a:t> 200 to 300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765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7408963"/>
                  </a:ext>
                </a:extLst>
              </a:tr>
              <a:tr h="182880">
                <a:tc>
                  <a:txBody>
                    <a:bodyPr/>
                    <a:lstStyle/>
                    <a:p>
                      <a:pPr algn="ctr" fontAlgn="b"/>
                      <a:r>
                        <a:rPr lang="pt-BR" sz="1100" b="0" i="0" u="none" strike="noStrike" dirty="0">
                          <a:solidFill>
                            <a:srgbClr val="000000"/>
                          </a:solidFill>
                          <a:effectLst/>
                          <a:latin typeface="Calibri" panose="020F0502020204030204" pitchFamily="34" charset="0"/>
                        </a:rPr>
                        <a:t> 300 to 400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246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0641305"/>
                  </a:ext>
                </a:extLst>
              </a:tr>
              <a:tr h="182880">
                <a:tc>
                  <a:txBody>
                    <a:bodyPr/>
                    <a:lstStyle/>
                    <a:p>
                      <a:pPr algn="ctr" fontAlgn="b"/>
                      <a:r>
                        <a:rPr lang="pt-BR" sz="1100" b="0" i="0" u="none" strike="noStrike" dirty="0">
                          <a:solidFill>
                            <a:srgbClr val="000000"/>
                          </a:solidFill>
                          <a:effectLst/>
                          <a:latin typeface="Calibri" panose="020F0502020204030204" pitchFamily="34" charset="0"/>
                        </a:rPr>
                        <a:t> 400 to 500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3930013"/>
                  </a:ext>
                </a:extLst>
              </a:tr>
              <a:tr h="182880">
                <a:tc>
                  <a:txBody>
                    <a:bodyPr/>
                    <a:lstStyle/>
                    <a:p>
                      <a:pPr algn="ctr" fontAlgn="b"/>
                      <a:r>
                        <a:rPr lang="pt-BR" sz="1100" b="0" i="0" u="none" strike="noStrike" dirty="0">
                          <a:solidFill>
                            <a:srgbClr val="000000"/>
                          </a:solidFill>
                          <a:effectLst/>
                          <a:latin typeface="Calibri" panose="020F0502020204030204" pitchFamily="34" charset="0"/>
                        </a:rPr>
                        <a:t> 500 to 600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49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4745252"/>
                  </a:ext>
                </a:extLst>
              </a:tr>
              <a:tr h="182880">
                <a:tc>
                  <a:txBody>
                    <a:bodyPr/>
                    <a:lstStyle/>
                    <a:p>
                      <a:pPr algn="ctr" fontAlgn="b"/>
                      <a:r>
                        <a:rPr lang="pt-BR" sz="1100" b="0" i="0" u="none" strike="noStrike" dirty="0">
                          <a:solidFill>
                            <a:srgbClr val="000000"/>
                          </a:solidFill>
                          <a:effectLst/>
                          <a:latin typeface="Calibri" panose="020F0502020204030204" pitchFamily="34" charset="0"/>
                        </a:rPr>
                        <a:t> 600 to 700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9589643"/>
                  </a:ext>
                </a:extLst>
              </a:tr>
              <a:tr h="182880">
                <a:tc>
                  <a:txBody>
                    <a:bodyPr/>
                    <a:lstStyle/>
                    <a:p>
                      <a:pPr algn="ctr" fontAlgn="b"/>
                      <a:r>
                        <a:rPr lang="pt-BR" sz="1100" b="0" i="0" u="none" strike="noStrike" dirty="0">
                          <a:solidFill>
                            <a:srgbClr val="000000"/>
                          </a:solidFill>
                          <a:effectLst/>
                          <a:latin typeface="Calibri" panose="020F0502020204030204" pitchFamily="34" charset="0"/>
                        </a:rPr>
                        <a:t> 700 to 800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4196496"/>
                  </a:ext>
                </a:extLst>
              </a:tr>
              <a:tr h="182880">
                <a:tc>
                  <a:txBody>
                    <a:bodyPr/>
                    <a:lstStyle/>
                    <a:p>
                      <a:pPr algn="ctr" fontAlgn="b"/>
                      <a:r>
                        <a:rPr lang="pt-BR" sz="1100" b="0" i="0" u="none" strike="noStrike" dirty="0">
                          <a:solidFill>
                            <a:srgbClr val="000000"/>
                          </a:solidFill>
                          <a:effectLst/>
                          <a:latin typeface="Calibri" panose="020F0502020204030204" pitchFamily="34" charset="0"/>
                        </a:rPr>
                        <a:t> 900&lt;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Calibri" panose="020F0502020204030204" pitchFamily="34" charset="0"/>
                        </a:rPr>
                        <a:t>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1768351"/>
                  </a:ext>
                </a:extLst>
              </a:tr>
            </a:tbl>
          </a:graphicData>
        </a:graphic>
      </p:graphicFrame>
      <p:sp>
        <p:nvSpPr>
          <p:cNvPr id="6" name="CaixaDeTexto 5">
            <a:extLst>
              <a:ext uri="{FF2B5EF4-FFF2-40B4-BE49-F238E27FC236}">
                <a16:creationId xmlns:a16="http://schemas.microsoft.com/office/drawing/2014/main" id="{13D3FCB5-E542-0FDB-B97A-DCB51EB7CE9F}"/>
              </a:ext>
            </a:extLst>
          </p:cNvPr>
          <p:cNvSpPr txBox="1"/>
          <p:nvPr/>
        </p:nvSpPr>
        <p:spPr>
          <a:xfrm>
            <a:off x="3455043" y="2319433"/>
            <a:ext cx="6910086" cy="4431983"/>
          </a:xfrm>
          <a:prstGeom prst="rect">
            <a:avLst/>
          </a:prstGeom>
          <a:noFill/>
        </p:spPr>
        <p:txBody>
          <a:bodyPr wrap="square">
            <a:spAutoFit/>
          </a:bodyPr>
          <a:lstStyle/>
          <a:p>
            <a:pPr algn="l"/>
            <a:r>
              <a:rPr lang="en-US" sz="2400" b="1" i="0" dirty="0">
                <a:solidFill>
                  <a:srgbClr val="374151"/>
                </a:solidFill>
                <a:effectLst/>
                <a:latin typeface="Söhne"/>
              </a:rPr>
              <a:t>Why do we have negative values in sales?</a:t>
            </a:r>
          </a:p>
          <a:p>
            <a:pPr algn="l"/>
            <a:endParaRPr lang="en-US" sz="2400" b="1" i="0" dirty="0">
              <a:solidFill>
                <a:srgbClr val="374151"/>
              </a:solidFill>
              <a:effectLst/>
              <a:latin typeface="Söhne"/>
            </a:endParaRPr>
          </a:p>
          <a:p>
            <a:pPr algn="l"/>
            <a:r>
              <a:rPr lang="en-US" b="1" i="0" dirty="0">
                <a:solidFill>
                  <a:srgbClr val="374151"/>
                </a:solidFill>
                <a:effectLst/>
                <a:latin typeface="Söhne"/>
              </a:rPr>
              <a:t>Returns or order cancellations: </a:t>
            </a:r>
            <a:r>
              <a:rPr lang="en-US" b="0" i="0" dirty="0">
                <a:solidFill>
                  <a:srgbClr val="374151"/>
                </a:solidFill>
                <a:effectLst/>
                <a:latin typeface="Söhne"/>
              </a:rPr>
              <a:t>When a customer returns a product or cancels an order, the corresponding sale value can become negative?</a:t>
            </a:r>
          </a:p>
          <a:p>
            <a:pPr algn="l"/>
            <a:endParaRPr lang="en-US" b="0" i="0" dirty="0">
              <a:solidFill>
                <a:srgbClr val="374151"/>
              </a:solidFill>
              <a:effectLst/>
              <a:latin typeface="Söhne"/>
            </a:endParaRPr>
          </a:p>
          <a:p>
            <a:pPr algn="l"/>
            <a:r>
              <a:rPr lang="en-US" b="1" i="0" dirty="0">
                <a:solidFill>
                  <a:srgbClr val="374151"/>
                </a:solidFill>
                <a:effectLst/>
                <a:latin typeface="Söhne"/>
              </a:rPr>
              <a:t>Refunds:</a:t>
            </a:r>
            <a:r>
              <a:rPr lang="en-US" b="0" i="0" dirty="0">
                <a:solidFill>
                  <a:srgbClr val="374151"/>
                </a:solidFill>
                <a:effectLst/>
                <a:latin typeface="Söhne"/>
              </a:rPr>
              <a:t> When a company issues a full or partial refund to a customer, the original sale value can be negated to reflect the refunded amount?</a:t>
            </a:r>
          </a:p>
          <a:p>
            <a:pPr algn="l"/>
            <a:endParaRPr lang="en-US" dirty="0">
              <a:solidFill>
                <a:srgbClr val="374151"/>
              </a:solidFill>
              <a:latin typeface="Söhne"/>
            </a:endParaRPr>
          </a:p>
          <a:p>
            <a:pPr algn="l"/>
            <a:r>
              <a:rPr lang="en-US" b="1" i="0" dirty="0">
                <a:solidFill>
                  <a:srgbClr val="374151"/>
                </a:solidFill>
                <a:effectLst/>
                <a:latin typeface="Söhne"/>
              </a:rPr>
              <a:t>Discounts or promotions:</a:t>
            </a:r>
            <a:r>
              <a:rPr lang="en-US" b="0" i="0" dirty="0">
                <a:solidFill>
                  <a:srgbClr val="374151"/>
                </a:solidFill>
                <a:effectLst/>
                <a:latin typeface="Söhne"/>
              </a:rPr>
              <a:t> If a sale involves significant discounts or promotions, the final sale value can become negative</a:t>
            </a:r>
            <a:r>
              <a:rPr lang="en-US" dirty="0">
                <a:solidFill>
                  <a:srgbClr val="374151"/>
                </a:solidFill>
                <a:latin typeface="Söhne"/>
              </a:rPr>
              <a:t>?</a:t>
            </a:r>
            <a:br>
              <a:rPr lang="en-US" b="0" i="0" dirty="0">
                <a:solidFill>
                  <a:srgbClr val="374151"/>
                </a:solidFill>
                <a:effectLst/>
                <a:latin typeface="Söhne"/>
              </a:rPr>
            </a:br>
            <a:br>
              <a:rPr lang="en-US" b="0" i="0" dirty="0">
                <a:solidFill>
                  <a:srgbClr val="374151"/>
                </a:solidFill>
                <a:effectLst/>
                <a:latin typeface="Söhne"/>
              </a:rPr>
            </a:br>
            <a:r>
              <a:rPr lang="en-US" b="1" i="0" dirty="0">
                <a:solidFill>
                  <a:srgbClr val="374151"/>
                </a:solidFill>
                <a:effectLst/>
                <a:latin typeface="Söhne"/>
              </a:rPr>
              <a:t>Recording or accounting errors: </a:t>
            </a:r>
            <a:r>
              <a:rPr lang="en-US" b="0" i="0" dirty="0">
                <a:solidFill>
                  <a:srgbClr val="374151"/>
                </a:solidFill>
                <a:effectLst/>
                <a:latin typeface="Söhne"/>
              </a:rPr>
              <a:t>Sometimes, errors can occur during the recording or accounting of sales, resulting in accidentally negative values. It is important to analyze and investigate further to identify the specific cause of negative values in sales within a specific context?</a:t>
            </a:r>
          </a:p>
        </p:txBody>
      </p:sp>
    </p:spTree>
    <p:extLst>
      <p:ext uri="{BB962C8B-B14F-4D97-AF65-F5344CB8AC3E}">
        <p14:creationId xmlns:p14="http://schemas.microsoft.com/office/powerpoint/2010/main" val="1073409385"/>
      </p:ext>
    </p:extLst>
  </p:cSld>
  <p:clrMapOvr>
    <a:masterClrMapping/>
  </p:clrMapOvr>
</p:sld>
</file>

<file path=ppt/theme/theme1.xml><?xml version="1.0" encoding="utf-8"?>
<a:theme xmlns:a="http://schemas.openxmlformats.org/drawingml/2006/main" name="Office Theme">
  <a:themeElements>
    <a:clrScheme name="Custom 96">
      <a:dk1>
        <a:sysClr val="windowText" lastClr="000000"/>
      </a:dk1>
      <a:lt1>
        <a:sysClr val="window" lastClr="FFFFFF"/>
      </a:lt1>
      <a:dk2>
        <a:srgbClr val="3E3E44"/>
      </a:dk2>
      <a:lt2>
        <a:srgbClr val="B3B3B3"/>
      </a:lt2>
      <a:accent1>
        <a:srgbClr val="EA3C1F"/>
      </a:accent1>
      <a:accent2>
        <a:srgbClr val="F7931E"/>
      </a:accent2>
      <a:accent3>
        <a:srgbClr val="B6C0CC"/>
      </a:accent3>
      <a:accent4>
        <a:srgbClr val="F2F2F2"/>
      </a:accent4>
      <a:accent5>
        <a:srgbClr val="4472C4"/>
      </a:accent5>
      <a:accent6>
        <a:srgbClr val="666666"/>
      </a:accent6>
      <a:hlink>
        <a:srgbClr val="0563C1"/>
      </a:hlink>
      <a:folHlink>
        <a:srgbClr val="954F72"/>
      </a:folHlink>
    </a:clrScheme>
    <a:fontScheme name="Custom 48">
      <a:majorFont>
        <a:latin typeface="Open Sans"/>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2266</TotalTime>
  <Words>4836</Words>
  <Application>Microsoft Office PowerPoint</Application>
  <PresentationFormat>Personalizar</PresentationFormat>
  <Paragraphs>1338</Paragraphs>
  <Slides>30</Slides>
  <Notes>0</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30</vt:i4>
      </vt:variant>
    </vt:vector>
  </HeadingPairs>
  <TitlesOfParts>
    <vt:vector size="40" baseType="lpstr">
      <vt:lpstr>Arial</vt:lpstr>
      <vt:lpstr>Calibri</vt:lpstr>
      <vt:lpstr>Consolas</vt:lpstr>
      <vt:lpstr>Cooper Black</vt:lpstr>
      <vt:lpstr>Open Sans</vt:lpstr>
      <vt:lpstr>Open Sans Extrabold</vt:lpstr>
      <vt:lpstr>Open Sans Semibold</vt:lpstr>
      <vt:lpstr>Söhne</vt:lpstr>
      <vt:lpstr>source-serif-pro</vt:lpstr>
      <vt:lpstr>Office Theme</vt:lpstr>
      <vt:lpstr>Case Study  Presentation</vt:lpstr>
      <vt:lpstr>Apresentação do PowerPoint</vt:lpstr>
      <vt:lpstr>Apresentação do PowerPoint</vt:lpstr>
      <vt:lpstr>Apresentação do PowerPoint</vt:lpstr>
      <vt:lpstr>Overall, which version generated better incremental results?</vt:lpstr>
      <vt:lpstr>Apresentação do PowerPoint</vt:lpstr>
      <vt:lpstr>Apresentação do PowerPoint</vt:lpstr>
      <vt:lpstr>Is this percentage difference significant?</vt:lpstr>
      <vt:lpstr>Is this percentage difference significant?</vt:lpstr>
      <vt:lpstr>Apresentação do PowerPoint</vt:lpstr>
      <vt:lpstr>Apresentação do PowerPoint</vt:lpstr>
      <vt:lpstr>What changes can be made to this marketing campaign in order to improve future results?</vt:lpstr>
      <vt:lpstr>What changes can be made to this marketing campaign in order to improve future results?</vt:lpstr>
      <vt:lpstr>What changes can be made to this marketing campaign in order to improve future results?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Gabriel Gregório</cp:lastModifiedBy>
  <cp:revision>48</cp:revision>
  <dcterms:created xsi:type="dcterms:W3CDTF">2018-08-01T00:08:18Z</dcterms:created>
  <dcterms:modified xsi:type="dcterms:W3CDTF">2024-05-03T18:28:33Z</dcterms:modified>
</cp:coreProperties>
</file>